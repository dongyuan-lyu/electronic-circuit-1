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sldIdLst>
    <p:sldId id="256" r:id="rId2"/>
    <p:sldId id="553" r:id="rId3"/>
    <p:sldId id="563" r:id="rId4"/>
    <p:sldId id="554" r:id="rId5"/>
    <p:sldId id="555" r:id="rId6"/>
    <p:sldId id="556" r:id="rId7"/>
    <p:sldId id="560" r:id="rId8"/>
    <p:sldId id="561" r:id="rId9"/>
    <p:sldId id="562" r:id="rId10"/>
    <p:sldId id="564" r:id="rId11"/>
    <p:sldId id="559" r:id="rId12"/>
    <p:sldId id="558" r:id="rId13"/>
    <p:sldId id="565" r:id="rId14"/>
    <p:sldId id="572" r:id="rId15"/>
    <p:sldId id="567" r:id="rId16"/>
    <p:sldId id="573" r:id="rId17"/>
    <p:sldId id="568" r:id="rId18"/>
    <p:sldId id="569" r:id="rId19"/>
    <p:sldId id="570" r:id="rId20"/>
    <p:sldId id="571" r:id="rId21"/>
    <p:sldId id="557" r:id="rId22"/>
    <p:sldId id="574" r:id="rId23"/>
    <p:sldId id="575" r:id="rId24"/>
    <p:sldId id="576" r:id="rId25"/>
    <p:sldId id="598" r:id="rId26"/>
    <p:sldId id="609" r:id="rId27"/>
    <p:sldId id="581" r:id="rId28"/>
    <p:sldId id="583" r:id="rId29"/>
    <p:sldId id="584" r:id="rId30"/>
    <p:sldId id="611" r:id="rId31"/>
    <p:sldId id="612" r:id="rId32"/>
    <p:sldId id="614" r:id="rId33"/>
    <p:sldId id="588" r:id="rId34"/>
    <p:sldId id="613" r:id="rId35"/>
    <p:sldId id="599" r:id="rId36"/>
    <p:sldId id="600" r:id="rId37"/>
    <p:sldId id="601" r:id="rId38"/>
    <p:sldId id="602" r:id="rId39"/>
    <p:sldId id="603" r:id="rId40"/>
    <p:sldId id="604" r:id="rId41"/>
    <p:sldId id="605" r:id="rId42"/>
    <p:sldId id="606" r:id="rId43"/>
    <p:sldId id="607" r:id="rId44"/>
    <p:sldId id="608" r:id="rId45"/>
    <p:sldId id="597" r:id="rId4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C9637FA4-6887-46BC-B3DE-0497B4178DF7}">
          <p14:sldIdLst>
            <p14:sldId id="256"/>
            <p14:sldId id="553"/>
            <p14:sldId id="563"/>
            <p14:sldId id="554"/>
            <p14:sldId id="555"/>
            <p14:sldId id="556"/>
            <p14:sldId id="560"/>
            <p14:sldId id="561"/>
            <p14:sldId id="562"/>
            <p14:sldId id="564"/>
            <p14:sldId id="559"/>
            <p14:sldId id="558"/>
            <p14:sldId id="565"/>
            <p14:sldId id="572"/>
            <p14:sldId id="567"/>
            <p14:sldId id="573"/>
            <p14:sldId id="568"/>
            <p14:sldId id="569"/>
            <p14:sldId id="570"/>
            <p14:sldId id="571"/>
            <p14:sldId id="557"/>
            <p14:sldId id="574"/>
            <p14:sldId id="575"/>
            <p14:sldId id="576"/>
            <p14:sldId id="598"/>
            <p14:sldId id="609"/>
            <p14:sldId id="581"/>
            <p14:sldId id="583"/>
            <p14:sldId id="584"/>
            <p14:sldId id="611"/>
            <p14:sldId id="612"/>
            <p14:sldId id="614"/>
            <p14:sldId id="588"/>
            <p14:sldId id="613"/>
            <p14:sldId id="599"/>
            <p14:sldId id="600"/>
            <p14:sldId id="601"/>
            <p14:sldId id="602"/>
            <p14:sldId id="603"/>
            <p14:sldId id="604"/>
            <p14:sldId id="605"/>
            <p14:sldId id="606"/>
            <p14:sldId id="607"/>
            <p14:sldId id="608"/>
            <p14:sldId id="597"/>
          </p14:sldIdLst>
        </p14:section>
        <p14:section name="未命名的章節" id="{0940798F-ED15-47E7-BBCD-AB541970FD6A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60"/>
  </p:normalViewPr>
  <p:slideViewPr>
    <p:cSldViewPr snapToGrid="0">
      <p:cViewPr>
        <p:scale>
          <a:sx n="50" d="100"/>
          <a:sy n="50" d="100"/>
        </p:scale>
        <p:origin x="1138" y="8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9091E1-478D-41EB-84EE-8DAB4B96C9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6DFC106-660F-4B74-A3C7-A4097CC812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90FEC29-5609-4161-AEF2-3860C66EA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C35E6-DAB2-43A5-9AD9-A3130A9B3D4C}" type="datetimeFigureOut">
              <a:rPr lang="zh-TW" altLang="en-US" smtClean="0"/>
              <a:t>2026/9/23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F4DCE07-5B0C-44AA-B22E-BF3F26080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D5D5EAC-5521-493B-961B-F280AB121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176A2-1B23-4969-8B12-E096297012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0395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6F2AF1-3F7A-45D9-8558-A23B33C65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9C06A5D-8574-4A54-A39C-C21667D1F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70A3618-77A1-4908-BDCD-197D588A2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C35E6-DAB2-43A5-9AD9-A3130A9B3D4C}" type="datetimeFigureOut">
              <a:rPr lang="zh-TW" altLang="en-US" smtClean="0"/>
              <a:t>2026/9/23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89A1169-6337-4459-9553-1FD6F77A2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B816732-5172-4596-BAE8-78054F99B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176A2-1B23-4969-8B12-E096297012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3131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0F1FB5-888B-472F-B1CC-7A1D9AEE9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ECA51AB-00AD-4132-82E1-B262B9E66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BC4DD3-59DA-4D37-894A-AF5D96B73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C35E6-DAB2-43A5-9AD9-A3130A9B3D4C}" type="datetimeFigureOut">
              <a:rPr lang="zh-TW" altLang="en-US" smtClean="0"/>
              <a:t>2026/9/23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C0AD5F0-C997-47E0-9E9C-7416760AD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778962-705F-48C5-88E7-9C3F75F46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176A2-1B23-4969-8B12-E096297012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727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35DFF4-9EB1-4309-A659-D04F1FBA6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CB0D37-F408-4447-BE64-14F3304B1D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CBDE44C-09CF-47FC-8A0A-A3A1E74039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9EC1612-2F87-4745-99FC-2C010D239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C35E6-DAB2-43A5-9AD9-A3130A9B3D4C}" type="datetimeFigureOut">
              <a:rPr lang="zh-TW" altLang="en-US" smtClean="0"/>
              <a:t>2026/9/23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8635DCB-C1C5-44AB-91C8-630DE80FC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5FA38A8-4715-4011-A3EF-32D1F66D9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176A2-1B23-4969-8B12-E096297012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8976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9F7B8A-B22C-46BA-B29B-EF947193E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B6B6F18-5BD4-4496-B388-D349DCE92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D78B5F8-CD09-4B4E-8DB7-8FFF81E86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B3093B8-1025-4B89-957D-DFD34AD088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8F85B78-2662-4DE0-88CC-DEADD50AA8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796E3B0-4824-4013-9B8C-5E9AFEB53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C35E6-DAB2-43A5-9AD9-A3130A9B3D4C}" type="datetimeFigureOut">
              <a:rPr lang="zh-TW" altLang="en-US" smtClean="0"/>
              <a:t>2026/9/23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421AA09-D96D-45E5-A42C-4AF615555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EEE46CA-BE68-418B-BC10-4678D5C8B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176A2-1B23-4969-8B12-E096297012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9415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EFD70B-1B2F-4A14-8BE9-E37316B32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8744947-8B14-417C-8D17-9A27958E4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C35E6-DAB2-43A5-9AD9-A3130A9B3D4C}" type="datetimeFigureOut">
              <a:rPr lang="zh-TW" altLang="en-US" smtClean="0"/>
              <a:t>2026/9/23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CA60D50-C18F-4FEF-B6AC-A2A110B99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31A6E80-AAB8-4450-B9AB-B4D2E943B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176A2-1B23-4969-8B12-E096297012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5153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2D46CD2-506D-433D-BF62-F97E672F0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C35E6-DAB2-43A5-9AD9-A3130A9B3D4C}" type="datetimeFigureOut">
              <a:rPr lang="zh-TW" altLang="en-US" smtClean="0"/>
              <a:t>2026/9/23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10A1480-2F71-4023-8E29-ED436555B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2B09DA-0E4A-471C-8FA0-E5F5049A3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176A2-1B23-4969-8B12-E096297012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5878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07A558-832B-4202-A20A-427B888C3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B29B3AA-158C-4D1D-9531-FC190B407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1C159FB-E9BB-40FA-860B-9EDD8852BC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4F032CF-5C83-4079-96A5-53065E6FC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C35E6-DAB2-43A5-9AD9-A3130A9B3D4C}" type="datetimeFigureOut">
              <a:rPr lang="zh-TW" altLang="en-US" smtClean="0"/>
              <a:t>2026/9/23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B756C1D-533A-4BD3-867E-8CF884F10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2881DC0-57D8-4CB9-B203-B3B39577E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176A2-1B23-4969-8B12-E096297012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7690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C78562-F460-45AC-B2A8-6AC341A27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EC391B1-8C01-4526-9F2A-1A737D5D0B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FCAF810-D995-4458-987B-F9ACDF4032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7531C28-A25C-44B9-B799-4C4F7E2A9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C35E6-DAB2-43A5-9AD9-A3130A9B3D4C}" type="datetimeFigureOut">
              <a:rPr lang="zh-TW" altLang="en-US" smtClean="0"/>
              <a:t>2026/9/23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C3728A7-50C1-4122-AFDD-FA814ACA6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6B62A84-F87D-4070-BA34-74E790B34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176A2-1B23-4969-8B12-E096297012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3910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46608C-69BA-4FB0-B6BB-D2747C873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78A3EED-71D7-42A9-87C8-6A238DEFAF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CB77CF6-2475-4089-8195-0BCFE1B75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C35E6-DAB2-43A5-9AD9-A3130A9B3D4C}" type="datetimeFigureOut">
              <a:rPr lang="zh-TW" altLang="en-US" smtClean="0"/>
              <a:t>2026/9/23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821F14A-9396-4BD9-9448-B237455ED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7396056-16D7-4F86-958F-DDF935851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176A2-1B23-4969-8B12-E096297012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9434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464A9F3-0A61-4804-88AA-33172E934E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A3A2B9F-98B9-4E7C-BFAC-2D12B71226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34CEC25-B875-4D06-8F64-C24B5D0E9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C35E6-DAB2-43A5-9AD9-A3130A9B3D4C}" type="datetimeFigureOut">
              <a:rPr lang="zh-TW" altLang="en-US" smtClean="0"/>
              <a:t>2026/9/23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1F01023-4DDE-418B-A4EE-B237B8D9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8AB26D3-A0F1-4157-8C54-1A08C0D62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176A2-1B23-4969-8B12-E096297012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1084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BC5F87C-E61C-455F-8711-69EEF6EBF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74D136-A3A3-414E-B617-F6B84BAAC8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CCC5D9C-564A-4365-B8A1-D8BE9101DD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1C35E6-DAB2-43A5-9AD9-A3130A9B3D4C}" type="datetimeFigureOut">
              <a:rPr lang="zh-TW" altLang="en-US" smtClean="0"/>
              <a:t>2026/9/23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3C9B2F6-4D5D-42B4-8D64-37CCDB7B7F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B799106-B936-452A-977C-FEB5A3A0E8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5176A2-1B23-4969-8B12-E096297012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2224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png"/><Relationship Id="rId3" Type="http://schemas.openxmlformats.org/officeDocument/2006/relationships/image" Target="../media/image22.png"/><Relationship Id="rId7" Type="http://schemas.openxmlformats.org/officeDocument/2006/relationships/image" Target="../media/image34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0.png"/><Relationship Id="rId5" Type="http://schemas.openxmlformats.org/officeDocument/2006/relationships/image" Target="../media/image320.png"/><Relationship Id="rId4" Type="http://schemas.openxmlformats.org/officeDocument/2006/relationships/image" Target="../media/image2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3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430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460186-CBA2-45FB-A024-EC81E54C79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70A4855-A5BE-43F9-9C3B-46162288CE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電子電路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呂東原</a:t>
            </a:r>
          </a:p>
        </p:txBody>
      </p:sp>
    </p:spTree>
    <p:extLst>
      <p:ext uri="{BB962C8B-B14F-4D97-AF65-F5344CB8AC3E}">
        <p14:creationId xmlns:p14="http://schemas.microsoft.com/office/powerpoint/2010/main" val="2136676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F0E5A7-B8A4-4424-9FCC-0615F1E8A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因應同學學習狀況的修改進度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6E762D4-CD78-46DF-8DF1-75CFECE52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操作安全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由電路圖到實作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三用電表的理論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模擬與實際上的差距</a:t>
            </a:r>
          </a:p>
        </p:txBody>
      </p:sp>
    </p:spTree>
    <p:extLst>
      <p:ext uri="{BB962C8B-B14F-4D97-AF65-F5344CB8AC3E}">
        <p14:creationId xmlns:p14="http://schemas.microsoft.com/office/powerpoint/2010/main" val="483291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CF4C47-BF3E-4FCD-BA13-8A14C58BB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操作安全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8C4CA03-8B9D-4D8D-9B1E-91569FB77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所有</a:t>
            </a:r>
            <a:r>
              <a:rPr lang="zh-TW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動到電路的操作</a:t>
            </a:r>
            <a:r>
              <a:rPr lang="zh-TW" altLang="en-US" dirty="0"/>
              <a:t>時，請</a:t>
            </a:r>
            <a:r>
              <a:rPr lang="en-US" altLang="zh-TW" dirty="0"/>
              <a:t>”</a:t>
            </a:r>
            <a:r>
              <a:rPr lang="zh-TW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先移掉電源線</a:t>
            </a:r>
            <a:r>
              <a:rPr lang="en-US" altLang="zh-TW" dirty="0"/>
              <a:t>”</a:t>
            </a:r>
            <a:r>
              <a:rPr lang="zh-TW" altLang="en-US" dirty="0"/>
              <a:t>，</a:t>
            </a:r>
            <a:r>
              <a:rPr lang="zh-TW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絕對別在導通下操作</a:t>
            </a:r>
            <a:r>
              <a:rPr lang="en-US" altLang="zh-TW" dirty="0"/>
              <a:t>!!!!</a:t>
            </a:r>
          </a:p>
          <a:p>
            <a:pPr lvl="1"/>
            <a:r>
              <a:rPr lang="zh-TW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插拔元件</a:t>
            </a:r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zh-TW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導線 </a:t>
            </a:r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TW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會造成短路</a:t>
            </a:r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lvl="1"/>
            <a:r>
              <a:rPr lang="zh-TW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切換電表檔位 </a:t>
            </a:r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TW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切換時可能會切到不可通電的檔位</a:t>
            </a:r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zh-TW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內阻過小的檔位</a:t>
            </a:r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lvl="1"/>
            <a:endParaRPr lang="en-US" altLang="zh-TW" dirty="0"/>
          </a:p>
          <a:p>
            <a:r>
              <a:rPr lang="zh-TW" altLang="en-US" dirty="0"/>
              <a:t>所有元件</a:t>
            </a:r>
            <a:r>
              <a:rPr lang="en-US" altLang="zh-TW" dirty="0"/>
              <a:t>/</a:t>
            </a:r>
            <a:r>
              <a:rPr lang="zh-TW" altLang="en-US" dirty="0"/>
              <a:t>電源，</a:t>
            </a:r>
            <a:r>
              <a:rPr lang="zh-TW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使用前</a:t>
            </a:r>
            <a:r>
              <a:rPr lang="zh-TW" altLang="en-US" dirty="0"/>
              <a:t>應確認元件正常</a:t>
            </a:r>
            <a:endParaRPr lang="en-US" altLang="zh-TW" dirty="0"/>
          </a:p>
          <a:p>
            <a:pPr lvl="1"/>
            <a:r>
              <a:rPr lang="zh-TW" altLang="en-US" dirty="0"/>
              <a:t>量測數值，確認是否正常</a:t>
            </a:r>
            <a:endParaRPr lang="en-US" altLang="zh-TW" dirty="0"/>
          </a:p>
          <a:p>
            <a:pPr lvl="1"/>
            <a:r>
              <a:rPr lang="zh-TW" altLang="en-US" dirty="0"/>
              <a:t>穩定下量測</a:t>
            </a:r>
            <a:endParaRPr lang="en-US" altLang="zh-TW" dirty="0"/>
          </a:p>
          <a:p>
            <a:pPr lvl="2"/>
            <a:r>
              <a:rPr lang="zh-TW" altLang="en-US" dirty="0"/>
              <a:t>所以用接觸的量可變電阻其實不好，要嘛插在面包板上，再接導線。要嘛，有辦法夾住可變電阻。不可以單純用</a:t>
            </a:r>
            <a:r>
              <a:rPr lang="en-US" altLang="zh-TW" dirty="0"/>
              <a:t>”</a:t>
            </a:r>
            <a:r>
              <a:rPr lang="zh-TW" altLang="en-US" dirty="0"/>
              <a:t>接觸</a:t>
            </a:r>
            <a:r>
              <a:rPr lang="en-US" altLang="zh-TW" dirty="0"/>
              <a:t>”</a:t>
            </a:r>
            <a:r>
              <a:rPr lang="zh-TW" altLang="en-US" dirty="0"/>
              <a:t>的方法</a:t>
            </a:r>
            <a:endParaRPr lang="en-US" altLang="zh-TW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23055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37BA4F-F1D2-49F2-A489-E4C51E64B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27" y="-105210"/>
            <a:ext cx="10515600" cy="1325563"/>
          </a:xfrm>
        </p:spPr>
        <p:txBody>
          <a:bodyPr/>
          <a:lstStyle/>
          <a:p>
            <a:r>
              <a:rPr lang="zh-TW" altLang="en-US" dirty="0"/>
              <a:t>由電路圖到實作</a:t>
            </a:r>
            <a:br>
              <a:rPr lang="en-US" altLang="zh-TW" dirty="0"/>
            </a:br>
            <a:r>
              <a:rPr lang="zh-TW" altLang="en-US" dirty="0"/>
              <a:t>理解導線與接線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5A71335-DE2F-479F-AFA4-4F622F394784}"/>
              </a:ext>
            </a:extLst>
          </p:cNvPr>
          <p:cNvSpPr txBox="1"/>
          <p:nvPr/>
        </p:nvSpPr>
        <p:spPr>
          <a:xfrm>
            <a:off x="5573311" y="474007"/>
            <a:ext cx="1568823" cy="95410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PCB layout</a:t>
            </a:r>
            <a:endParaRPr lang="zh-TW" altLang="en-US" sz="28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C508CB9-A562-4758-AFBD-77B9C98F1F1D}"/>
              </a:ext>
            </a:extLst>
          </p:cNvPr>
          <p:cNvSpPr txBox="1"/>
          <p:nvPr/>
        </p:nvSpPr>
        <p:spPr>
          <a:xfrm>
            <a:off x="4229306" y="3725196"/>
            <a:ext cx="2907880" cy="5232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sz="2800" dirty="0"/>
              <a:t>自行解讀電路</a:t>
            </a:r>
          </a:p>
        </p:txBody>
      </p:sp>
      <p:sp>
        <p:nvSpPr>
          <p:cNvPr id="14" name="箭號: 向右 13">
            <a:extLst>
              <a:ext uri="{FF2B5EF4-FFF2-40B4-BE49-F238E27FC236}">
                <a16:creationId xmlns:a16="http://schemas.microsoft.com/office/drawing/2014/main" id="{3F8E561D-DFBE-40E8-AA92-33C9D2B37982}"/>
              </a:ext>
            </a:extLst>
          </p:cNvPr>
          <p:cNvSpPr/>
          <p:nvPr/>
        </p:nvSpPr>
        <p:spPr>
          <a:xfrm>
            <a:off x="4602170" y="3055860"/>
            <a:ext cx="2162153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7" name="內容版面配置區 3">
            <a:extLst>
              <a:ext uri="{FF2B5EF4-FFF2-40B4-BE49-F238E27FC236}">
                <a16:creationId xmlns:a16="http://schemas.microsoft.com/office/drawing/2014/main" id="{03E9536A-97F4-4F18-98B8-33F3B79A9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27" y="1834295"/>
            <a:ext cx="2724530" cy="3181794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87452865-1DE4-4DF3-BC0F-D7FC056C8D74}"/>
              </a:ext>
            </a:extLst>
          </p:cNvPr>
          <p:cNvSpPr txBox="1"/>
          <p:nvPr/>
        </p:nvSpPr>
        <p:spPr>
          <a:xfrm>
            <a:off x="3351850" y="1691124"/>
            <a:ext cx="1568823" cy="5232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EDA</a:t>
            </a:r>
            <a:endParaRPr lang="zh-TW" altLang="en-US" sz="2800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C3C6640B-38FF-4A98-BB4D-5AE94161AB73}"/>
              </a:ext>
            </a:extLst>
          </p:cNvPr>
          <p:cNvSpPr txBox="1"/>
          <p:nvPr/>
        </p:nvSpPr>
        <p:spPr>
          <a:xfrm>
            <a:off x="9031404" y="793457"/>
            <a:ext cx="1568823" cy="5232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PCB </a:t>
            </a:r>
            <a:r>
              <a:rPr lang="zh-TW" altLang="en-US" sz="2800" dirty="0"/>
              <a:t>板</a:t>
            </a:r>
          </a:p>
        </p:txBody>
      </p:sp>
      <p:sp>
        <p:nvSpPr>
          <p:cNvPr id="18" name="箭號: 向右 17">
            <a:extLst>
              <a:ext uri="{FF2B5EF4-FFF2-40B4-BE49-F238E27FC236}">
                <a16:creationId xmlns:a16="http://schemas.microsoft.com/office/drawing/2014/main" id="{9F17DB46-1E72-4B60-AA89-8A02293FCE81}"/>
              </a:ext>
            </a:extLst>
          </p:cNvPr>
          <p:cNvSpPr/>
          <p:nvPr/>
        </p:nvSpPr>
        <p:spPr>
          <a:xfrm rot="20187845">
            <a:off x="3207537" y="2085525"/>
            <a:ext cx="2162153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箭號: 向右 21">
            <a:extLst>
              <a:ext uri="{FF2B5EF4-FFF2-40B4-BE49-F238E27FC236}">
                <a16:creationId xmlns:a16="http://schemas.microsoft.com/office/drawing/2014/main" id="{4CA0C577-A611-4FF6-8A97-0C241674FFE1}"/>
              </a:ext>
            </a:extLst>
          </p:cNvPr>
          <p:cNvSpPr/>
          <p:nvPr/>
        </p:nvSpPr>
        <p:spPr>
          <a:xfrm>
            <a:off x="7439299" y="947345"/>
            <a:ext cx="1215033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E26D299B-5F26-406E-8FB3-921F47D87D8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820" t="32680" r="-502" b="15955"/>
          <a:stretch/>
        </p:blipFill>
        <p:spPr>
          <a:xfrm>
            <a:off x="7332387" y="2214344"/>
            <a:ext cx="4730786" cy="273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544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0EFF22-D539-4B10-A766-46C0B205A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導線定義與義意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559BC4-2E55-4F45-9812-929B30F83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理想導線</a:t>
            </a:r>
            <a:endParaRPr lang="en-US" altLang="zh-TW" dirty="0"/>
          </a:p>
          <a:p>
            <a:pPr lvl="1"/>
            <a:r>
              <a:rPr lang="zh-TW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零電阻</a:t>
            </a:r>
            <a:r>
              <a:rPr lang="zh-TW" altLang="en-US" dirty="0"/>
              <a:t>：假設導線</a:t>
            </a:r>
            <a:r>
              <a:rPr lang="en-US" altLang="zh-TW" dirty="0"/>
              <a:t>0</a:t>
            </a:r>
            <a:r>
              <a:rPr lang="zh-TW" altLang="en-US" dirty="0"/>
              <a:t>電阻（</a:t>
            </a:r>
            <a:r>
              <a:rPr lang="en-US" altLang="zh-TW" dirty="0">
                <a:solidFill>
                  <a:srgbClr val="FF0000"/>
                </a:solidFill>
              </a:rPr>
              <a:t>R=0</a:t>
            </a:r>
            <a:r>
              <a:rPr lang="zh-TW" altLang="en-US" dirty="0"/>
              <a:t>），因此不會產生電壓降</a:t>
            </a:r>
            <a:endParaRPr lang="en-US" altLang="zh-TW" dirty="0"/>
          </a:p>
          <a:p>
            <a:pPr lvl="2"/>
            <a:r>
              <a:rPr lang="zh-TW" altLang="en-US" dirty="0"/>
              <a:t>所以導線同時接於元件各端點，此元件的接點等於無效</a:t>
            </a:r>
            <a:endParaRPr lang="en-US" altLang="zh-TW" dirty="0"/>
          </a:p>
          <a:p>
            <a:pPr lvl="1"/>
            <a:r>
              <a:rPr lang="zh-TW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等電位</a:t>
            </a:r>
            <a:r>
              <a:rPr lang="zh-TW" altLang="en-US" dirty="0"/>
              <a:t>：在同一條沒有經過任何元件的導線上，</a:t>
            </a:r>
            <a:r>
              <a:rPr lang="zh-TW" altLang="en-US" b="1" dirty="0"/>
              <a:t>所有點的電位（電壓）都是完全相同的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/>
            <a:r>
              <a:rPr lang="zh-TW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無寄生效應</a:t>
            </a:r>
            <a:r>
              <a:rPr lang="zh-TW" altLang="en-US" dirty="0"/>
              <a:t>：忽略實際導線在高頻下會產生的微量電感與電容效應。</a:t>
            </a:r>
            <a:endParaRPr lang="en-US" altLang="zh-TW" dirty="0"/>
          </a:p>
          <a:p>
            <a:r>
              <a:rPr lang="zh-TW" altLang="en-US" dirty="0"/>
              <a:t>實際狀況</a:t>
            </a:r>
            <a:endParaRPr lang="en-US" altLang="zh-TW" dirty="0"/>
          </a:p>
          <a:p>
            <a:pPr lvl="1"/>
            <a:r>
              <a:rPr lang="zh-TW" altLang="en-US" dirty="0"/>
              <a:t>導線的</a:t>
            </a:r>
            <a:r>
              <a:rPr lang="zh-TW" altLang="en-US" b="1" dirty="0"/>
              <a:t>寬度、厚度與材質會</a:t>
            </a:r>
            <a:r>
              <a:rPr lang="zh-TW" altLang="en-US" dirty="0"/>
              <a:t>決定承載最大電流（太細會發熱燒斷）</a:t>
            </a:r>
            <a:endParaRPr lang="en-US" altLang="zh-TW" dirty="0"/>
          </a:p>
          <a:p>
            <a:pPr lvl="1"/>
            <a:r>
              <a:rPr lang="zh-TW" altLang="en-US" dirty="0"/>
              <a:t>導線太長，會引入</a:t>
            </a:r>
            <a:r>
              <a:rPr lang="zh-TW" altLang="en-US" b="1" dirty="0"/>
              <a:t>雜訊</a:t>
            </a:r>
            <a:r>
              <a:rPr lang="zh-TW" altLang="en-US" dirty="0"/>
              <a:t>與造成</a:t>
            </a:r>
            <a:r>
              <a:rPr lang="zh-TW" altLang="en-US" b="1" dirty="0"/>
              <a:t>信號延遲</a:t>
            </a:r>
            <a:endParaRPr lang="en-US" altLang="zh-TW" b="1" dirty="0"/>
          </a:p>
          <a:p>
            <a:pPr lvl="1"/>
            <a:r>
              <a:rPr lang="zh-TW" altLang="en-US" b="1" dirty="0"/>
              <a:t>高頻與高精度下，要考慮非理想狀況</a:t>
            </a:r>
            <a:r>
              <a:rPr lang="en-US" altLang="zh-TW" b="1" dirty="0"/>
              <a:t>(</a:t>
            </a:r>
            <a:r>
              <a:rPr lang="zh-TW" altLang="en-US" b="1" dirty="0"/>
              <a:t>接觸</a:t>
            </a:r>
            <a:r>
              <a:rPr lang="en-US" altLang="zh-TW" b="1" dirty="0"/>
              <a:t>/</a:t>
            </a:r>
            <a:r>
              <a:rPr lang="zh-TW" altLang="en-US" b="1" dirty="0"/>
              <a:t>寄生</a:t>
            </a:r>
            <a:r>
              <a:rPr lang="en-US" altLang="zh-TW" b="1" dirty="0"/>
              <a:t>/</a:t>
            </a:r>
            <a:r>
              <a:rPr lang="zh-TW" altLang="en-US" b="1" dirty="0"/>
              <a:t>材質</a:t>
            </a:r>
            <a:r>
              <a:rPr lang="en-US" altLang="zh-TW" b="1" dirty="0"/>
              <a:t>/</a:t>
            </a:r>
            <a:r>
              <a:rPr lang="zh-TW" altLang="en-US" b="1" dirty="0"/>
              <a:t>集膚效應</a:t>
            </a:r>
            <a:r>
              <a:rPr lang="en-US" altLang="zh-TW" b="1" dirty="0"/>
              <a:t>ETC)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14993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268944-5C92-4227-A716-1F2ACB7C7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實例</a:t>
            </a:r>
            <a:br>
              <a:rPr lang="en-US" altLang="zh-TW" dirty="0"/>
            </a:br>
            <a:r>
              <a:rPr lang="zh-TW" altLang="en-US" dirty="0"/>
              <a:t>在理想下，使用導線接線時，可視為同一點</a:t>
            </a:r>
            <a:br>
              <a:rPr lang="en-US" altLang="zh-TW" dirty="0"/>
            </a:br>
            <a:r>
              <a:rPr lang="zh-TW" altLang="en-US" dirty="0"/>
              <a:t>我提供二個方法給同學</a:t>
            </a:r>
            <a:r>
              <a:rPr lang="en-US" altLang="zh-TW" dirty="0"/>
              <a:t>(</a:t>
            </a:r>
            <a:r>
              <a:rPr lang="zh-TW" altLang="en-US" dirty="0"/>
              <a:t>可以依照自已的方法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5" name="內容版面配置區 3">
            <a:extLst>
              <a:ext uri="{FF2B5EF4-FFF2-40B4-BE49-F238E27FC236}">
                <a16:creationId xmlns:a16="http://schemas.microsoft.com/office/drawing/2014/main" id="{99BEEB80-44C7-43A5-99E9-D1BE6015B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77" y="2951316"/>
            <a:ext cx="2724530" cy="3181794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68E4573C-6185-4279-8661-8384C4CA3A15}"/>
              </a:ext>
            </a:extLst>
          </p:cNvPr>
          <p:cNvSpPr txBox="1"/>
          <p:nvPr/>
        </p:nvSpPr>
        <p:spPr>
          <a:xfrm>
            <a:off x="1228165" y="2136336"/>
            <a:ext cx="1501588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A:</a:t>
            </a:r>
            <a:r>
              <a:rPr lang="zh-TW" altLang="en-US" dirty="0"/>
              <a:t>文字標示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642FAAE-3C97-46DE-9BAE-C9BE772DB5A9}"/>
              </a:ext>
            </a:extLst>
          </p:cNvPr>
          <p:cNvSpPr txBox="1"/>
          <p:nvPr/>
        </p:nvSpPr>
        <p:spPr>
          <a:xfrm>
            <a:off x="2037379" y="4190512"/>
            <a:ext cx="75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endParaRPr lang="zh-TW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D95CD9B-97D5-4F45-A0C9-0452EC1BBCFA}"/>
              </a:ext>
            </a:extLst>
          </p:cNvPr>
          <p:cNvSpPr txBox="1"/>
          <p:nvPr/>
        </p:nvSpPr>
        <p:spPr>
          <a:xfrm>
            <a:off x="2053515" y="4820826"/>
            <a:ext cx="75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endParaRPr lang="zh-TW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D326C27-E9EC-4318-B95A-EDB056D718A3}"/>
              </a:ext>
            </a:extLst>
          </p:cNvPr>
          <p:cNvSpPr txBox="1"/>
          <p:nvPr/>
        </p:nvSpPr>
        <p:spPr>
          <a:xfrm>
            <a:off x="2736028" y="5161811"/>
            <a:ext cx="75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endParaRPr lang="zh-TW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E880BFB-051D-412C-807B-C587E14CE553}"/>
              </a:ext>
            </a:extLst>
          </p:cNvPr>
          <p:cNvSpPr txBox="1"/>
          <p:nvPr/>
        </p:nvSpPr>
        <p:spPr>
          <a:xfrm>
            <a:off x="2344983" y="5763778"/>
            <a:ext cx="75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endParaRPr lang="zh-TW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E6119A0-A444-461C-8E7D-72AF96722107}"/>
              </a:ext>
            </a:extLst>
          </p:cNvPr>
          <p:cNvSpPr txBox="1"/>
          <p:nvPr/>
        </p:nvSpPr>
        <p:spPr>
          <a:xfrm>
            <a:off x="1204258" y="4977145"/>
            <a:ext cx="75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endParaRPr lang="zh-TW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F255836-F7EE-4373-9326-6AC21974268F}"/>
              </a:ext>
            </a:extLst>
          </p:cNvPr>
          <p:cNvSpPr txBox="1"/>
          <p:nvPr/>
        </p:nvSpPr>
        <p:spPr>
          <a:xfrm>
            <a:off x="1204257" y="4346831"/>
            <a:ext cx="75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endParaRPr lang="zh-TW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14FDA58-AD52-45A4-8E92-C6711A3625D7}"/>
              </a:ext>
            </a:extLst>
          </p:cNvPr>
          <p:cNvSpPr txBox="1"/>
          <p:nvPr/>
        </p:nvSpPr>
        <p:spPr>
          <a:xfrm>
            <a:off x="2368703" y="3420143"/>
            <a:ext cx="75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endParaRPr lang="zh-TW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DBAC890-2565-4D69-8D49-1449432F823B}"/>
              </a:ext>
            </a:extLst>
          </p:cNvPr>
          <p:cNvSpPr txBox="1"/>
          <p:nvPr/>
        </p:nvSpPr>
        <p:spPr>
          <a:xfrm>
            <a:off x="3740301" y="2671583"/>
            <a:ext cx="344080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同符號下，他們視為同一點，所以要接在一起。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在使用導線跨接時，只要接過去就視為同一點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比如</a:t>
            </a:r>
            <a:r>
              <a:rPr lang="en-US" altLang="zh-TW" dirty="0"/>
              <a:t>,</a:t>
            </a:r>
          </a:p>
          <a:p>
            <a:r>
              <a:rPr lang="en-US" altLang="zh-TW" dirty="0"/>
              <a:t>C:5V </a:t>
            </a:r>
            <a:r>
              <a:rPr lang="zh-TW" altLang="en-US" dirty="0"/>
              <a:t>導線連結</a:t>
            </a:r>
            <a:r>
              <a:rPr lang="en-US" altLang="zh-TW" dirty="0"/>
              <a:t>10k</a:t>
            </a:r>
          </a:p>
          <a:p>
            <a:r>
              <a:rPr lang="en-US" altLang="zh-TW" dirty="0"/>
              <a:t>A:</a:t>
            </a:r>
            <a:r>
              <a:rPr lang="zh-TW" altLang="en-US" dirty="0"/>
              <a:t>接點，電阻與可變電阻之間</a:t>
            </a:r>
            <a:endParaRPr lang="en-US" altLang="zh-TW" dirty="0"/>
          </a:p>
          <a:p>
            <a:r>
              <a:rPr lang="zh-TW" altLang="en-US" dirty="0"/>
              <a:t>所有接點</a:t>
            </a:r>
            <a:endParaRPr lang="en-US" altLang="zh-TW" dirty="0"/>
          </a:p>
          <a:p>
            <a:r>
              <a:rPr lang="en-US" altLang="zh-TW" dirty="0"/>
              <a:t>B:0V </a:t>
            </a:r>
            <a:r>
              <a:rPr lang="zh-TW" altLang="en-US" dirty="0"/>
              <a:t>，可變電阻</a:t>
            </a: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70325A3C-796E-4508-B357-9D1C0C9723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820" t="32680" r="-502" b="15955"/>
          <a:stretch/>
        </p:blipFill>
        <p:spPr>
          <a:xfrm>
            <a:off x="7181102" y="3214737"/>
            <a:ext cx="4730786" cy="2733707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C433DF98-B8B4-4C8F-97CE-F70860F583B1}"/>
              </a:ext>
            </a:extLst>
          </p:cNvPr>
          <p:cNvSpPr txBox="1"/>
          <p:nvPr/>
        </p:nvSpPr>
        <p:spPr>
          <a:xfrm>
            <a:off x="9446779" y="3126072"/>
            <a:ext cx="753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endParaRPr lang="zh-TW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5A3B832C-FF8B-440F-A937-9FA6875581EB}"/>
              </a:ext>
            </a:extLst>
          </p:cNvPr>
          <p:cNvSpPr txBox="1"/>
          <p:nvPr/>
        </p:nvSpPr>
        <p:spPr>
          <a:xfrm>
            <a:off x="9778103" y="3823120"/>
            <a:ext cx="753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endParaRPr lang="zh-TW" altLang="en-US" sz="2800" b="1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84E1F338-3D60-4578-9D4D-02D7CE27F020}"/>
              </a:ext>
            </a:extLst>
          </p:cNvPr>
          <p:cNvSpPr txBox="1"/>
          <p:nvPr/>
        </p:nvSpPr>
        <p:spPr>
          <a:xfrm>
            <a:off x="10873141" y="3841134"/>
            <a:ext cx="753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endParaRPr lang="zh-TW" altLang="en-US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80B5D159-3268-40C8-984C-EDEA61842418}"/>
              </a:ext>
            </a:extLst>
          </p:cNvPr>
          <p:cNvSpPr txBox="1"/>
          <p:nvPr/>
        </p:nvSpPr>
        <p:spPr>
          <a:xfrm>
            <a:off x="8254614" y="4482272"/>
            <a:ext cx="753035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endParaRPr lang="zh-TW" altLang="en-US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6C2F1E7B-6A6D-480A-B9B5-842B2041F673}"/>
              </a:ext>
            </a:extLst>
          </p:cNvPr>
          <p:cNvSpPr txBox="1"/>
          <p:nvPr/>
        </p:nvSpPr>
        <p:spPr>
          <a:xfrm>
            <a:off x="7670985" y="3813578"/>
            <a:ext cx="753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endParaRPr lang="zh-TW" altLang="en-US" sz="2800" b="1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999E5A92-BA82-4647-8DB6-0B75A11B447F}"/>
              </a:ext>
            </a:extLst>
          </p:cNvPr>
          <p:cNvSpPr txBox="1"/>
          <p:nvPr/>
        </p:nvSpPr>
        <p:spPr>
          <a:xfrm>
            <a:off x="7823385" y="3965978"/>
            <a:ext cx="753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endParaRPr lang="zh-TW" altLang="en-US" sz="2800" b="1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28374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268944-5C92-4227-A716-1F2ACB7C7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實例</a:t>
            </a:r>
            <a:br>
              <a:rPr lang="en-US" altLang="zh-TW" dirty="0"/>
            </a:br>
            <a:r>
              <a:rPr lang="zh-TW" altLang="en-US" dirty="0"/>
              <a:t>實際上，接法不止一種</a:t>
            </a:r>
          </a:p>
        </p:txBody>
      </p:sp>
      <p:pic>
        <p:nvPicPr>
          <p:cNvPr id="5" name="內容版面配置區 3">
            <a:extLst>
              <a:ext uri="{FF2B5EF4-FFF2-40B4-BE49-F238E27FC236}">
                <a16:creationId xmlns:a16="http://schemas.microsoft.com/office/drawing/2014/main" id="{99BEEB80-44C7-43A5-99E9-D1BE6015B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77" y="2951316"/>
            <a:ext cx="2724530" cy="3181794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68E4573C-6185-4279-8661-8384C4CA3A15}"/>
              </a:ext>
            </a:extLst>
          </p:cNvPr>
          <p:cNvSpPr txBox="1"/>
          <p:nvPr/>
        </p:nvSpPr>
        <p:spPr>
          <a:xfrm>
            <a:off x="1228165" y="2136336"/>
            <a:ext cx="1501588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A:</a:t>
            </a:r>
            <a:r>
              <a:rPr lang="zh-TW" altLang="en-US" dirty="0"/>
              <a:t>文字標示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642FAAE-3C97-46DE-9BAE-C9BE772DB5A9}"/>
              </a:ext>
            </a:extLst>
          </p:cNvPr>
          <p:cNvSpPr txBox="1"/>
          <p:nvPr/>
        </p:nvSpPr>
        <p:spPr>
          <a:xfrm>
            <a:off x="2037379" y="4190512"/>
            <a:ext cx="75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endParaRPr lang="zh-TW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D95CD9B-97D5-4F45-A0C9-0452EC1BBCFA}"/>
              </a:ext>
            </a:extLst>
          </p:cNvPr>
          <p:cNvSpPr txBox="1"/>
          <p:nvPr/>
        </p:nvSpPr>
        <p:spPr>
          <a:xfrm>
            <a:off x="2053515" y="4820826"/>
            <a:ext cx="75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endParaRPr lang="zh-TW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D326C27-E9EC-4318-B95A-EDB056D718A3}"/>
              </a:ext>
            </a:extLst>
          </p:cNvPr>
          <p:cNvSpPr txBox="1"/>
          <p:nvPr/>
        </p:nvSpPr>
        <p:spPr>
          <a:xfrm>
            <a:off x="2736028" y="5161811"/>
            <a:ext cx="75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endParaRPr lang="zh-TW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E880BFB-051D-412C-807B-C587E14CE553}"/>
              </a:ext>
            </a:extLst>
          </p:cNvPr>
          <p:cNvSpPr txBox="1"/>
          <p:nvPr/>
        </p:nvSpPr>
        <p:spPr>
          <a:xfrm>
            <a:off x="2344983" y="5763778"/>
            <a:ext cx="75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endParaRPr lang="zh-TW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E6119A0-A444-461C-8E7D-72AF96722107}"/>
              </a:ext>
            </a:extLst>
          </p:cNvPr>
          <p:cNvSpPr txBox="1"/>
          <p:nvPr/>
        </p:nvSpPr>
        <p:spPr>
          <a:xfrm>
            <a:off x="1204258" y="4977145"/>
            <a:ext cx="75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endParaRPr lang="zh-TW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F255836-F7EE-4373-9326-6AC21974268F}"/>
              </a:ext>
            </a:extLst>
          </p:cNvPr>
          <p:cNvSpPr txBox="1"/>
          <p:nvPr/>
        </p:nvSpPr>
        <p:spPr>
          <a:xfrm>
            <a:off x="1204257" y="4346831"/>
            <a:ext cx="75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endParaRPr lang="zh-TW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14FDA58-AD52-45A4-8E92-C6711A3625D7}"/>
              </a:ext>
            </a:extLst>
          </p:cNvPr>
          <p:cNvSpPr txBox="1"/>
          <p:nvPr/>
        </p:nvSpPr>
        <p:spPr>
          <a:xfrm>
            <a:off x="2368703" y="3420143"/>
            <a:ext cx="75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endParaRPr lang="zh-TW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DBAC890-2565-4D69-8D49-1449432F823B}"/>
              </a:ext>
            </a:extLst>
          </p:cNvPr>
          <p:cNvSpPr txBox="1"/>
          <p:nvPr/>
        </p:nvSpPr>
        <p:spPr>
          <a:xfrm>
            <a:off x="3740301" y="2671583"/>
            <a:ext cx="344080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同符號下，他們視為同一點，所以要接在一起。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在使用導線跨接時，只要接過去就視為同一點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比如</a:t>
            </a:r>
            <a:r>
              <a:rPr lang="en-US" altLang="zh-TW" dirty="0"/>
              <a:t>,</a:t>
            </a:r>
          </a:p>
          <a:p>
            <a:r>
              <a:rPr lang="en-US" altLang="zh-TW" dirty="0"/>
              <a:t>C:5V </a:t>
            </a:r>
            <a:r>
              <a:rPr lang="zh-TW" altLang="en-US" dirty="0"/>
              <a:t>導線連結</a:t>
            </a:r>
            <a:r>
              <a:rPr lang="en-US" altLang="zh-TW" dirty="0"/>
              <a:t>10k</a:t>
            </a:r>
          </a:p>
          <a:p>
            <a:r>
              <a:rPr lang="en-US" altLang="zh-TW" dirty="0"/>
              <a:t>A:</a:t>
            </a:r>
            <a:r>
              <a:rPr lang="zh-TW" altLang="en-US" dirty="0"/>
              <a:t>接點，電阻與可變電阻之間</a:t>
            </a:r>
            <a:endParaRPr lang="en-US" altLang="zh-TW" dirty="0"/>
          </a:p>
          <a:p>
            <a:r>
              <a:rPr lang="zh-TW" altLang="en-US" dirty="0"/>
              <a:t>所有接點</a:t>
            </a:r>
            <a:endParaRPr lang="en-US" altLang="zh-TW" dirty="0"/>
          </a:p>
          <a:p>
            <a:r>
              <a:rPr lang="en-US" altLang="zh-TW" dirty="0"/>
              <a:t>B:0V </a:t>
            </a:r>
            <a:r>
              <a:rPr lang="zh-TW" altLang="en-US" dirty="0"/>
              <a:t>，可變電阻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36C2E1F-4D64-464D-ADB6-FD84547373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625" t="50424" r="9056" b="-596"/>
          <a:stretch/>
        </p:blipFill>
        <p:spPr>
          <a:xfrm rot="16200000">
            <a:off x="7689999" y="2528525"/>
            <a:ext cx="3154685" cy="3440802"/>
          </a:xfrm>
          <a:prstGeom prst="rect">
            <a:avLst/>
          </a:prstGeom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13D9DEDC-9C38-4C8D-90B7-ADBC27C47742}"/>
              </a:ext>
            </a:extLst>
          </p:cNvPr>
          <p:cNvSpPr txBox="1"/>
          <p:nvPr/>
        </p:nvSpPr>
        <p:spPr>
          <a:xfrm>
            <a:off x="9044341" y="3725706"/>
            <a:ext cx="753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endParaRPr lang="zh-TW" altLang="en-US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DF750436-6DAB-4453-87A6-26894F957443}"/>
              </a:ext>
            </a:extLst>
          </p:cNvPr>
          <p:cNvSpPr txBox="1"/>
          <p:nvPr/>
        </p:nvSpPr>
        <p:spPr>
          <a:xfrm>
            <a:off x="8550462" y="3851958"/>
            <a:ext cx="753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endParaRPr lang="zh-TW" altLang="en-US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8A79E7C4-9A4D-41E2-87AA-2C485C84C1DF}"/>
              </a:ext>
            </a:extLst>
          </p:cNvPr>
          <p:cNvSpPr txBox="1"/>
          <p:nvPr/>
        </p:nvSpPr>
        <p:spPr>
          <a:xfrm>
            <a:off x="8166063" y="3798524"/>
            <a:ext cx="753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endParaRPr lang="zh-TW" altLang="en-US" sz="2800" b="1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0B5E37FF-6490-49FA-95F7-A032919E884C}"/>
              </a:ext>
            </a:extLst>
          </p:cNvPr>
          <p:cNvSpPr txBox="1"/>
          <p:nvPr/>
        </p:nvSpPr>
        <p:spPr>
          <a:xfrm>
            <a:off x="7949827" y="4499231"/>
            <a:ext cx="753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endParaRPr lang="zh-TW" altLang="en-US" sz="2800" b="1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9C375975-EE6D-41EC-87F5-31BAFA757894}"/>
              </a:ext>
            </a:extLst>
          </p:cNvPr>
          <p:cNvSpPr txBox="1"/>
          <p:nvPr/>
        </p:nvSpPr>
        <p:spPr>
          <a:xfrm>
            <a:off x="7853974" y="3690185"/>
            <a:ext cx="753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endParaRPr lang="zh-TW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6148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268944-5C92-4227-A716-1F2ACB7C7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實例</a:t>
            </a:r>
            <a:br>
              <a:rPr lang="en-US" altLang="zh-TW" dirty="0"/>
            </a:br>
            <a:r>
              <a:rPr lang="zh-TW" altLang="en-US" dirty="0"/>
              <a:t>在理想下，使用導線接線時，可視為同一點</a:t>
            </a:r>
            <a:br>
              <a:rPr lang="en-US" altLang="zh-TW" dirty="0"/>
            </a:br>
            <a:r>
              <a:rPr lang="zh-TW" altLang="en-US" dirty="0"/>
              <a:t>我提供二個方法給同學</a:t>
            </a:r>
            <a:r>
              <a:rPr lang="en-US" altLang="zh-TW" dirty="0"/>
              <a:t>(</a:t>
            </a:r>
            <a:r>
              <a:rPr lang="zh-TW" altLang="en-US" dirty="0"/>
              <a:t>可以依照自已的方法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5" name="內容版面配置區 3">
            <a:extLst>
              <a:ext uri="{FF2B5EF4-FFF2-40B4-BE49-F238E27FC236}">
                <a16:creationId xmlns:a16="http://schemas.microsoft.com/office/drawing/2014/main" id="{99BEEB80-44C7-43A5-99E9-D1BE6015B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77" y="2951316"/>
            <a:ext cx="2724530" cy="3181794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68E4573C-6185-4279-8661-8384C4CA3A15}"/>
              </a:ext>
            </a:extLst>
          </p:cNvPr>
          <p:cNvSpPr txBox="1"/>
          <p:nvPr/>
        </p:nvSpPr>
        <p:spPr>
          <a:xfrm>
            <a:off x="1228165" y="2136336"/>
            <a:ext cx="1501588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B:</a:t>
            </a:r>
            <a:r>
              <a:rPr lang="zh-TW" altLang="en-US" dirty="0"/>
              <a:t>顏色標示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642FAAE-3C97-46DE-9BAE-C9BE772DB5A9}"/>
              </a:ext>
            </a:extLst>
          </p:cNvPr>
          <p:cNvSpPr txBox="1"/>
          <p:nvPr/>
        </p:nvSpPr>
        <p:spPr>
          <a:xfrm>
            <a:off x="2037379" y="4190512"/>
            <a:ext cx="75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endParaRPr lang="zh-TW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D95CD9B-97D5-4F45-A0C9-0452EC1BBCFA}"/>
              </a:ext>
            </a:extLst>
          </p:cNvPr>
          <p:cNvSpPr txBox="1"/>
          <p:nvPr/>
        </p:nvSpPr>
        <p:spPr>
          <a:xfrm>
            <a:off x="2053515" y="4820826"/>
            <a:ext cx="75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endParaRPr lang="zh-TW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D326C27-E9EC-4318-B95A-EDB056D718A3}"/>
              </a:ext>
            </a:extLst>
          </p:cNvPr>
          <p:cNvSpPr txBox="1"/>
          <p:nvPr/>
        </p:nvSpPr>
        <p:spPr>
          <a:xfrm>
            <a:off x="2736028" y="5161811"/>
            <a:ext cx="75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endParaRPr lang="zh-TW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E880BFB-051D-412C-807B-C587E14CE553}"/>
              </a:ext>
            </a:extLst>
          </p:cNvPr>
          <p:cNvSpPr txBox="1"/>
          <p:nvPr/>
        </p:nvSpPr>
        <p:spPr>
          <a:xfrm>
            <a:off x="2344983" y="5763778"/>
            <a:ext cx="75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endParaRPr lang="zh-TW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E6119A0-A444-461C-8E7D-72AF96722107}"/>
              </a:ext>
            </a:extLst>
          </p:cNvPr>
          <p:cNvSpPr txBox="1"/>
          <p:nvPr/>
        </p:nvSpPr>
        <p:spPr>
          <a:xfrm>
            <a:off x="1204258" y="4977145"/>
            <a:ext cx="75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endParaRPr lang="zh-TW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F255836-F7EE-4373-9326-6AC21974268F}"/>
              </a:ext>
            </a:extLst>
          </p:cNvPr>
          <p:cNvSpPr txBox="1"/>
          <p:nvPr/>
        </p:nvSpPr>
        <p:spPr>
          <a:xfrm>
            <a:off x="1204257" y="4346831"/>
            <a:ext cx="75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endParaRPr lang="zh-TW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14FDA58-AD52-45A4-8E92-C6711A3625D7}"/>
              </a:ext>
            </a:extLst>
          </p:cNvPr>
          <p:cNvSpPr txBox="1"/>
          <p:nvPr/>
        </p:nvSpPr>
        <p:spPr>
          <a:xfrm>
            <a:off x="2368703" y="3420143"/>
            <a:ext cx="75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endParaRPr lang="zh-TW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DBAC890-2565-4D69-8D49-1449432F823B}"/>
              </a:ext>
            </a:extLst>
          </p:cNvPr>
          <p:cNvSpPr txBox="1"/>
          <p:nvPr/>
        </p:nvSpPr>
        <p:spPr>
          <a:xfrm>
            <a:off x="3740301" y="2671583"/>
            <a:ext cx="344080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同符號下，他們視為同一點，所以要接在一起。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在使用導線跨接時，只要接過去就視為同一點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比如</a:t>
            </a:r>
            <a:r>
              <a:rPr lang="en-US" altLang="zh-TW" dirty="0"/>
              <a:t>,</a:t>
            </a:r>
          </a:p>
          <a:p>
            <a:r>
              <a:rPr lang="en-US" altLang="zh-TW" dirty="0"/>
              <a:t>C:5V </a:t>
            </a:r>
            <a:r>
              <a:rPr lang="zh-TW" altLang="en-US" dirty="0"/>
              <a:t>導線連結</a:t>
            </a:r>
            <a:r>
              <a:rPr lang="en-US" altLang="zh-TW" dirty="0"/>
              <a:t>10k (</a:t>
            </a:r>
            <a:r>
              <a:rPr lang="zh-TW" altLang="en-US" dirty="0"/>
              <a:t>紅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A:</a:t>
            </a:r>
            <a:r>
              <a:rPr lang="zh-TW" altLang="en-US" dirty="0"/>
              <a:t>接點，電阻與可變電阻之間</a:t>
            </a:r>
            <a:endParaRPr lang="en-US" altLang="zh-TW" dirty="0"/>
          </a:p>
          <a:p>
            <a:r>
              <a:rPr lang="zh-TW" altLang="en-US" dirty="0"/>
              <a:t>所有接點 </a:t>
            </a:r>
            <a:r>
              <a:rPr lang="en-US" altLang="zh-TW" dirty="0"/>
              <a:t>(</a:t>
            </a:r>
            <a:r>
              <a:rPr lang="zh-TW" altLang="en-US" dirty="0"/>
              <a:t>白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B:0V </a:t>
            </a:r>
            <a:r>
              <a:rPr lang="zh-TW" altLang="en-US" dirty="0"/>
              <a:t>，可變電阻 </a:t>
            </a:r>
            <a:r>
              <a:rPr lang="en-US" altLang="zh-TW" dirty="0"/>
              <a:t>(</a:t>
            </a:r>
            <a:r>
              <a:rPr lang="zh-TW" altLang="en-US" dirty="0"/>
              <a:t>藍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70325A3C-796E-4508-B357-9D1C0C9723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820" t="32680" r="-502" b="15955"/>
          <a:stretch/>
        </p:blipFill>
        <p:spPr>
          <a:xfrm>
            <a:off x="7181102" y="3214737"/>
            <a:ext cx="4730786" cy="2733707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C433DF98-B8B4-4C8F-97CE-F70860F583B1}"/>
              </a:ext>
            </a:extLst>
          </p:cNvPr>
          <p:cNvSpPr txBox="1"/>
          <p:nvPr/>
        </p:nvSpPr>
        <p:spPr>
          <a:xfrm>
            <a:off x="9446779" y="3126072"/>
            <a:ext cx="753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endParaRPr lang="zh-TW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5A3B832C-FF8B-440F-A937-9FA6875581EB}"/>
              </a:ext>
            </a:extLst>
          </p:cNvPr>
          <p:cNvSpPr txBox="1"/>
          <p:nvPr/>
        </p:nvSpPr>
        <p:spPr>
          <a:xfrm>
            <a:off x="9778103" y="3823120"/>
            <a:ext cx="753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endParaRPr lang="zh-TW" altLang="en-US" sz="2800" b="1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84E1F338-3D60-4578-9D4D-02D7CE27F020}"/>
              </a:ext>
            </a:extLst>
          </p:cNvPr>
          <p:cNvSpPr txBox="1"/>
          <p:nvPr/>
        </p:nvSpPr>
        <p:spPr>
          <a:xfrm>
            <a:off x="10873141" y="3841134"/>
            <a:ext cx="753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endParaRPr lang="zh-TW" altLang="en-US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80B5D159-3268-40C8-984C-EDEA61842418}"/>
              </a:ext>
            </a:extLst>
          </p:cNvPr>
          <p:cNvSpPr txBox="1"/>
          <p:nvPr/>
        </p:nvSpPr>
        <p:spPr>
          <a:xfrm>
            <a:off x="8254614" y="4482272"/>
            <a:ext cx="753035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endParaRPr lang="zh-TW" altLang="en-US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6C2F1E7B-6A6D-480A-B9B5-842B2041F673}"/>
              </a:ext>
            </a:extLst>
          </p:cNvPr>
          <p:cNvSpPr txBox="1"/>
          <p:nvPr/>
        </p:nvSpPr>
        <p:spPr>
          <a:xfrm>
            <a:off x="7670985" y="3813578"/>
            <a:ext cx="753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endParaRPr lang="zh-TW" altLang="en-US" sz="2800" b="1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999E5A92-BA82-4647-8DB6-0B75A11B447F}"/>
              </a:ext>
            </a:extLst>
          </p:cNvPr>
          <p:cNvSpPr txBox="1"/>
          <p:nvPr/>
        </p:nvSpPr>
        <p:spPr>
          <a:xfrm>
            <a:off x="7823385" y="3965978"/>
            <a:ext cx="753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endParaRPr lang="zh-TW" altLang="en-US" sz="2800" b="1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手繪多邊形: 圖案 2">
            <a:extLst>
              <a:ext uri="{FF2B5EF4-FFF2-40B4-BE49-F238E27FC236}">
                <a16:creationId xmlns:a16="http://schemas.microsoft.com/office/drawing/2014/main" id="{98DC15AC-3668-48A0-9C03-F2FD92244E86}"/>
              </a:ext>
            </a:extLst>
          </p:cNvPr>
          <p:cNvSpPr/>
          <p:nvPr/>
        </p:nvSpPr>
        <p:spPr>
          <a:xfrm>
            <a:off x="1219200" y="3192780"/>
            <a:ext cx="1143935" cy="1379220"/>
          </a:xfrm>
          <a:custGeom>
            <a:avLst/>
            <a:gdLst>
              <a:gd name="connsiteX0" fmla="*/ 0 w 1143935"/>
              <a:gd name="connsiteY0" fmla="*/ 1379220 h 1379220"/>
              <a:gd name="connsiteX1" fmla="*/ 22860 w 1143935"/>
              <a:gd name="connsiteY1" fmla="*/ 1318260 h 1379220"/>
              <a:gd name="connsiteX2" fmla="*/ 38100 w 1143935"/>
              <a:gd name="connsiteY2" fmla="*/ 1226820 h 1379220"/>
              <a:gd name="connsiteX3" fmla="*/ 60960 w 1143935"/>
              <a:gd name="connsiteY3" fmla="*/ 1127760 h 1379220"/>
              <a:gd name="connsiteX4" fmla="*/ 68580 w 1143935"/>
              <a:gd name="connsiteY4" fmla="*/ 975360 h 1379220"/>
              <a:gd name="connsiteX5" fmla="*/ 76200 w 1143935"/>
              <a:gd name="connsiteY5" fmla="*/ 952500 h 1379220"/>
              <a:gd name="connsiteX6" fmla="*/ 83820 w 1143935"/>
              <a:gd name="connsiteY6" fmla="*/ 0 h 1379220"/>
              <a:gd name="connsiteX7" fmla="*/ 220980 w 1143935"/>
              <a:gd name="connsiteY7" fmla="*/ 7620 h 1379220"/>
              <a:gd name="connsiteX8" fmla="*/ 259080 w 1143935"/>
              <a:gd name="connsiteY8" fmla="*/ 22860 h 1379220"/>
              <a:gd name="connsiteX9" fmla="*/ 495300 w 1143935"/>
              <a:gd name="connsiteY9" fmla="*/ 38100 h 1379220"/>
              <a:gd name="connsiteX10" fmla="*/ 586740 w 1143935"/>
              <a:gd name="connsiteY10" fmla="*/ 60960 h 1379220"/>
              <a:gd name="connsiteX11" fmla="*/ 647700 w 1143935"/>
              <a:gd name="connsiteY11" fmla="*/ 68580 h 1379220"/>
              <a:gd name="connsiteX12" fmla="*/ 1097280 w 1143935"/>
              <a:gd name="connsiteY12" fmla="*/ 76200 h 1379220"/>
              <a:gd name="connsiteX13" fmla="*/ 1127760 w 1143935"/>
              <a:gd name="connsiteY13" fmla="*/ 91440 h 1379220"/>
              <a:gd name="connsiteX14" fmla="*/ 1135380 w 1143935"/>
              <a:gd name="connsiteY14" fmla="*/ 121920 h 1379220"/>
              <a:gd name="connsiteX15" fmla="*/ 1143000 w 1143935"/>
              <a:gd name="connsiteY15" fmla="*/ 167640 h 1379220"/>
              <a:gd name="connsiteX16" fmla="*/ 1143000 w 1143935"/>
              <a:gd name="connsiteY16" fmla="*/ 388620 h 1379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43935" h="1379220">
                <a:moveTo>
                  <a:pt x="0" y="1379220"/>
                </a:moveTo>
                <a:cubicBezTo>
                  <a:pt x="7620" y="1358900"/>
                  <a:pt x="15997" y="1338848"/>
                  <a:pt x="22860" y="1318260"/>
                </a:cubicBezTo>
                <a:cubicBezTo>
                  <a:pt x="35427" y="1280558"/>
                  <a:pt x="29219" y="1273447"/>
                  <a:pt x="38100" y="1226820"/>
                </a:cubicBezTo>
                <a:cubicBezTo>
                  <a:pt x="44441" y="1193531"/>
                  <a:pt x="53340" y="1160780"/>
                  <a:pt x="60960" y="1127760"/>
                </a:cubicBezTo>
                <a:cubicBezTo>
                  <a:pt x="63500" y="1076960"/>
                  <a:pt x="64174" y="1026032"/>
                  <a:pt x="68580" y="975360"/>
                </a:cubicBezTo>
                <a:cubicBezTo>
                  <a:pt x="69276" y="967358"/>
                  <a:pt x="76075" y="960531"/>
                  <a:pt x="76200" y="952500"/>
                </a:cubicBezTo>
                <a:cubicBezTo>
                  <a:pt x="81160" y="635029"/>
                  <a:pt x="81280" y="317500"/>
                  <a:pt x="83820" y="0"/>
                </a:cubicBezTo>
                <a:cubicBezTo>
                  <a:pt x="129540" y="2540"/>
                  <a:pt x="175574" y="1697"/>
                  <a:pt x="220980" y="7620"/>
                </a:cubicBezTo>
                <a:cubicBezTo>
                  <a:pt x="234543" y="9389"/>
                  <a:pt x="245610" y="20483"/>
                  <a:pt x="259080" y="22860"/>
                </a:cubicBezTo>
                <a:cubicBezTo>
                  <a:pt x="293689" y="28967"/>
                  <a:pt x="485867" y="37604"/>
                  <a:pt x="495300" y="38100"/>
                </a:cubicBezTo>
                <a:cubicBezTo>
                  <a:pt x="525780" y="45720"/>
                  <a:pt x="555932" y="54798"/>
                  <a:pt x="586740" y="60960"/>
                </a:cubicBezTo>
                <a:cubicBezTo>
                  <a:pt x="606820" y="64976"/>
                  <a:pt x="627231" y="67969"/>
                  <a:pt x="647700" y="68580"/>
                </a:cubicBezTo>
                <a:cubicBezTo>
                  <a:pt x="797515" y="73052"/>
                  <a:pt x="947420" y="73660"/>
                  <a:pt x="1097280" y="76200"/>
                </a:cubicBezTo>
                <a:cubicBezTo>
                  <a:pt x="1107440" y="81280"/>
                  <a:pt x="1120488" y="82714"/>
                  <a:pt x="1127760" y="91440"/>
                </a:cubicBezTo>
                <a:cubicBezTo>
                  <a:pt x="1134464" y="99485"/>
                  <a:pt x="1133326" y="111651"/>
                  <a:pt x="1135380" y="121920"/>
                </a:cubicBezTo>
                <a:cubicBezTo>
                  <a:pt x="1138410" y="137070"/>
                  <a:pt x="1142559" y="152196"/>
                  <a:pt x="1143000" y="167640"/>
                </a:cubicBezTo>
                <a:cubicBezTo>
                  <a:pt x="1145104" y="241270"/>
                  <a:pt x="1143000" y="314960"/>
                  <a:pt x="1143000" y="388620"/>
                </a:cubicBezTo>
              </a:path>
            </a:pathLst>
          </a:cu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手繪多邊形: 圖案 3">
            <a:extLst>
              <a:ext uri="{FF2B5EF4-FFF2-40B4-BE49-F238E27FC236}">
                <a16:creationId xmlns:a16="http://schemas.microsoft.com/office/drawing/2014/main" id="{8A90201B-4F3B-4B6C-AF38-19BFD3A5B2A2}"/>
              </a:ext>
            </a:extLst>
          </p:cNvPr>
          <p:cNvSpPr/>
          <p:nvPr/>
        </p:nvSpPr>
        <p:spPr>
          <a:xfrm>
            <a:off x="2346960" y="4267200"/>
            <a:ext cx="45720" cy="838938"/>
          </a:xfrm>
          <a:custGeom>
            <a:avLst/>
            <a:gdLst>
              <a:gd name="connsiteX0" fmla="*/ 22860 w 45720"/>
              <a:gd name="connsiteY0" fmla="*/ 0 h 838938"/>
              <a:gd name="connsiteX1" fmla="*/ 30480 w 45720"/>
              <a:gd name="connsiteY1" fmla="*/ 129540 h 838938"/>
              <a:gd name="connsiteX2" fmla="*/ 38100 w 45720"/>
              <a:gd name="connsiteY2" fmla="*/ 167640 h 838938"/>
              <a:gd name="connsiteX3" fmla="*/ 45720 w 45720"/>
              <a:gd name="connsiteY3" fmla="*/ 243840 h 838938"/>
              <a:gd name="connsiteX4" fmla="*/ 30480 w 45720"/>
              <a:gd name="connsiteY4" fmla="*/ 495300 h 838938"/>
              <a:gd name="connsiteX5" fmla="*/ 22860 w 45720"/>
              <a:gd name="connsiteY5" fmla="*/ 541020 h 838938"/>
              <a:gd name="connsiteX6" fmla="*/ 15240 w 45720"/>
              <a:gd name="connsiteY6" fmla="*/ 701040 h 838938"/>
              <a:gd name="connsiteX7" fmla="*/ 0 w 45720"/>
              <a:gd name="connsiteY7" fmla="*/ 822960 h 83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" h="838938">
                <a:moveTo>
                  <a:pt x="22860" y="0"/>
                </a:moveTo>
                <a:cubicBezTo>
                  <a:pt x="25400" y="43180"/>
                  <a:pt x="26564" y="86463"/>
                  <a:pt x="30480" y="129540"/>
                </a:cubicBezTo>
                <a:cubicBezTo>
                  <a:pt x="31653" y="142438"/>
                  <a:pt x="36388" y="154802"/>
                  <a:pt x="38100" y="167640"/>
                </a:cubicBezTo>
                <a:cubicBezTo>
                  <a:pt x="41474" y="192943"/>
                  <a:pt x="43180" y="218440"/>
                  <a:pt x="45720" y="243840"/>
                </a:cubicBezTo>
                <a:cubicBezTo>
                  <a:pt x="40640" y="327660"/>
                  <a:pt x="36920" y="411574"/>
                  <a:pt x="30480" y="495300"/>
                </a:cubicBezTo>
                <a:cubicBezTo>
                  <a:pt x="29295" y="510705"/>
                  <a:pt x="24001" y="525612"/>
                  <a:pt x="22860" y="541020"/>
                </a:cubicBezTo>
                <a:cubicBezTo>
                  <a:pt x="18915" y="594275"/>
                  <a:pt x="18047" y="647713"/>
                  <a:pt x="15240" y="701040"/>
                </a:cubicBezTo>
                <a:cubicBezTo>
                  <a:pt x="8192" y="834949"/>
                  <a:pt x="38141" y="861101"/>
                  <a:pt x="0" y="822960"/>
                </a:cubicBezTo>
              </a:path>
            </a:pathLst>
          </a:cu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手繪多邊形: 圖案 14">
            <a:extLst>
              <a:ext uri="{FF2B5EF4-FFF2-40B4-BE49-F238E27FC236}">
                <a16:creationId xmlns:a16="http://schemas.microsoft.com/office/drawing/2014/main" id="{01B6CC37-E58E-4B8F-BC44-A93BE62BFA33}"/>
              </a:ext>
            </a:extLst>
          </p:cNvPr>
          <p:cNvSpPr/>
          <p:nvPr/>
        </p:nvSpPr>
        <p:spPr>
          <a:xfrm>
            <a:off x="2377440" y="4792980"/>
            <a:ext cx="427953" cy="594360"/>
          </a:xfrm>
          <a:custGeom>
            <a:avLst/>
            <a:gdLst>
              <a:gd name="connsiteX0" fmla="*/ 182880 w 427953"/>
              <a:gd name="connsiteY0" fmla="*/ 594360 h 594360"/>
              <a:gd name="connsiteX1" fmla="*/ 236220 w 427953"/>
              <a:gd name="connsiteY1" fmla="*/ 586740 h 594360"/>
              <a:gd name="connsiteX2" fmla="*/ 259080 w 427953"/>
              <a:gd name="connsiteY2" fmla="*/ 579120 h 594360"/>
              <a:gd name="connsiteX3" fmla="*/ 342900 w 427953"/>
              <a:gd name="connsiteY3" fmla="*/ 571500 h 594360"/>
              <a:gd name="connsiteX4" fmla="*/ 373380 w 427953"/>
              <a:gd name="connsiteY4" fmla="*/ 556260 h 594360"/>
              <a:gd name="connsiteX5" fmla="*/ 381000 w 427953"/>
              <a:gd name="connsiteY5" fmla="*/ 525780 h 594360"/>
              <a:gd name="connsiteX6" fmla="*/ 396240 w 427953"/>
              <a:gd name="connsiteY6" fmla="*/ 320040 h 594360"/>
              <a:gd name="connsiteX7" fmla="*/ 411480 w 427953"/>
              <a:gd name="connsiteY7" fmla="*/ 266700 h 594360"/>
              <a:gd name="connsiteX8" fmla="*/ 403860 w 427953"/>
              <a:gd name="connsiteY8" fmla="*/ 30480 h 594360"/>
              <a:gd name="connsiteX9" fmla="*/ 205740 w 427953"/>
              <a:gd name="connsiteY9" fmla="*/ 22860 h 594360"/>
              <a:gd name="connsiteX10" fmla="*/ 182880 w 427953"/>
              <a:gd name="connsiteY10" fmla="*/ 15240 h 594360"/>
              <a:gd name="connsiteX11" fmla="*/ 114300 w 427953"/>
              <a:gd name="connsiteY11" fmla="*/ 0 h 594360"/>
              <a:gd name="connsiteX12" fmla="*/ 0 w 427953"/>
              <a:gd name="connsiteY12" fmla="*/ 7620 h 594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7953" h="594360">
                <a:moveTo>
                  <a:pt x="182880" y="594360"/>
                </a:moveTo>
                <a:cubicBezTo>
                  <a:pt x="200660" y="591820"/>
                  <a:pt x="218608" y="590262"/>
                  <a:pt x="236220" y="586740"/>
                </a:cubicBezTo>
                <a:cubicBezTo>
                  <a:pt x="244096" y="585165"/>
                  <a:pt x="251129" y="580256"/>
                  <a:pt x="259080" y="579120"/>
                </a:cubicBezTo>
                <a:cubicBezTo>
                  <a:pt x="286853" y="575152"/>
                  <a:pt x="314960" y="574040"/>
                  <a:pt x="342900" y="571500"/>
                </a:cubicBezTo>
                <a:cubicBezTo>
                  <a:pt x="353060" y="566420"/>
                  <a:pt x="366108" y="564986"/>
                  <a:pt x="373380" y="556260"/>
                </a:cubicBezTo>
                <a:cubicBezTo>
                  <a:pt x="380084" y="548215"/>
                  <a:pt x="379991" y="536204"/>
                  <a:pt x="381000" y="525780"/>
                </a:cubicBezTo>
                <a:cubicBezTo>
                  <a:pt x="387624" y="457332"/>
                  <a:pt x="374494" y="385279"/>
                  <a:pt x="396240" y="320040"/>
                </a:cubicBezTo>
                <a:cubicBezTo>
                  <a:pt x="407172" y="287245"/>
                  <a:pt x="401912" y="304972"/>
                  <a:pt x="411480" y="266700"/>
                </a:cubicBezTo>
                <a:cubicBezTo>
                  <a:pt x="408940" y="187960"/>
                  <a:pt x="454664" y="90692"/>
                  <a:pt x="403860" y="30480"/>
                </a:cubicBezTo>
                <a:cubicBezTo>
                  <a:pt x="361241" y="-20031"/>
                  <a:pt x="271672" y="27407"/>
                  <a:pt x="205740" y="22860"/>
                </a:cubicBezTo>
                <a:cubicBezTo>
                  <a:pt x="197727" y="22307"/>
                  <a:pt x="190672" y="17188"/>
                  <a:pt x="182880" y="15240"/>
                </a:cubicBezTo>
                <a:cubicBezTo>
                  <a:pt x="160162" y="9560"/>
                  <a:pt x="137160" y="5080"/>
                  <a:pt x="114300" y="0"/>
                </a:cubicBezTo>
                <a:cubicBezTo>
                  <a:pt x="5086" y="7801"/>
                  <a:pt x="43271" y="7620"/>
                  <a:pt x="0" y="7620"/>
                </a:cubicBezTo>
              </a:path>
            </a:pathLst>
          </a:cu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手繪多邊形: 圖案 15">
            <a:extLst>
              <a:ext uri="{FF2B5EF4-FFF2-40B4-BE49-F238E27FC236}">
                <a16:creationId xmlns:a16="http://schemas.microsoft.com/office/drawing/2014/main" id="{279F3509-0C3C-40CC-B194-70D0AC14760F}"/>
              </a:ext>
            </a:extLst>
          </p:cNvPr>
          <p:cNvSpPr/>
          <p:nvPr/>
        </p:nvSpPr>
        <p:spPr>
          <a:xfrm>
            <a:off x="1196320" y="4968240"/>
            <a:ext cx="1181120" cy="1005840"/>
          </a:xfrm>
          <a:custGeom>
            <a:avLst/>
            <a:gdLst>
              <a:gd name="connsiteX0" fmla="*/ 1181120 w 1181120"/>
              <a:gd name="connsiteY0" fmla="*/ 624840 h 1005840"/>
              <a:gd name="connsiteX1" fmla="*/ 1165880 w 1181120"/>
              <a:gd name="connsiteY1" fmla="*/ 662940 h 1005840"/>
              <a:gd name="connsiteX2" fmla="*/ 1158260 w 1181120"/>
              <a:gd name="connsiteY2" fmla="*/ 685800 h 1005840"/>
              <a:gd name="connsiteX3" fmla="*/ 1150640 w 1181120"/>
              <a:gd name="connsiteY3" fmla="*/ 838200 h 1005840"/>
              <a:gd name="connsiteX4" fmla="*/ 1135400 w 1181120"/>
              <a:gd name="connsiteY4" fmla="*/ 883920 h 1005840"/>
              <a:gd name="connsiteX5" fmla="*/ 1104920 w 1181120"/>
              <a:gd name="connsiteY5" fmla="*/ 998220 h 1005840"/>
              <a:gd name="connsiteX6" fmla="*/ 1066820 w 1181120"/>
              <a:gd name="connsiteY6" fmla="*/ 1005840 h 1005840"/>
              <a:gd name="connsiteX7" fmla="*/ 815360 w 1181120"/>
              <a:gd name="connsiteY7" fmla="*/ 982980 h 1005840"/>
              <a:gd name="connsiteX8" fmla="*/ 784880 w 1181120"/>
              <a:gd name="connsiteY8" fmla="*/ 975360 h 1005840"/>
              <a:gd name="connsiteX9" fmla="*/ 762020 w 1181120"/>
              <a:gd name="connsiteY9" fmla="*/ 967740 h 1005840"/>
              <a:gd name="connsiteX10" fmla="*/ 579140 w 1181120"/>
              <a:gd name="connsiteY10" fmla="*/ 960120 h 1005840"/>
              <a:gd name="connsiteX11" fmla="*/ 251480 w 1181120"/>
              <a:gd name="connsiteY11" fmla="*/ 952500 h 1005840"/>
              <a:gd name="connsiteX12" fmla="*/ 213380 w 1181120"/>
              <a:gd name="connsiteY12" fmla="*/ 937260 h 1005840"/>
              <a:gd name="connsiteX13" fmla="*/ 137180 w 1181120"/>
              <a:gd name="connsiteY13" fmla="*/ 922020 h 1005840"/>
              <a:gd name="connsiteX14" fmla="*/ 114320 w 1181120"/>
              <a:gd name="connsiteY14" fmla="*/ 914400 h 1005840"/>
              <a:gd name="connsiteX15" fmla="*/ 45740 w 1181120"/>
              <a:gd name="connsiteY15" fmla="*/ 906780 h 1005840"/>
              <a:gd name="connsiteX16" fmla="*/ 68600 w 1181120"/>
              <a:gd name="connsiteY16" fmla="*/ 739140 h 1005840"/>
              <a:gd name="connsiteX17" fmla="*/ 60980 w 1181120"/>
              <a:gd name="connsiteY17" fmla="*/ 426720 h 1005840"/>
              <a:gd name="connsiteX18" fmla="*/ 38120 w 1181120"/>
              <a:gd name="connsiteY18" fmla="*/ 327660 h 1005840"/>
              <a:gd name="connsiteX19" fmla="*/ 30500 w 1181120"/>
              <a:gd name="connsiteY19" fmla="*/ 99060 h 1005840"/>
              <a:gd name="connsiteX20" fmla="*/ 7640 w 1181120"/>
              <a:gd name="connsiteY20" fmla="*/ 30480 h 1005840"/>
              <a:gd name="connsiteX21" fmla="*/ 20 w 1181120"/>
              <a:gd name="connsiteY21" fmla="*/ 0 h 100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181120" h="1005840">
                <a:moveTo>
                  <a:pt x="1181120" y="624840"/>
                </a:moveTo>
                <a:cubicBezTo>
                  <a:pt x="1176040" y="637540"/>
                  <a:pt x="1170683" y="650133"/>
                  <a:pt x="1165880" y="662940"/>
                </a:cubicBezTo>
                <a:cubicBezTo>
                  <a:pt x="1163060" y="670461"/>
                  <a:pt x="1158956" y="677798"/>
                  <a:pt x="1158260" y="685800"/>
                </a:cubicBezTo>
                <a:cubicBezTo>
                  <a:pt x="1153854" y="736472"/>
                  <a:pt x="1156470" y="787672"/>
                  <a:pt x="1150640" y="838200"/>
                </a:cubicBezTo>
                <a:cubicBezTo>
                  <a:pt x="1148799" y="854158"/>
                  <a:pt x="1138041" y="868074"/>
                  <a:pt x="1135400" y="883920"/>
                </a:cubicBezTo>
                <a:cubicBezTo>
                  <a:pt x="1132407" y="901879"/>
                  <a:pt x="1119271" y="995350"/>
                  <a:pt x="1104920" y="998220"/>
                </a:cubicBezTo>
                <a:lnTo>
                  <a:pt x="1066820" y="1005840"/>
                </a:lnTo>
                <a:cubicBezTo>
                  <a:pt x="861019" y="988690"/>
                  <a:pt x="944737" y="997355"/>
                  <a:pt x="815360" y="982980"/>
                </a:cubicBezTo>
                <a:cubicBezTo>
                  <a:pt x="805200" y="980440"/>
                  <a:pt x="794950" y="978237"/>
                  <a:pt x="784880" y="975360"/>
                </a:cubicBezTo>
                <a:cubicBezTo>
                  <a:pt x="777157" y="973153"/>
                  <a:pt x="770030" y="968333"/>
                  <a:pt x="762020" y="967740"/>
                </a:cubicBezTo>
                <a:cubicBezTo>
                  <a:pt x="701174" y="963233"/>
                  <a:pt x="640126" y="961940"/>
                  <a:pt x="579140" y="960120"/>
                </a:cubicBezTo>
                <a:lnTo>
                  <a:pt x="251480" y="952500"/>
                </a:lnTo>
                <a:cubicBezTo>
                  <a:pt x="238780" y="947420"/>
                  <a:pt x="226356" y="941585"/>
                  <a:pt x="213380" y="937260"/>
                </a:cubicBezTo>
                <a:cubicBezTo>
                  <a:pt x="183016" y="927139"/>
                  <a:pt x="170946" y="929523"/>
                  <a:pt x="137180" y="922020"/>
                </a:cubicBezTo>
                <a:cubicBezTo>
                  <a:pt x="129339" y="920278"/>
                  <a:pt x="122243" y="915720"/>
                  <a:pt x="114320" y="914400"/>
                </a:cubicBezTo>
                <a:cubicBezTo>
                  <a:pt x="91632" y="910619"/>
                  <a:pt x="68600" y="909320"/>
                  <a:pt x="45740" y="906780"/>
                </a:cubicBezTo>
                <a:cubicBezTo>
                  <a:pt x="53875" y="857970"/>
                  <a:pt x="67927" y="777490"/>
                  <a:pt x="68600" y="739140"/>
                </a:cubicBezTo>
                <a:cubicBezTo>
                  <a:pt x="70427" y="634985"/>
                  <a:pt x="65228" y="530804"/>
                  <a:pt x="60980" y="426720"/>
                </a:cubicBezTo>
                <a:cubicBezTo>
                  <a:pt x="58651" y="369656"/>
                  <a:pt x="56298" y="373105"/>
                  <a:pt x="38120" y="327660"/>
                </a:cubicBezTo>
                <a:cubicBezTo>
                  <a:pt x="35580" y="251460"/>
                  <a:pt x="36832" y="175039"/>
                  <a:pt x="30500" y="99060"/>
                </a:cubicBezTo>
                <a:lnTo>
                  <a:pt x="7640" y="30480"/>
                </a:lnTo>
                <a:cubicBezTo>
                  <a:pt x="-783" y="5210"/>
                  <a:pt x="20" y="15652"/>
                  <a:pt x="20" y="0"/>
                </a:cubicBezTo>
              </a:path>
            </a:pathLst>
          </a:cu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4829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268944-5C92-4227-A716-1F2ACB7C7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實例</a:t>
            </a:r>
            <a:br>
              <a:rPr lang="en-US" altLang="zh-TW" dirty="0"/>
            </a:br>
            <a:r>
              <a:rPr lang="zh-TW" altLang="en-US" dirty="0"/>
              <a:t>實際上，接法不止一種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DBAC890-2565-4D69-8D49-1449432F823B}"/>
              </a:ext>
            </a:extLst>
          </p:cNvPr>
          <p:cNvSpPr txBox="1"/>
          <p:nvPr/>
        </p:nvSpPr>
        <p:spPr>
          <a:xfrm>
            <a:off x="3740301" y="2671583"/>
            <a:ext cx="344080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同符號下，他們視為同一點，所以要接在一起。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在使用導線跨接時，只要接過去就視為同一點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比如</a:t>
            </a:r>
            <a:r>
              <a:rPr lang="en-US" altLang="zh-TW" dirty="0"/>
              <a:t>,</a:t>
            </a:r>
          </a:p>
          <a:p>
            <a:r>
              <a:rPr lang="en-US" altLang="zh-TW" dirty="0"/>
              <a:t>C:5V </a:t>
            </a:r>
            <a:r>
              <a:rPr lang="zh-TW" altLang="en-US" dirty="0"/>
              <a:t>導線連結</a:t>
            </a:r>
            <a:r>
              <a:rPr lang="en-US" altLang="zh-TW" dirty="0"/>
              <a:t>10k (</a:t>
            </a:r>
            <a:r>
              <a:rPr lang="zh-TW" altLang="en-US" dirty="0"/>
              <a:t>紅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A:</a:t>
            </a:r>
            <a:r>
              <a:rPr lang="zh-TW" altLang="en-US" dirty="0"/>
              <a:t>接點，電阻與可變電阻之間</a:t>
            </a:r>
            <a:endParaRPr lang="en-US" altLang="zh-TW" dirty="0"/>
          </a:p>
          <a:p>
            <a:r>
              <a:rPr lang="zh-TW" altLang="en-US" dirty="0"/>
              <a:t>所有接點 </a:t>
            </a:r>
            <a:r>
              <a:rPr lang="en-US" altLang="zh-TW" dirty="0"/>
              <a:t>(</a:t>
            </a:r>
            <a:r>
              <a:rPr lang="zh-TW" altLang="en-US" dirty="0"/>
              <a:t>白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B:0V </a:t>
            </a:r>
            <a:r>
              <a:rPr lang="zh-TW" altLang="en-US" dirty="0"/>
              <a:t>，可變電阻 </a:t>
            </a:r>
            <a:r>
              <a:rPr lang="en-US" altLang="zh-TW" dirty="0"/>
              <a:t>(</a:t>
            </a:r>
            <a:r>
              <a:rPr lang="zh-TW" altLang="en-US" dirty="0"/>
              <a:t>藍</a:t>
            </a:r>
            <a:r>
              <a:rPr lang="en-US" altLang="zh-TW" dirty="0"/>
              <a:t>)</a:t>
            </a:r>
            <a:endParaRPr lang="zh-TW" altLang="en-US" dirty="0"/>
          </a:p>
          <a:p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36C2E1F-4D64-464D-ADB6-FD84547373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625" t="50424" r="9056" b="-596"/>
          <a:stretch/>
        </p:blipFill>
        <p:spPr>
          <a:xfrm rot="16200000">
            <a:off x="7689999" y="2528525"/>
            <a:ext cx="3154685" cy="3440802"/>
          </a:xfrm>
          <a:prstGeom prst="rect">
            <a:avLst/>
          </a:prstGeom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13D9DEDC-9C38-4C8D-90B7-ADBC27C47742}"/>
              </a:ext>
            </a:extLst>
          </p:cNvPr>
          <p:cNvSpPr txBox="1"/>
          <p:nvPr/>
        </p:nvSpPr>
        <p:spPr>
          <a:xfrm>
            <a:off x="9044341" y="3725706"/>
            <a:ext cx="753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endParaRPr lang="zh-TW" altLang="en-US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DF750436-6DAB-4453-87A6-26894F957443}"/>
              </a:ext>
            </a:extLst>
          </p:cNvPr>
          <p:cNvSpPr txBox="1"/>
          <p:nvPr/>
        </p:nvSpPr>
        <p:spPr>
          <a:xfrm>
            <a:off x="8550462" y="3851958"/>
            <a:ext cx="753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endParaRPr lang="zh-TW" altLang="en-US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8A79E7C4-9A4D-41E2-87AA-2C485C84C1DF}"/>
              </a:ext>
            </a:extLst>
          </p:cNvPr>
          <p:cNvSpPr txBox="1"/>
          <p:nvPr/>
        </p:nvSpPr>
        <p:spPr>
          <a:xfrm>
            <a:off x="8166063" y="3798524"/>
            <a:ext cx="753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endParaRPr lang="zh-TW" altLang="en-US" sz="2800" b="1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0B5E37FF-6490-49FA-95F7-A032919E884C}"/>
              </a:ext>
            </a:extLst>
          </p:cNvPr>
          <p:cNvSpPr txBox="1"/>
          <p:nvPr/>
        </p:nvSpPr>
        <p:spPr>
          <a:xfrm>
            <a:off x="7949827" y="4499231"/>
            <a:ext cx="753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endParaRPr lang="zh-TW" altLang="en-US" sz="2800" b="1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9C375975-EE6D-41EC-87F5-31BAFA757894}"/>
              </a:ext>
            </a:extLst>
          </p:cNvPr>
          <p:cNvSpPr txBox="1"/>
          <p:nvPr/>
        </p:nvSpPr>
        <p:spPr>
          <a:xfrm>
            <a:off x="7853974" y="3690185"/>
            <a:ext cx="753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endParaRPr lang="zh-TW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9" name="內容版面配置區 3">
            <a:extLst>
              <a:ext uri="{FF2B5EF4-FFF2-40B4-BE49-F238E27FC236}">
                <a16:creationId xmlns:a16="http://schemas.microsoft.com/office/drawing/2014/main" id="{333DCAEE-6866-470D-94A9-13A4E5DA6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477" y="2951316"/>
            <a:ext cx="2724530" cy="3181794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20D5E731-5B67-4FBC-BD78-FA8B12224950}"/>
              </a:ext>
            </a:extLst>
          </p:cNvPr>
          <p:cNvSpPr txBox="1"/>
          <p:nvPr/>
        </p:nvSpPr>
        <p:spPr>
          <a:xfrm>
            <a:off x="1228165" y="2136336"/>
            <a:ext cx="1501588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B:</a:t>
            </a:r>
            <a:r>
              <a:rPr lang="zh-TW" altLang="en-US" dirty="0"/>
              <a:t>顏色標示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CE37CCAC-45C3-4001-AAEF-AE22FFDBCF44}"/>
              </a:ext>
            </a:extLst>
          </p:cNvPr>
          <p:cNvSpPr txBox="1"/>
          <p:nvPr/>
        </p:nvSpPr>
        <p:spPr>
          <a:xfrm>
            <a:off x="2037379" y="4190512"/>
            <a:ext cx="75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endParaRPr lang="zh-TW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508FF2C2-1863-4E5C-92D8-8AEBCEAE4D3E}"/>
              </a:ext>
            </a:extLst>
          </p:cNvPr>
          <p:cNvSpPr txBox="1"/>
          <p:nvPr/>
        </p:nvSpPr>
        <p:spPr>
          <a:xfrm>
            <a:off x="2053515" y="4820826"/>
            <a:ext cx="75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endParaRPr lang="zh-TW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3AA3125D-1BB4-40C3-BCEF-A7E75287CEA0}"/>
              </a:ext>
            </a:extLst>
          </p:cNvPr>
          <p:cNvSpPr txBox="1"/>
          <p:nvPr/>
        </p:nvSpPr>
        <p:spPr>
          <a:xfrm>
            <a:off x="2736028" y="5161811"/>
            <a:ext cx="75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endParaRPr lang="zh-TW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73BAD0E9-054C-4C01-9B8B-2EDBEB2BCED3}"/>
              </a:ext>
            </a:extLst>
          </p:cNvPr>
          <p:cNvSpPr txBox="1"/>
          <p:nvPr/>
        </p:nvSpPr>
        <p:spPr>
          <a:xfrm>
            <a:off x="2344983" y="5763778"/>
            <a:ext cx="75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endParaRPr lang="zh-TW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5BDAC35A-1D64-41B3-9B76-BD399C3B3999}"/>
              </a:ext>
            </a:extLst>
          </p:cNvPr>
          <p:cNvSpPr txBox="1"/>
          <p:nvPr/>
        </p:nvSpPr>
        <p:spPr>
          <a:xfrm>
            <a:off x="1204258" y="4977145"/>
            <a:ext cx="75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endParaRPr lang="zh-TW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1172779C-073E-4738-B8DA-83D5F60FAFFE}"/>
              </a:ext>
            </a:extLst>
          </p:cNvPr>
          <p:cNvSpPr txBox="1"/>
          <p:nvPr/>
        </p:nvSpPr>
        <p:spPr>
          <a:xfrm>
            <a:off x="1204257" y="4346831"/>
            <a:ext cx="75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endParaRPr lang="zh-TW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5E2F18DD-F211-4D74-8482-3237C2E1A6E7}"/>
              </a:ext>
            </a:extLst>
          </p:cNvPr>
          <p:cNvSpPr txBox="1"/>
          <p:nvPr/>
        </p:nvSpPr>
        <p:spPr>
          <a:xfrm>
            <a:off x="2368703" y="3420143"/>
            <a:ext cx="75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endParaRPr lang="zh-TW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" name="手繪多邊形: 圖案 32">
            <a:extLst>
              <a:ext uri="{FF2B5EF4-FFF2-40B4-BE49-F238E27FC236}">
                <a16:creationId xmlns:a16="http://schemas.microsoft.com/office/drawing/2014/main" id="{A2C79205-2996-4CDE-809F-7892657BE5D5}"/>
              </a:ext>
            </a:extLst>
          </p:cNvPr>
          <p:cNvSpPr/>
          <p:nvPr/>
        </p:nvSpPr>
        <p:spPr>
          <a:xfrm>
            <a:off x="1219200" y="3192780"/>
            <a:ext cx="1143935" cy="1379220"/>
          </a:xfrm>
          <a:custGeom>
            <a:avLst/>
            <a:gdLst>
              <a:gd name="connsiteX0" fmla="*/ 0 w 1143935"/>
              <a:gd name="connsiteY0" fmla="*/ 1379220 h 1379220"/>
              <a:gd name="connsiteX1" fmla="*/ 22860 w 1143935"/>
              <a:gd name="connsiteY1" fmla="*/ 1318260 h 1379220"/>
              <a:gd name="connsiteX2" fmla="*/ 38100 w 1143935"/>
              <a:gd name="connsiteY2" fmla="*/ 1226820 h 1379220"/>
              <a:gd name="connsiteX3" fmla="*/ 60960 w 1143935"/>
              <a:gd name="connsiteY3" fmla="*/ 1127760 h 1379220"/>
              <a:gd name="connsiteX4" fmla="*/ 68580 w 1143935"/>
              <a:gd name="connsiteY4" fmla="*/ 975360 h 1379220"/>
              <a:gd name="connsiteX5" fmla="*/ 76200 w 1143935"/>
              <a:gd name="connsiteY5" fmla="*/ 952500 h 1379220"/>
              <a:gd name="connsiteX6" fmla="*/ 83820 w 1143935"/>
              <a:gd name="connsiteY6" fmla="*/ 0 h 1379220"/>
              <a:gd name="connsiteX7" fmla="*/ 220980 w 1143935"/>
              <a:gd name="connsiteY7" fmla="*/ 7620 h 1379220"/>
              <a:gd name="connsiteX8" fmla="*/ 259080 w 1143935"/>
              <a:gd name="connsiteY8" fmla="*/ 22860 h 1379220"/>
              <a:gd name="connsiteX9" fmla="*/ 495300 w 1143935"/>
              <a:gd name="connsiteY9" fmla="*/ 38100 h 1379220"/>
              <a:gd name="connsiteX10" fmla="*/ 586740 w 1143935"/>
              <a:gd name="connsiteY10" fmla="*/ 60960 h 1379220"/>
              <a:gd name="connsiteX11" fmla="*/ 647700 w 1143935"/>
              <a:gd name="connsiteY11" fmla="*/ 68580 h 1379220"/>
              <a:gd name="connsiteX12" fmla="*/ 1097280 w 1143935"/>
              <a:gd name="connsiteY12" fmla="*/ 76200 h 1379220"/>
              <a:gd name="connsiteX13" fmla="*/ 1127760 w 1143935"/>
              <a:gd name="connsiteY13" fmla="*/ 91440 h 1379220"/>
              <a:gd name="connsiteX14" fmla="*/ 1135380 w 1143935"/>
              <a:gd name="connsiteY14" fmla="*/ 121920 h 1379220"/>
              <a:gd name="connsiteX15" fmla="*/ 1143000 w 1143935"/>
              <a:gd name="connsiteY15" fmla="*/ 167640 h 1379220"/>
              <a:gd name="connsiteX16" fmla="*/ 1143000 w 1143935"/>
              <a:gd name="connsiteY16" fmla="*/ 388620 h 1379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43935" h="1379220">
                <a:moveTo>
                  <a:pt x="0" y="1379220"/>
                </a:moveTo>
                <a:cubicBezTo>
                  <a:pt x="7620" y="1358900"/>
                  <a:pt x="15997" y="1338848"/>
                  <a:pt x="22860" y="1318260"/>
                </a:cubicBezTo>
                <a:cubicBezTo>
                  <a:pt x="35427" y="1280558"/>
                  <a:pt x="29219" y="1273447"/>
                  <a:pt x="38100" y="1226820"/>
                </a:cubicBezTo>
                <a:cubicBezTo>
                  <a:pt x="44441" y="1193531"/>
                  <a:pt x="53340" y="1160780"/>
                  <a:pt x="60960" y="1127760"/>
                </a:cubicBezTo>
                <a:cubicBezTo>
                  <a:pt x="63500" y="1076960"/>
                  <a:pt x="64174" y="1026032"/>
                  <a:pt x="68580" y="975360"/>
                </a:cubicBezTo>
                <a:cubicBezTo>
                  <a:pt x="69276" y="967358"/>
                  <a:pt x="76075" y="960531"/>
                  <a:pt x="76200" y="952500"/>
                </a:cubicBezTo>
                <a:cubicBezTo>
                  <a:pt x="81160" y="635029"/>
                  <a:pt x="81280" y="317500"/>
                  <a:pt x="83820" y="0"/>
                </a:cubicBezTo>
                <a:cubicBezTo>
                  <a:pt x="129540" y="2540"/>
                  <a:pt x="175574" y="1697"/>
                  <a:pt x="220980" y="7620"/>
                </a:cubicBezTo>
                <a:cubicBezTo>
                  <a:pt x="234543" y="9389"/>
                  <a:pt x="245610" y="20483"/>
                  <a:pt x="259080" y="22860"/>
                </a:cubicBezTo>
                <a:cubicBezTo>
                  <a:pt x="293689" y="28967"/>
                  <a:pt x="485867" y="37604"/>
                  <a:pt x="495300" y="38100"/>
                </a:cubicBezTo>
                <a:cubicBezTo>
                  <a:pt x="525780" y="45720"/>
                  <a:pt x="555932" y="54798"/>
                  <a:pt x="586740" y="60960"/>
                </a:cubicBezTo>
                <a:cubicBezTo>
                  <a:pt x="606820" y="64976"/>
                  <a:pt x="627231" y="67969"/>
                  <a:pt x="647700" y="68580"/>
                </a:cubicBezTo>
                <a:cubicBezTo>
                  <a:pt x="797515" y="73052"/>
                  <a:pt x="947420" y="73660"/>
                  <a:pt x="1097280" y="76200"/>
                </a:cubicBezTo>
                <a:cubicBezTo>
                  <a:pt x="1107440" y="81280"/>
                  <a:pt x="1120488" y="82714"/>
                  <a:pt x="1127760" y="91440"/>
                </a:cubicBezTo>
                <a:cubicBezTo>
                  <a:pt x="1134464" y="99485"/>
                  <a:pt x="1133326" y="111651"/>
                  <a:pt x="1135380" y="121920"/>
                </a:cubicBezTo>
                <a:cubicBezTo>
                  <a:pt x="1138410" y="137070"/>
                  <a:pt x="1142559" y="152196"/>
                  <a:pt x="1143000" y="167640"/>
                </a:cubicBezTo>
                <a:cubicBezTo>
                  <a:pt x="1145104" y="241270"/>
                  <a:pt x="1143000" y="314960"/>
                  <a:pt x="1143000" y="388620"/>
                </a:cubicBezTo>
              </a:path>
            </a:pathLst>
          </a:cu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手繪多邊形: 圖案 33">
            <a:extLst>
              <a:ext uri="{FF2B5EF4-FFF2-40B4-BE49-F238E27FC236}">
                <a16:creationId xmlns:a16="http://schemas.microsoft.com/office/drawing/2014/main" id="{B0F0E847-123C-4271-ABF6-91022A26E780}"/>
              </a:ext>
            </a:extLst>
          </p:cNvPr>
          <p:cNvSpPr/>
          <p:nvPr/>
        </p:nvSpPr>
        <p:spPr>
          <a:xfrm>
            <a:off x="2346960" y="4267200"/>
            <a:ext cx="45720" cy="838938"/>
          </a:xfrm>
          <a:custGeom>
            <a:avLst/>
            <a:gdLst>
              <a:gd name="connsiteX0" fmla="*/ 22860 w 45720"/>
              <a:gd name="connsiteY0" fmla="*/ 0 h 838938"/>
              <a:gd name="connsiteX1" fmla="*/ 30480 w 45720"/>
              <a:gd name="connsiteY1" fmla="*/ 129540 h 838938"/>
              <a:gd name="connsiteX2" fmla="*/ 38100 w 45720"/>
              <a:gd name="connsiteY2" fmla="*/ 167640 h 838938"/>
              <a:gd name="connsiteX3" fmla="*/ 45720 w 45720"/>
              <a:gd name="connsiteY3" fmla="*/ 243840 h 838938"/>
              <a:gd name="connsiteX4" fmla="*/ 30480 w 45720"/>
              <a:gd name="connsiteY4" fmla="*/ 495300 h 838938"/>
              <a:gd name="connsiteX5" fmla="*/ 22860 w 45720"/>
              <a:gd name="connsiteY5" fmla="*/ 541020 h 838938"/>
              <a:gd name="connsiteX6" fmla="*/ 15240 w 45720"/>
              <a:gd name="connsiteY6" fmla="*/ 701040 h 838938"/>
              <a:gd name="connsiteX7" fmla="*/ 0 w 45720"/>
              <a:gd name="connsiteY7" fmla="*/ 822960 h 83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" h="838938">
                <a:moveTo>
                  <a:pt x="22860" y="0"/>
                </a:moveTo>
                <a:cubicBezTo>
                  <a:pt x="25400" y="43180"/>
                  <a:pt x="26564" y="86463"/>
                  <a:pt x="30480" y="129540"/>
                </a:cubicBezTo>
                <a:cubicBezTo>
                  <a:pt x="31653" y="142438"/>
                  <a:pt x="36388" y="154802"/>
                  <a:pt x="38100" y="167640"/>
                </a:cubicBezTo>
                <a:cubicBezTo>
                  <a:pt x="41474" y="192943"/>
                  <a:pt x="43180" y="218440"/>
                  <a:pt x="45720" y="243840"/>
                </a:cubicBezTo>
                <a:cubicBezTo>
                  <a:pt x="40640" y="327660"/>
                  <a:pt x="36920" y="411574"/>
                  <a:pt x="30480" y="495300"/>
                </a:cubicBezTo>
                <a:cubicBezTo>
                  <a:pt x="29295" y="510705"/>
                  <a:pt x="24001" y="525612"/>
                  <a:pt x="22860" y="541020"/>
                </a:cubicBezTo>
                <a:cubicBezTo>
                  <a:pt x="18915" y="594275"/>
                  <a:pt x="18047" y="647713"/>
                  <a:pt x="15240" y="701040"/>
                </a:cubicBezTo>
                <a:cubicBezTo>
                  <a:pt x="8192" y="834949"/>
                  <a:pt x="38141" y="861101"/>
                  <a:pt x="0" y="822960"/>
                </a:cubicBezTo>
              </a:path>
            </a:pathLst>
          </a:cu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手繪多邊形: 圖案 34">
            <a:extLst>
              <a:ext uri="{FF2B5EF4-FFF2-40B4-BE49-F238E27FC236}">
                <a16:creationId xmlns:a16="http://schemas.microsoft.com/office/drawing/2014/main" id="{35343A65-10A9-40F1-9E52-E85FEAA6FC6A}"/>
              </a:ext>
            </a:extLst>
          </p:cNvPr>
          <p:cNvSpPr/>
          <p:nvPr/>
        </p:nvSpPr>
        <p:spPr>
          <a:xfrm>
            <a:off x="2377440" y="4792980"/>
            <a:ext cx="427953" cy="594360"/>
          </a:xfrm>
          <a:custGeom>
            <a:avLst/>
            <a:gdLst>
              <a:gd name="connsiteX0" fmla="*/ 182880 w 427953"/>
              <a:gd name="connsiteY0" fmla="*/ 594360 h 594360"/>
              <a:gd name="connsiteX1" fmla="*/ 236220 w 427953"/>
              <a:gd name="connsiteY1" fmla="*/ 586740 h 594360"/>
              <a:gd name="connsiteX2" fmla="*/ 259080 w 427953"/>
              <a:gd name="connsiteY2" fmla="*/ 579120 h 594360"/>
              <a:gd name="connsiteX3" fmla="*/ 342900 w 427953"/>
              <a:gd name="connsiteY3" fmla="*/ 571500 h 594360"/>
              <a:gd name="connsiteX4" fmla="*/ 373380 w 427953"/>
              <a:gd name="connsiteY4" fmla="*/ 556260 h 594360"/>
              <a:gd name="connsiteX5" fmla="*/ 381000 w 427953"/>
              <a:gd name="connsiteY5" fmla="*/ 525780 h 594360"/>
              <a:gd name="connsiteX6" fmla="*/ 396240 w 427953"/>
              <a:gd name="connsiteY6" fmla="*/ 320040 h 594360"/>
              <a:gd name="connsiteX7" fmla="*/ 411480 w 427953"/>
              <a:gd name="connsiteY7" fmla="*/ 266700 h 594360"/>
              <a:gd name="connsiteX8" fmla="*/ 403860 w 427953"/>
              <a:gd name="connsiteY8" fmla="*/ 30480 h 594360"/>
              <a:gd name="connsiteX9" fmla="*/ 205740 w 427953"/>
              <a:gd name="connsiteY9" fmla="*/ 22860 h 594360"/>
              <a:gd name="connsiteX10" fmla="*/ 182880 w 427953"/>
              <a:gd name="connsiteY10" fmla="*/ 15240 h 594360"/>
              <a:gd name="connsiteX11" fmla="*/ 114300 w 427953"/>
              <a:gd name="connsiteY11" fmla="*/ 0 h 594360"/>
              <a:gd name="connsiteX12" fmla="*/ 0 w 427953"/>
              <a:gd name="connsiteY12" fmla="*/ 7620 h 594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7953" h="594360">
                <a:moveTo>
                  <a:pt x="182880" y="594360"/>
                </a:moveTo>
                <a:cubicBezTo>
                  <a:pt x="200660" y="591820"/>
                  <a:pt x="218608" y="590262"/>
                  <a:pt x="236220" y="586740"/>
                </a:cubicBezTo>
                <a:cubicBezTo>
                  <a:pt x="244096" y="585165"/>
                  <a:pt x="251129" y="580256"/>
                  <a:pt x="259080" y="579120"/>
                </a:cubicBezTo>
                <a:cubicBezTo>
                  <a:pt x="286853" y="575152"/>
                  <a:pt x="314960" y="574040"/>
                  <a:pt x="342900" y="571500"/>
                </a:cubicBezTo>
                <a:cubicBezTo>
                  <a:pt x="353060" y="566420"/>
                  <a:pt x="366108" y="564986"/>
                  <a:pt x="373380" y="556260"/>
                </a:cubicBezTo>
                <a:cubicBezTo>
                  <a:pt x="380084" y="548215"/>
                  <a:pt x="379991" y="536204"/>
                  <a:pt x="381000" y="525780"/>
                </a:cubicBezTo>
                <a:cubicBezTo>
                  <a:pt x="387624" y="457332"/>
                  <a:pt x="374494" y="385279"/>
                  <a:pt x="396240" y="320040"/>
                </a:cubicBezTo>
                <a:cubicBezTo>
                  <a:pt x="407172" y="287245"/>
                  <a:pt x="401912" y="304972"/>
                  <a:pt x="411480" y="266700"/>
                </a:cubicBezTo>
                <a:cubicBezTo>
                  <a:pt x="408940" y="187960"/>
                  <a:pt x="454664" y="90692"/>
                  <a:pt x="403860" y="30480"/>
                </a:cubicBezTo>
                <a:cubicBezTo>
                  <a:pt x="361241" y="-20031"/>
                  <a:pt x="271672" y="27407"/>
                  <a:pt x="205740" y="22860"/>
                </a:cubicBezTo>
                <a:cubicBezTo>
                  <a:pt x="197727" y="22307"/>
                  <a:pt x="190672" y="17188"/>
                  <a:pt x="182880" y="15240"/>
                </a:cubicBezTo>
                <a:cubicBezTo>
                  <a:pt x="160162" y="9560"/>
                  <a:pt x="137160" y="5080"/>
                  <a:pt x="114300" y="0"/>
                </a:cubicBezTo>
                <a:cubicBezTo>
                  <a:pt x="5086" y="7801"/>
                  <a:pt x="43271" y="7620"/>
                  <a:pt x="0" y="7620"/>
                </a:cubicBezTo>
              </a:path>
            </a:pathLst>
          </a:cu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手繪多邊形: 圖案 35">
            <a:extLst>
              <a:ext uri="{FF2B5EF4-FFF2-40B4-BE49-F238E27FC236}">
                <a16:creationId xmlns:a16="http://schemas.microsoft.com/office/drawing/2014/main" id="{9E6C17A6-9390-4B4C-8EC7-6A8D7134C1FD}"/>
              </a:ext>
            </a:extLst>
          </p:cNvPr>
          <p:cNvSpPr/>
          <p:nvPr/>
        </p:nvSpPr>
        <p:spPr>
          <a:xfrm>
            <a:off x="1196320" y="4968240"/>
            <a:ext cx="1181120" cy="1005840"/>
          </a:xfrm>
          <a:custGeom>
            <a:avLst/>
            <a:gdLst>
              <a:gd name="connsiteX0" fmla="*/ 1181120 w 1181120"/>
              <a:gd name="connsiteY0" fmla="*/ 624840 h 1005840"/>
              <a:gd name="connsiteX1" fmla="*/ 1165880 w 1181120"/>
              <a:gd name="connsiteY1" fmla="*/ 662940 h 1005840"/>
              <a:gd name="connsiteX2" fmla="*/ 1158260 w 1181120"/>
              <a:gd name="connsiteY2" fmla="*/ 685800 h 1005840"/>
              <a:gd name="connsiteX3" fmla="*/ 1150640 w 1181120"/>
              <a:gd name="connsiteY3" fmla="*/ 838200 h 1005840"/>
              <a:gd name="connsiteX4" fmla="*/ 1135400 w 1181120"/>
              <a:gd name="connsiteY4" fmla="*/ 883920 h 1005840"/>
              <a:gd name="connsiteX5" fmla="*/ 1104920 w 1181120"/>
              <a:gd name="connsiteY5" fmla="*/ 998220 h 1005840"/>
              <a:gd name="connsiteX6" fmla="*/ 1066820 w 1181120"/>
              <a:gd name="connsiteY6" fmla="*/ 1005840 h 1005840"/>
              <a:gd name="connsiteX7" fmla="*/ 815360 w 1181120"/>
              <a:gd name="connsiteY7" fmla="*/ 982980 h 1005840"/>
              <a:gd name="connsiteX8" fmla="*/ 784880 w 1181120"/>
              <a:gd name="connsiteY8" fmla="*/ 975360 h 1005840"/>
              <a:gd name="connsiteX9" fmla="*/ 762020 w 1181120"/>
              <a:gd name="connsiteY9" fmla="*/ 967740 h 1005840"/>
              <a:gd name="connsiteX10" fmla="*/ 579140 w 1181120"/>
              <a:gd name="connsiteY10" fmla="*/ 960120 h 1005840"/>
              <a:gd name="connsiteX11" fmla="*/ 251480 w 1181120"/>
              <a:gd name="connsiteY11" fmla="*/ 952500 h 1005840"/>
              <a:gd name="connsiteX12" fmla="*/ 213380 w 1181120"/>
              <a:gd name="connsiteY12" fmla="*/ 937260 h 1005840"/>
              <a:gd name="connsiteX13" fmla="*/ 137180 w 1181120"/>
              <a:gd name="connsiteY13" fmla="*/ 922020 h 1005840"/>
              <a:gd name="connsiteX14" fmla="*/ 114320 w 1181120"/>
              <a:gd name="connsiteY14" fmla="*/ 914400 h 1005840"/>
              <a:gd name="connsiteX15" fmla="*/ 45740 w 1181120"/>
              <a:gd name="connsiteY15" fmla="*/ 906780 h 1005840"/>
              <a:gd name="connsiteX16" fmla="*/ 68600 w 1181120"/>
              <a:gd name="connsiteY16" fmla="*/ 739140 h 1005840"/>
              <a:gd name="connsiteX17" fmla="*/ 60980 w 1181120"/>
              <a:gd name="connsiteY17" fmla="*/ 426720 h 1005840"/>
              <a:gd name="connsiteX18" fmla="*/ 38120 w 1181120"/>
              <a:gd name="connsiteY18" fmla="*/ 327660 h 1005840"/>
              <a:gd name="connsiteX19" fmla="*/ 30500 w 1181120"/>
              <a:gd name="connsiteY19" fmla="*/ 99060 h 1005840"/>
              <a:gd name="connsiteX20" fmla="*/ 7640 w 1181120"/>
              <a:gd name="connsiteY20" fmla="*/ 30480 h 1005840"/>
              <a:gd name="connsiteX21" fmla="*/ 20 w 1181120"/>
              <a:gd name="connsiteY21" fmla="*/ 0 h 100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181120" h="1005840">
                <a:moveTo>
                  <a:pt x="1181120" y="624840"/>
                </a:moveTo>
                <a:cubicBezTo>
                  <a:pt x="1176040" y="637540"/>
                  <a:pt x="1170683" y="650133"/>
                  <a:pt x="1165880" y="662940"/>
                </a:cubicBezTo>
                <a:cubicBezTo>
                  <a:pt x="1163060" y="670461"/>
                  <a:pt x="1158956" y="677798"/>
                  <a:pt x="1158260" y="685800"/>
                </a:cubicBezTo>
                <a:cubicBezTo>
                  <a:pt x="1153854" y="736472"/>
                  <a:pt x="1156470" y="787672"/>
                  <a:pt x="1150640" y="838200"/>
                </a:cubicBezTo>
                <a:cubicBezTo>
                  <a:pt x="1148799" y="854158"/>
                  <a:pt x="1138041" y="868074"/>
                  <a:pt x="1135400" y="883920"/>
                </a:cubicBezTo>
                <a:cubicBezTo>
                  <a:pt x="1132407" y="901879"/>
                  <a:pt x="1119271" y="995350"/>
                  <a:pt x="1104920" y="998220"/>
                </a:cubicBezTo>
                <a:lnTo>
                  <a:pt x="1066820" y="1005840"/>
                </a:lnTo>
                <a:cubicBezTo>
                  <a:pt x="861019" y="988690"/>
                  <a:pt x="944737" y="997355"/>
                  <a:pt x="815360" y="982980"/>
                </a:cubicBezTo>
                <a:cubicBezTo>
                  <a:pt x="805200" y="980440"/>
                  <a:pt x="794950" y="978237"/>
                  <a:pt x="784880" y="975360"/>
                </a:cubicBezTo>
                <a:cubicBezTo>
                  <a:pt x="777157" y="973153"/>
                  <a:pt x="770030" y="968333"/>
                  <a:pt x="762020" y="967740"/>
                </a:cubicBezTo>
                <a:cubicBezTo>
                  <a:pt x="701174" y="963233"/>
                  <a:pt x="640126" y="961940"/>
                  <a:pt x="579140" y="960120"/>
                </a:cubicBezTo>
                <a:lnTo>
                  <a:pt x="251480" y="952500"/>
                </a:lnTo>
                <a:cubicBezTo>
                  <a:pt x="238780" y="947420"/>
                  <a:pt x="226356" y="941585"/>
                  <a:pt x="213380" y="937260"/>
                </a:cubicBezTo>
                <a:cubicBezTo>
                  <a:pt x="183016" y="927139"/>
                  <a:pt x="170946" y="929523"/>
                  <a:pt x="137180" y="922020"/>
                </a:cubicBezTo>
                <a:cubicBezTo>
                  <a:pt x="129339" y="920278"/>
                  <a:pt x="122243" y="915720"/>
                  <a:pt x="114320" y="914400"/>
                </a:cubicBezTo>
                <a:cubicBezTo>
                  <a:pt x="91632" y="910619"/>
                  <a:pt x="68600" y="909320"/>
                  <a:pt x="45740" y="906780"/>
                </a:cubicBezTo>
                <a:cubicBezTo>
                  <a:pt x="53875" y="857970"/>
                  <a:pt x="67927" y="777490"/>
                  <a:pt x="68600" y="739140"/>
                </a:cubicBezTo>
                <a:cubicBezTo>
                  <a:pt x="70427" y="634985"/>
                  <a:pt x="65228" y="530804"/>
                  <a:pt x="60980" y="426720"/>
                </a:cubicBezTo>
                <a:cubicBezTo>
                  <a:pt x="58651" y="369656"/>
                  <a:pt x="56298" y="373105"/>
                  <a:pt x="38120" y="327660"/>
                </a:cubicBezTo>
                <a:cubicBezTo>
                  <a:pt x="35580" y="251460"/>
                  <a:pt x="36832" y="175039"/>
                  <a:pt x="30500" y="99060"/>
                </a:cubicBezTo>
                <a:lnTo>
                  <a:pt x="7640" y="30480"/>
                </a:lnTo>
                <a:cubicBezTo>
                  <a:pt x="-783" y="5210"/>
                  <a:pt x="20" y="15652"/>
                  <a:pt x="20" y="0"/>
                </a:cubicBezTo>
              </a:path>
            </a:pathLst>
          </a:cu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6983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3914C9-6FE1-46D3-BC29-5A730220C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實測狀況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80F1848D-5BE5-41B7-8E4C-52C4FCEFB4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6200000">
            <a:off x="1639400" y="1551305"/>
            <a:ext cx="3264239" cy="4351338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988E9CCA-6848-4433-91A8-CA19AC74F039}"/>
              </a:ext>
            </a:extLst>
          </p:cNvPr>
          <p:cNvSpPr txBox="1"/>
          <p:nvPr/>
        </p:nvSpPr>
        <p:spPr>
          <a:xfrm>
            <a:off x="6391237" y="1392518"/>
            <a:ext cx="445964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/>
              <a:t>理論</a:t>
            </a:r>
            <a:r>
              <a:rPr lang="en-US" altLang="zh-TW" sz="2400" dirty="0"/>
              <a:t>:</a:t>
            </a:r>
          </a:p>
          <a:p>
            <a:r>
              <a:rPr lang="en-US" altLang="zh-TW" sz="2400" dirty="0"/>
              <a:t>5 x 80/(80+10) = 4.44V</a:t>
            </a:r>
          </a:p>
          <a:p>
            <a:endParaRPr lang="en-US" altLang="zh-TW" sz="2400" dirty="0"/>
          </a:p>
          <a:p>
            <a:r>
              <a:rPr lang="zh-TW" altLang="en-US" sz="2400" dirty="0"/>
              <a:t>實際</a:t>
            </a:r>
            <a:r>
              <a:rPr lang="en-US" altLang="zh-TW" sz="2400" dirty="0"/>
              <a:t>:</a:t>
            </a:r>
          </a:p>
          <a:p>
            <a:r>
              <a:rPr lang="en-US" altLang="zh-TW" sz="2400" dirty="0"/>
              <a:t>4.52V</a:t>
            </a:r>
          </a:p>
          <a:p>
            <a:endParaRPr lang="en-US" altLang="zh-TW" sz="2400" dirty="0"/>
          </a:p>
          <a:p>
            <a:r>
              <a:rPr lang="zh-TW" altLang="en-US" sz="2400" dirty="0"/>
              <a:t>這也是為什麼這門課，我一定要實作的原因</a:t>
            </a:r>
            <a:r>
              <a:rPr lang="en-US" altLang="zh-TW" sz="2400" dirty="0"/>
              <a:t>!!!!!</a:t>
            </a: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09208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89B186-1C85-4884-BDE0-A658F71DF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實際狀況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D651DC6A-8130-4742-899E-D24EA9654D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74319" y="2926079"/>
            <a:ext cx="5722924" cy="3220403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2454EFDE-BF52-4667-90D5-2294A81484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9773" b="5334"/>
          <a:stretch/>
        </p:blipFill>
        <p:spPr>
          <a:xfrm rot="16200000">
            <a:off x="5092708" y="2248540"/>
            <a:ext cx="4069068" cy="4114799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4F58045D-0640-45FF-B600-D1942932D4A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5343"/>
          <a:stretch/>
        </p:blipFill>
        <p:spPr>
          <a:xfrm>
            <a:off x="8321040" y="0"/>
            <a:ext cx="3870960" cy="3336388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EA9EBA1D-4688-4C25-ADB0-96C2945C6BCA}"/>
              </a:ext>
            </a:extLst>
          </p:cNvPr>
          <p:cNvSpPr txBox="1"/>
          <p:nvPr/>
        </p:nvSpPr>
        <p:spPr>
          <a:xfrm>
            <a:off x="5069842" y="1099885"/>
            <a:ext cx="2621280" cy="120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3600" dirty="0"/>
              <a:t>10k</a:t>
            </a:r>
            <a:r>
              <a:rPr lang="zh-TW" altLang="en-US" sz="3600" dirty="0"/>
              <a:t>電阻</a:t>
            </a:r>
            <a:endParaRPr lang="en-US" altLang="zh-TW" sz="3600" dirty="0"/>
          </a:p>
          <a:p>
            <a:r>
              <a:rPr lang="zh-TW" altLang="en-US" sz="3600" dirty="0"/>
              <a:t>實際上</a:t>
            </a:r>
            <a:r>
              <a:rPr lang="en-US" altLang="zh-TW" sz="3600" dirty="0"/>
              <a:t>9.75k</a:t>
            </a:r>
            <a:endParaRPr lang="zh-TW" altLang="en-US" sz="36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24E297B-0960-4630-980A-79AAE056A3D6}"/>
              </a:ext>
            </a:extLst>
          </p:cNvPr>
          <p:cNvSpPr txBox="1"/>
          <p:nvPr/>
        </p:nvSpPr>
        <p:spPr>
          <a:xfrm>
            <a:off x="751844" y="1709410"/>
            <a:ext cx="2621280" cy="120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TW" altLang="en-US" sz="3600" dirty="0"/>
              <a:t>電源</a:t>
            </a:r>
            <a:r>
              <a:rPr lang="en-US" altLang="zh-TW" sz="3600" dirty="0"/>
              <a:t>:5V</a:t>
            </a:r>
          </a:p>
          <a:p>
            <a:r>
              <a:rPr lang="zh-TW" altLang="en-US" sz="3600" dirty="0"/>
              <a:t>實際</a:t>
            </a:r>
            <a:r>
              <a:rPr lang="en-US" altLang="zh-TW" sz="3600" dirty="0"/>
              <a:t>5.07V</a:t>
            </a:r>
            <a:endParaRPr lang="zh-TW" altLang="en-US" sz="36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2D908A7-289E-42EB-AE93-D1C8B2B24196}"/>
              </a:ext>
            </a:extLst>
          </p:cNvPr>
          <p:cNvSpPr txBox="1"/>
          <p:nvPr/>
        </p:nvSpPr>
        <p:spPr>
          <a:xfrm>
            <a:off x="8849360" y="3353919"/>
            <a:ext cx="3342640" cy="120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TW" altLang="en-US" sz="3600" dirty="0"/>
              <a:t>調到</a:t>
            </a:r>
            <a:r>
              <a:rPr lang="en-US" altLang="zh-TW" sz="3600" dirty="0"/>
              <a:t>80k</a:t>
            </a:r>
            <a:r>
              <a:rPr lang="zh-TW" altLang="en-US" sz="3600" dirty="0"/>
              <a:t>的電阻</a:t>
            </a:r>
            <a:endParaRPr lang="en-US" altLang="zh-TW" sz="3600" dirty="0"/>
          </a:p>
          <a:p>
            <a:r>
              <a:rPr lang="zh-TW" altLang="en-US" sz="3600" dirty="0"/>
              <a:t>實際上</a:t>
            </a:r>
            <a:r>
              <a:rPr lang="en-US" altLang="zh-TW" sz="3600" dirty="0"/>
              <a:t>80.4k</a:t>
            </a:r>
            <a:endParaRPr lang="zh-TW" altLang="en-US" sz="36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E26D33E-3AB3-4A5D-A979-0A8CFD51F829}"/>
              </a:ext>
            </a:extLst>
          </p:cNvPr>
          <p:cNvSpPr txBox="1"/>
          <p:nvPr/>
        </p:nvSpPr>
        <p:spPr>
          <a:xfrm>
            <a:off x="9184642" y="4536280"/>
            <a:ext cx="445964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/>
              <a:t>理論</a:t>
            </a:r>
            <a:r>
              <a:rPr lang="en-US" altLang="zh-TW" sz="2400" dirty="0"/>
              <a:t>:</a:t>
            </a:r>
          </a:p>
          <a:p>
            <a:r>
              <a:rPr lang="en-US" altLang="zh-TW" sz="2400" dirty="0"/>
              <a:t>5 x 80/(80+10) = </a:t>
            </a:r>
            <a:r>
              <a:rPr lang="en-US" altLang="zh-TW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4.44V</a:t>
            </a:r>
          </a:p>
          <a:p>
            <a:endParaRPr lang="en-US" altLang="zh-TW" sz="2400" dirty="0"/>
          </a:p>
          <a:p>
            <a:r>
              <a:rPr lang="zh-TW" altLang="en-US" sz="2400" dirty="0"/>
              <a:t>實際</a:t>
            </a:r>
            <a:r>
              <a:rPr lang="en-US" altLang="zh-TW" sz="2400" dirty="0"/>
              <a:t>:</a:t>
            </a:r>
          </a:p>
          <a:p>
            <a:r>
              <a:rPr lang="en-US" altLang="zh-TW" sz="2400" dirty="0"/>
              <a:t>5.07 x 80.4/(80.4+9.75)</a:t>
            </a:r>
          </a:p>
          <a:p>
            <a:r>
              <a:rPr lang="en-US" altLang="zh-TW" sz="2400" dirty="0"/>
              <a:t>=</a:t>
            </a:r>
            <a:r>
              <a:rPr lang="en-US" altLang="zh-TW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4.521V</a:t>
            </a: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30362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E82A00-47A5-42EB-986F-E451798DA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所以，實作上，不會要求到</a:t>
            </a:r>
            <a:r>
              <a:rPr lang="en-US" altLang="zh-TW" dirty="0"/>
              <a:t>”</a:t>
            </a:r>
            <a:r>
              <a:rPr lang="zh-TW" altLang="en-US" dirty="0"/>
              <a:t>完全一樣</a:t>
            </a:r>
            <a:r>
              <a:rPr lang="en-US" altLang="zh-TW" dirty="0"/>
              <a:t>”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49CFF53-CA55-4B40-B45B-30D71EA9D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但，有差異時，必需解讀出</a:t>
            </a:r>
            <a:r>
              <a:rPr lang="zh-TW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為什麼</a:t>
            </a:r>
            <a:r>
              <a:rPr lang="zh-TW" altLang="en-US" dirty="0"/>
              <a:t>有差別</a:t>
            </a:r>
            <a:r>
              <a:rPr lang="en-US" altLang="zh-TW" dirty="0"/>
              <a:t>(</a:t>
            </a:r>
            <a:r>
              <a:rPr lang="zh-TW" altLang="en-US" dirty="0"/>
              <a:t>即成因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與理解這個差值在</a:t>
            </a:r>
            <a:r>
              <a:rPr lang="zh-TW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目前設計的電路上的應用</a:t>
            </a:r>
            <a:r>
              <a:rPr lang="zh-TW" altLang="en-US" dirty="0"/>
              <a:t>是否會影響到後續電路</a:t>
            </a:r>
          </a:p>
        </p:txBody>
      </p:sp>
    </p:spTree>
    <p:extLst>
      <p:ext uri="{BB962C8B-B14F-4D97-AF65-F5344CB8AC3E}">
        <p14:creationId xmlns:p14="http://schemas.microsoft.com/office/powerpoint/2010/main" val="2547091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DC2B34-4366-4C14-A1FA-6FB6C3C77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所有元件</a:t>
            </a:r>
            <a:r>
              <a:rPr lang="en-US" altLang="zh-TW" dirty="0"/>
              <a:t>/</a:t>
            </a:r>
            <a:r>
              <a:rPr lang="zh-TW" altLang="en-US" dirty="0"/>
              <a:t>電源，使用前需先量測數值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FF12C9AB-53B5-46DF-BF88-A3509BEE6C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30062"/>
          <a:stretch/>
        </p:blipFill>
        <p:spPr>
          <a:xfrm rot="16200000">
            <a:off x="735153" y="1253331"/>
            <a:ext cx="4056734" cy="4351338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94A7D040-328A-4B9E-BBB3-05DD84E344A0}"/>
              </a:ext>
            </a:extLst>
          </p:cNvPr>
          <p:cNvSpPr txBox="1"/>
          <p:nvPr/>
        </p:nvSpPr>
        <p:spPr>
          <a:xfrm>
            <a:off x="838200" y="5689600"/>
            <a:ext cx="38150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/>
              <a:t>正常，在誤差範圍內</a:t>
            </a:r>
            <a:endParaRPr lang="en-US" altLang="zh-TW" sz="2800" dirty="0"/>
          </a:p>
          <a:p>
            <a:r>
              <a:rPr lang="en-US" altLang="zh-TW" sz="2800" dirty="0"/>
              <a:t>10k +-5% = 9.5k ~  10.5k</a:t>
            </a:r>
            <a:endParaRPr lang="zh-TW" altLang="en-US" sz="28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7F08E8D-0235-4AE1-9FAD-82442C4B54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2942" r="28072"/>
          <a:stretch/>
        </p:blipFill>
        <p:spPr>
          <a:xfrm>
            <a:off x="5189539" y="1400632"/>
            <a:ext cx="3700461" cy="3913047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4BCEF6B8-A988-4813-A666-9A7564E314F7}"/>
              </a:ext>
            </a:extLst>
          </p:cNvPr>
          <p:cNvSpPr txBox="1"/>
          <p:nvPr/>
        </p:nvSpPr>
        <p:spPr>
          <a:xfrm>
            <a:off x="9873299" y="5457367"/>
            <a:ext cx="231870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5V</a:t>
            </a:r>
          </a:p>
          <a:p>
            <a:r>
              <a:rPr lang="zh-TW" altLang="en-US" sz="2800" dirty="0"/>
              <a:t>實測為</a:t>
            </a:r>
            <a:r>
              <a:rPr lang="en-US" altLang="zh-TW" sz="2800" dirty="0"/>
              <a:t>5.07V</a:t>
            </a:r>
          </a:p>
          <a:p>
            <a:r>
              <a:rPr lang="en-US" altLang="zh-TW" sz="2800" dirty="0"/>
              <a:t>(</a:t>
            </a:r>
            <a:r>
              <a:rPr lang="zh-TW" altLang="en-US" sz="2800" dirty="0"/>
              <a:t>電壓漂移</a:t>
            </a:r>
            <a:r>
              <a:rPr lang="en-US" altLang="zh-TW" sz="2800" dirty="0"/>
              <a:t>)</a:t>
            </a:r>
            <a:endParaRPr lang="zh-TW" altLang="en-US" sz="2800" dirty="0"/>
          </a:p>
        </p:txBody>
      </p:sp>
      <p:pic>
        <p:nvPicPr>
          <p:cNvPr id="8" name="內容版面配置區 3">
            <a:extLst>
              <a:ext uri="{FF2B5EF4-FFF2-40B4-BE49-F238E27FC236}">
                <a16:creationId xmlns:a16="http://schemas.microsoft.com/office/drawing/2014/main" id="{8EB3545A-F9F6-48AD-B3F6-7F9A11E802D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5439"/>
          <a:stretch/>
        </p:blipFill>
        <p:spPr>
          <a:xfrm>
            <a:off x="9140350" y="1818797"/>
            <a:ext cx="2550159" cy="3220403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3CB090FA-509F-4BCE-90CF-8537D5CBD60B}"/>
              </a:ext>
            </a:extLst>
          </p:cNvPr>
          <p:cNvSpPr txBox="1"/>
          <p:nvPr/>
        </p:nvSpPr>
        <p:spPr>
          <a:xfrm>
            <a:off x="5667059" y="5691168"/>
            <a:ext cx="38150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異常</a:t>
            </a:r>
            <a:r>
              <a:rPr lang="zh-TW" altLang="en-US" sz="2800" dirty="0"/>
              <a:t>元件</a:t>
            </a:r>
            <a:r>
              <a:rPr lang="en-US" altLang="zh-TW" sz="2800" dirty="0"/>
              <a:t>:100k, </a:t>
            </a:r>
          </a:p>
          <a:p>
            <a:r>
              <a:rPr lang="zh-TW" altLang="en-US" sz="2800" dirty="0"/>
              <a:t>實測下為</a:t>
            </a:r>
            <a:r>
              <a:rPr lang="en-US" altLang="zh-TW" sz="2800" dirty="0"/>
              <a:t>72.4k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542787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C0A995-60B4-498E-8FFC-1E3DE2CB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11101"/>
            <a:ext cx="10515600" cy="1325563"/>
          </a:xfrm>
        </p:spPr>
        <p:txBody>
          <a:bodyPr/>
          <a:lstStyle/>
          <a:p>
            <a:r>
              <a:rPr lang="zh-TW" altLang="en-US" dirty="0"/>
              <a:t>機械式三用電表原理</a:t>
            </a:r>
          </a:p>
        </p:txBody>
      </p:sp>
    </p:spTree>
    <p:extLst>
      <p:ext uri="{BB962C8B-B14F-4D97-AF65-F5344CB8AC3E}">
        <p14:creationId xmlns:p14="http://schemas.microsoft.com/office/powerpoint/2010/main" val="4072839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F64DC7-BCA5-419D-95F0-3EE4F7BC7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機械式三用電表原理 </a:t>
            </a:r>
            <a:r>
              <a:rPr lang="en-US" altLang="zh-TW" dirty="0"/>
              <a:t>– </a:t>
            </a:r>
            <a:r>
              <a:rPr lang="zh-TW" altLang="en-US" dirty="0"/>
              <a:t>指針的原理 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DF0F57E-5A95-4EAE-89D4-3A2F119BFB23}"/>
              </a:ext>
            </a:extLst>
          </p:cNvPr>
          <p:cNvSpPr txBox="1"/>
          <p:nvPr/>
        </p:nvSpPr>
        <p:spPr>
          <a:xfrm>
            <a:off x="1583166" y="2079590"/>
            <a:ext cx="9105153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/>
              <a:t>機械式電表的表頭</a:t>
            </a:r>
            <a:endParaRPr lang="en-US" altLang="zh-TW" sz="3200" dirty="0"/>
          </a:p>
          <a:p>
            <a:r>
              <a:rPr lang="zh-TW" altLang="en-US" sz="3200" dirty="0"/>
              <a:t>構成為彈簧、磁鐵</a:t>
            </a:r>
            <a:r>
              <a:rPr lang="en-US" altLang="zh-TW" sz="3200" dirty="0"/>
              <a:t>(</a:t>
            </a:r>
            <a:r>
              <a:rPr lang="zh-TW" altLang="en-US" sz="3200" dirty="0"/>
              <a:t>產生磁場</a:t>
            </a:r>
            <a:r>
              <a:rPr lang="en-US" altLang="zh-TW" sz="3200" dirty="0"/>
              <a:t>)</a:t>
            </a:r>
            <a:r>
              <a:rPr lang="zh-TW" altLang="en-US" sz="3200" dirty="0"/>
              <a:t>、線圈</a:t>
            </a:r>
            <a:r>
              <a:rPr lang="en-US" altLang="zh-TW" sz="3200" dirty="0"/>
              <a:t>(</a:t>
            </a:r>
            <a:r>
              <a:rPr lang="zh-TW" altLang="en-US" sz="3200" dirty="0"/>
              <a:t>通過電流</a:t>
            </a:r>
            <a:r>
              <a:rPr lang="en-US" altLang="zh-TW" sz="3200" dirty="0"/>
              <a:t>)</a:t>
            </a:r>
            <a:r>
              <a:rPr lang="zh-TW" altLang="en-US" sz="3200" dirty="0"/>
              <a:t>與指針</a:t>
            </a:r>
            <a:r>
              <a:rPr lang="en-US" altLang="zh-TW" sz="3200" dirty="0"/>
              <a:t>(</a:t>
            </a:r>
            <a:r>
              <a:rPr lang="zh-TW" altLang="en-US" sz="3200" dirty="0"/>
              <a:t>指示</a:t>
            </a:r>
            <a:r>
              <a:rPr lang="en-US" altLang="zh-TW" sz="3200" dirty="0"/>
              <a:t>)</a:t>
            </a:r>
          </a:p>
          <a:p>
            <a:endParaRPr lang="en-US" altLang="zh-TW" dirty="0"/>
          </a:p>
          <a:p>
            <a:r>
              <a:rPr lang="zh-TW" altLang="en-US" dirty="0"/>
              <a:t>實際使用上，彈簧力</a:t>
            </a:r>
            <a:r>
              <a:rPr lang="en-US" altLang="zh-TW" dirty="0"/>
              <a:t>:</a:t>
            </a:r>
            <a:r>
              <a:rPr lang="zh-TW" altLang="en-US" dirty="0"/>
              <a:t>為一個反向力</a:t>
            </a:r>
            <a:endParaRPr lang="en-US" altLang="zh-TW" dirty="0"/>
          </a:p>
          <a:p>
            <a:r>
              <a:rPr lang="en-US" altLang="zh-TW" dirty="0"/>
              <a:t>	F=</a:t>
            </a:r>
            <a:r>
              <a:rPr lang="en-US" altLang="zh-TW" dirty="0" err="1"/>
              <a:t>kx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安培力</a:t>
            </a:r>
            <a:r>
              <a:rPr lang="en-US" altLang="zh-TW" dirty="0"/>
              <a:t>:</a:t>
            </a:r>
            <a:r>
              <a:rPr lang="zh-TW" altLang="en-US" dirty="0"/>
              <a:t>線圈</a:t>
            </a:r>
            <a:r>
              <a:rPr lang="en-US" altLang="zh-TW" dirty="0"/>
              <a:t>(</a:t>
            </a:r>
            <a:r>
              <a:rPr lang="zh-TW" altLang="en-US" dirty="0"/>
              <a:t>電流通過線圈，與磁鐵感應產生的力</a:t>
            </a:r>
            <a:r>
              <a:rPr lang="en-US" altLang="zh-TW" dirty="0"/>
              <a:t>)(</a:t>
            </a:r>
            <a:r>
              <a:rPr lang="zh-TW" altLang="en-US" dirty="0"/>
              <a:t>磁場對通電導線的作用力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	F = </a:t>
            </a:r>
            <a:r>
              <a:rPr lang="en-US" altLang="zh-TW" dirty="0" err="1"/>
              <a:t>BILsinθ</a:t>
            </a:r>
            <a:r>
              <a:rPr lang="en-US" altLang="zh-TW" dirty="0"/>
              <a:t> </a:t>
            </a:r>
          </a:p>
          <a:p>
            <a:endParaRPr lang="en-US" altLang="zh-TW" dirty="0"/>
          </a:p>
          <a:p>
            <a:r>
              <a:rPr lang="zh-TW" altLang="en-US" dirty="0"/>
              <a:t>二者平橫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所以，被過度施力</a:t>
            </a:r>
            <a:r>
              <a:rPr lang="en-US" altLang="zh-TW" dirty="0"/>
              <a:t>(</a:t>
            </a:r>
            <a:r>
              <a:rPr lang="zh-TW" altLang="en-US" dirty="0"/>
              <a:t>過大電流</a:t>
            </a:r>
            <a:r>
              <a:rPr lang="en-US" altLang="zh-TW" dirty="0"/>
              <a:t>/</a:t>
            </a:r>
            <a:r>
              <a:rPr lang="zh-TW" altLang="en-US" dirty="0"/>
              <a:t>反向</a:t>
            </a:r>
            <a:r>
              <a:rPr lang="en-US" altLang="zh-TW" dirty="0"/>
              <a:t>)</a:t>
            </a:r>
            <a:r>
              <a:rPr lang="zh-TW" altLang="en-US" dirty="0"/>
              <a:t>，會使彈簧彈性疲勞，而造成量測不準</a:t>
            </a:r>
          </a:p>
        </p:txBody>
      </p:sp>
    </p:spTree>
    <p:extLst>
      <p:ext uri="{BB962C8B-B14F-4D97-AF65-F5344CB8AC3E}">
        <p14:creationId xmlns:p14="http://schemas.microsoft.com/office/powerpoint/2010/main" val="19472823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6B6D3E-0715-43E8-9239-7EFBB7DD3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線圈的特性</a:t>
            </a:r>
            <a:br>
              <a:rPr lang="en-US" altLang="zh-TW" dirty="0"/>
            </a:br>
            <a:r>
              <a:rPr lang="zh-TW" altLang="en-US" dirty="0"/>
              <a:t>電感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3C86451-1F46-4016-8C04-915FDA5EC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0801"/>
            <a:ext cx="10515600" cy="4351338"/>
          </a:xfrm>
        </p:spPr>
        <p:txBody>
          <a:bodyPr>
            <a:normAutofit fontScale="77500" lnSpcReduction="20000"/>
          </a:bodyPr>
          <a:lstStyle/>
          <a:p>
            <a:r>
              <a:rPr lang="zh-TW" altLang="en-US" dirty="0"/>
              <a:t>線電阻值公式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r>
              <a:rPr lang="zh-TW" altLang="en-US" dirty="0"/>
              <a:t>線圈產生的力道</a:t>
            </a:r>
            <a:r>
              <a:rPr lang="en-US" altLang="zh-TW" dirty="0"/>
              <a:t>:</a:t>
            </a:r>
          </a:p>
          <a:p>
            <a:pPr lvl="1"/>
            <a:r>
              <a:rPr lang="zh-TW" altLang="en-US" dirty="0"/>
              <a:t>產生的力</a:t>
            </a:r>
            <a:r>
              <a:rPr lang="en-US" altLang="zh-TW" dirty="0"/>
              <a:t>F</a:t>
            </a:r>
            <a:r>
              <a:rPr lang="zh-TW" altLang="en-US" dirty="0"/>
              <a:t>與電流有關</a:t>
            </a:r>
            <a:r>
              <a:rPr lang="en-US" altLang="zh-TW" dirty="0"/>
              <a:t>:</a:t>
            </a:r>
            <a:r>
              <a:rPr lang="zh-TW" altLang="en-US" dirty="0"/>
              <a:t>安培力</a:t>
            </a:r>
            <a:endParaRPr lang="en-US" altLang="zh-TW" dirty="0"/>
          </a:p>
          <a:p>
            <a:pPr lvl="1"/>
            <a:r>
              <a:rPr lang="en-US" altLang="zh-TW" dirty="0"/>
              <a:t>F = </a:t>
            </a:r>
            <a:r>
              <a:rPr lang="en-US" altLang="zh-TW" dirty="0" err="1"/>
              <a:t>BILsinθ</a:t>
            </a:r>
            <a:r>
              <a:rPr lang="en-US" altLang="zh-TW" dirty="0"/>
              <a:t> </a:t>
            </a:r>
          </a:p>
          <a:p>
            <a:pPr marL="457200" lvl="1" indent="0">
              <a:buNone/>
            </a:pPr>
            <a:r>
              <a:rPr lang="en-US" altLang="zh-TW" dirty="0"/>
              <a:t>	=BIL(</a:t>
            </a:r>
            <a:r>
              <a:rPr lang="zh-TW" altLang="en-US" dirty="0"/>
              <a:t>垂直受力下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zh-TW" altLang="en-US" dirty="0"/>
              <a:t>彈簧力道公式</a:t>
            </a:r>
            <a:endParaRPr lang="en-US" altLang="zh-TW" dirty="0"/>
          </a:p>
          <a:p>
            <a:pPr lvl="1"/>
            <a:r>
              <a:rPr lang="zh-TW" altLang="en-US" dirty="0"/>
              <a:t>產生的力製造型即定型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最後受力為上面二者累加平橫</a:t>
            </a:r>
            <a:endParaRPr lang="en-US" altLang="zh-TW" dirty="0"/>
          </a:p>
          <a:p>
            <a:pPr lvl="1"/>
            <a:r>
              <a:rPr lang="zh-TW" altLang="en-US" dirty="0"/>
              <a:t>二者皆是一次方程式，彈簧為定值</a:t>
            </a:r>
            <a:endParaRPr lang="en-US" altLang="zh-TW" dirty="0"/>
          </a:p>
          <a:p>
            <a:pPr lvl="1"/>
            <a:r>
              <a:rPr lang="zh-TW" altLang="en-US" dirty="0"/>
              <a:t>所以調整歸</a:t>
            </a:r>
            <a:r>
              <a:rPr lang="en-US" altLang="zh-TW" dirty="0"/>
              <a:t>0</a:t>
            </a:r>
            <a:r>
              <a:rPr lang="zh-TW" altLang="en-US" dirty="0"/>
              <a:t>後</a:t>
            </a:r>
            <a:r>
              <a:rPr lang="en-US" altLang="zh-TW" dirty="0"/>
              <a:t>(</a:t>
            </a:r>
            <a:r>
              <a:rPr lang="zh-TW" altLang="en-US" dirty="0"/>
              <a:t>電表正中間調整</a:t>
            </a:r>
            <a:r>
              <a:rPr lang="en-US" altLang="zh-TW" dirty="0"/>
              <a:t>)</a:t>
            </a:r>
            <a:r>
              <a:rPr lang="zh-TW" altLang="en-US" dirty="0"/>
              <a:t>，受力可</a:t>
            </a:r>
            <a:endParaRPr lang="en-US" altLang="zh-TW" dirty="0"/>
          </a:p>
          <a:p>
            <a:pPr marL="457200" lvl="1" indent="0">
              <a:buNone/>
            </a:pPr>
            <a:r>
              <a:rPr lang="en-US" altLang="zh-TW" dirty="0"/>
              <a:t>	</a:t>
            </a:r>
            <a:r>
              <a:rPr lang="zh-TW" altLang="en-US" dirty="0"/>
              <a:t>視為與電流相關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D206B43-5474-4EA3-BE71-497C2FF7B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007" y="1304037"/>
            <a:ext cx="2000084" cy="95352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CB81008B-AA07-49A7-B60E-3B866E303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396" y="4150206"/>
            <a:ext cx="5550346" cy="207204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36C2DAC-5C94-43F7-9AD9-F669F9EF6A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1091" y="2446420"/>
            <a:ext cx="5845047" cy="142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143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06D954-05B8-4067-82E7-8BFB655EE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電流表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75688FE-CCA5-4D63-9DF8-3D41A838B998}"/>
              </a:ext>
            </a:extLst>
          </p:cNvPr>
          <p:cNvSpPr txBox="1"/>
          <p:nvPr/>
        </p:nvSpPr>
        <p:spPr>
          <a:xfrm>
            <a:off x="1493520" y="1770828"/>
            <a:ext cx="70307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/>
              <a:t>使用</a:t>
            </a:r>
            <a:r>
              <a:rPr lang="zh-TW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分流定理</a:t>
            </a:r>
            <a:r>
              <a:rPr lang="zh-TW" altLang="en-US" sz="2800" dirty="0"/>
              <a:t>，控制流經  指針  的</a:t>
            </a:r>
            <a:r>
              <a:rPr lang="zh-TW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電流 </a:t>
            </a:r>
            <a:endParaRPr lang="en-US" altLang="zh-TW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zh-TW" sz="2800" dirty="0"/>
          </a:p>
          <a:p>
            <a:r>
              <a:rPr lang="zh-TW" altLang="en-US" sz="2800" dirty="0"/>
              <a:t>指針的電流會影響 指令旋轉的位置</a:t>
            </a:r>
            <a:endParaRPr lang="en-US" altLang="zh-TW" sz="2800" dirty="0"/>
          </a:p>
          <a:p>
            <a:r>
              <a:rPr lang="en-US" altLang="zh-TW" sz="2800" dirty="0"/>
              <a:t>	F=BIL</a:t>
            </a:r>
            <a:r>
              <a:rPr lang="zh-TW" altLang="en-US" sz="2800" dirty="0"/>
              <a:t>為正相關</a:t>
            </a:r>
            <a:endParaRPr lang="en-US" altLang="zh-TW" sz="2800" dirty="0"/>
          </a:p>
          <a:p>
            <a:endParaRPr lang="en-US" altLang="zh-TW" sz="2800" dirty="0"/>
          </a:p>
          <a:p>
            <a:r>
              <a:rPr lang="zh-TW" altLang="en-US" sz="2800" dirty="0"/>
              <a:t>進而可指示出，電流大小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216513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0258DC-D206-468D-BF72-59EA9F23E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電壓表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47954AB-4DF4-4664-AB8F-6781898A9515}"/>
              </a:ext>
            </a:extLst>
          </p:cNvPr>
          <p:cNvSpPr txBox="1"/>
          <p:nvPr/>
        </p:nvSpPr>
        <p:spPr>
          <a:xfrm>
            <a:off x="1133628" y="1855694"/>
            <a:ext cx="564776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使用</a:t>
            </a:r>
            <a:r>
              <a:rPr lang="zh-TW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串聯電阻分壓定理</a:t>
            </a:r>
            <a:r>
              <a:rPr lang="zh-TW" altLang="en-US" dirty="0"/>
              <a:t>，控制流經  指針  的電流 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不同檔位下的串聯電阻值為可設定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經由</a:t>
            </a:r>
            <a:r>
              <a:rPr lang="en-US" altLang="zh-TW" dirty="0"/>
              <a:t>I=V/R</a:t>
            </a:r>
            <a:r>
              <a:rPr lang="zh-TW" altLang="en-US" dirty="0"/>
              <a:t>，</a:t>
            </a:r>
            <a:r>
              <a:rPr lang="en-US" altLang="zh-TW" dirty="0"/>
              <a:t>R=</a:t>
            </a:r>
            <a:r>
              <a:rPr lang="zh-TW" altLang="en-US" dirty="0"/>
              <a:t>電表內阻 </a:t>
            </a:r>
            <a:r>
              <a:rPr lang="en-US" altLang="zh-TW" dirty="0"/>
              <a:t>+ </a:t>
            </a:r>
            <a:r>
              <a:rPr lang="zh-TW" altLang="en-US" dirty="0"/>
              <a:t>電壓檔倍率選擇電阻</a:t>
            </a:r>
            <a:endParaRPr lang="en-US" altLang="zh-TW" dirty="0"/>
          </a:p>
          <a:p>
            <a:r>
              <a:rPr lang="en-US" altLang="zh-TW" dirty="0"/>
              <a:t>V</a:t>
            </a:r>
            <a:r>
              <a:rPr lang="zh-TW" altLang="en-US" dirty="0"/>
              <a:t>為量測，</a:t>
            </a:r>
            <a:r>
              <a:rPr lang="en-US" altLang="zh-TW" dirty="0"/>
              <a:t>R</a:t>
            </a:r>
            <a:r>
              <a:rPr lang="zh-TW" altLang="en-US" dirty="0"/>
              <a:t>為定值，因此是線性行為。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因此達到指針由</a:t>
            </a:r>
            <a:r>
              <a:rPr lang="en-US" altLang="zh-TW" dirty="0"/>
              <a:t>F=BIL</a:t>
            </a:r>
            <a:r>
              <a:rPr lang="zh-TW" altLang="en-US" dirty="0"/>
              <a:t>，使力道由電流控制 指針旋轉的位置</a:t>
            </a:r>
            <a:endParaRPr lang="en-US" altLang="zh-TW" dirty="0"/>
          </a:p>
          <a:p>
            <a:r>
              <a:rPr lang="en-US" altLang="zh-TW" dirty="0"/>
              <a:t>	</a:t>
            </a:r>
          </a:p>
          <a:p>
            <a:r>
              <a:rPr lang="zh-TW" altLang="en-US" dirty="0"/>
              <a:t>進而可指示出，電壓大小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556005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C1BA58-04A8-489E-9884-78F0274D2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交流電壓檔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EE29770-2D3A-462A-897D-64C1AFB0BDA0}"/>
              </a:ext>
            </a:extLst>
          </p:cNvPr>
          <p:cNvSpPr txBox="1"/>
          <p:nvPr/>
        </p:nvSpPr>
        <p:spPr>
          <a:xfrm>
            <a:off x="1268362" y="1650899"/>
            <a:ext cx="1067783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/>
              <a:t>與</a:t>
            </a:r>
            <a:r>
              <a:rPr lang="en-US" altLang="zh-TW" sz="3200" dirty="0"/>
              <a:t> </a:t>
            </a:r>
            <a:r>
              <a:rPr lang="zh-TW" altLang="en-US" sz="3200" dirty="0"/>
              <a:t>直流電流表類似</a:t>
            </a:r>
            <a:endParaRPr lang="en-US" altLang="zh-TW" sz="3200" dirty="0"/>
          </a:p>
          <a:p>
            <a:r>
              <a:rPr lang="zh-TW" altLang="en-US" sz="3200" dirty="0"/>
              <a:t>但加上了</a:t>
            </a:r>
            <a:r>
              <a:rPr lang="zh-TW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整流電路</a:t>
            </a:r>
            <a:r>
              <a:rPr lang="zh-TW" altLang="en-US" sz="3200" dirty="0"/>
              <a:t>，形成類似直流的迴路</a:t>
            </a:r>
            <a:endParaRPr lang="en-US" altLang="zh-TW" sz="3200" dirty="0"/>
          </a:p>
          <a:p>
            <a:r>
              <a:rPr lang="zh-TW" altLang="en-US" sz="3200" dirty="0"/>
              <a:t>原理上依舊使用</a:t>
            </a:r>
            <a:r>
              <a:rPr lang="zh-TW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串聯電阻定理</a:t>
            </a:r>
            <a:r>
              <a:rPr lang="zh-TW" altLang="en-US" sz="3200" dirty="0"/>
              <a:t>，控制流經  指針  的電流 </a:t>
            </a:r>
            <a:endParaRPr lang="en-US" altLang="zh-TW" sz="3200" dirty="0"/>
          </a:p>
          <a:p>
            <a:endParaRPr lang="en-US" altLang="zh-TW" sz="3200" dirty="0"/>
          </a:p>
          <a:p>
            <a:r>
              <a:rPr lang="zh-TW" altLang="en-US" sz="3200" dirty="0"/>
              <a:t>另外需留意的是，它只是</a:t>
            </a:r>
            <a:r>
              <a:rPr lang="en-US" altLang="zh-TW" sz="3200" dirty="0"/>
              <a:t>”</a:t>
            </a:r>
            <a:r>
              <a:rPr lang="zh-TW" altLang="en-US" sz="3200" dirty="0"/>
              <a:t>類似直流</a:t>
            </a:r>
            <a:r>
              <a:rPr lang="en-US" altLang="zh-TW" sz="3200" dirty="0"/>
              <a:t>”</a:t>
            </a:r>
          </a:p>
          <a:p>
            <a:r>
              <a:rPr lang="zh-TW" altLang="en-US" sz="3200" dirty="0"/>
              <a:t>因此量測到的結果其實是</a:t>
            </a:r>
            <a:r>
              <a:rPr lang="en-US" altLang="zh-TW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Vrms</a:t>
            </a:r>
            <a:r>
              <a:rPr lang="en-US" altLang="zh-TW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!!!!</a:t>
            </a:r>
          </a:p>
        </p:txBody>
      </p:sp>
    </p:spTree>
    <p:extLst>
      <p:ext uri="{BB962C8B-B14F-4D97-AF65-F5344CB8AC3E}">
        <p14:creationId xmlns:p14="http://schemas.microsoft.com/office/powerpoint/2010/main" val="37859182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BB94C9-A424-47FE-B9AF-4BA254EE4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TW" altLang="en-US" dirty="0"/>
              <a:t>實際電路 </a:t>
            </a:r>
            <a:r>
              <a:rPr lang="en-US" altLang="zh-TW" dirty="0"/>
              <a:t>– </a:t>
            </a:r>
            <a:r>
              <a:rPr lang="zh-TW" altLang="en-US" dirty="0"/>
              <a:t>多段歐姆表</a:t>
            </a:r>
            <a:r>
              <a:rPr lang="en-US" altLang="zh-TW" dirty="0"/>
              <a:t> </a:t>
            </a:r>
            <a:r>
              <a:rPr lang="zh-TW" altLang="en-US" dirty="0"/>
              <a:t>量測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E4400DA-3F91-440E-BCE2-0C34FF87008F}"/>
              </a:ext>
            </a:extLst>
          </p:cNvPr>
          <p:cNvSpPr txBox="1"/>
          <p:nvPr/>
        </p:nvSpPr>
        <p:spPr>
          <a:xfrm>
            <a:off x="838200" y="1690688"/>
            <a:ext cx="107442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/>
              <a:t>歐姆檔</a:t>
            </a:r>
            <a:endParaRPr lang="en-US" altLang="zh-TW" sz="3200" dirty="0"/>
          </a:p>
          <a:p>
            <a:r>
              <a:rPr lang="zh-TW" altLang="en-US" sz="3200" dirty="0"/>
              <a:t>是使用選擇檔位</a:t>
            </a:r>
            <a:endParaRPr lang="en-US" altLang="zh-TW" sz="3200" dirty="0"/>
          </a:p>
          <a:p>
            <a:r>
              <a:rPr lang="zh-TW" altLang="en-US" sz="3200" dirty="0"/>
              <a:t>經過串</a:t>
            </a:r>
            <a:r>
              <a:rPr lang="en-US" altLang="zh-TW" sz="3200" dirty="0"/>
              <a:t>/</a:t>
            </a:r>
            <a:r>
              <a:rPr lang="zh-TW" altLang="en-US" sz="3200" dirty="0"/>
              <a:t>並聯後，</a:t>
            </a:r>
            <a:endParaRPr lang="en-US" altLang="zh-TW" sz="3200" dirty="0"/>
          </a:p>
          <a:p>
            <a:r>
              <a:rPr lang="zh-TW" altLang="en-US" sz="3200" dirty="0"/>
              <a:t>再與</a:t>
            </a:r>
            <a:r>
              <a:rPr lang="zh-TW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待測電阻串聯</a:t>
            </a:r>
            <a:endParaRPr lang="en-US" altLang="zh-TW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zh-TW" sz="3200" dirty="0"/>
          </a:p>
          <a:p>
            <a:r>
              <a:rPr lang="zh-TW" altLang="en-US" sz="3200" dirty="0"/>
              <a:t>由於實際上指示值是由表頭決定，而推動表頭的是由</a:t>
            </a:r>
            <a:r>
              <a:rPr lang="en-US" altLang="zh-TW" sz="3200" dirty="0"/>
              <a:t>”</a:t>
            </a:r>
            <a:r>
              <a:rPr lang="zh-TW" altLang="en-US" sz="3200" dirty="0">
                <a:solidFill>
                  <a:srgbClr val="FF0000"/>
                </a:solidFill>
              </a:rPr>
              <a:t>流經表頭的電流</a:t>
            </a:r>
            <a:r>
              <a:rPr lang="en-US" altLang="zh-TW" sz="3200" dirty="0"/>
              <a:t>”</a:t>
            </a:r>
            <a:r>
              <a:rPr lang="zh-TW" altLang="en-US" sz="3200" dirty="0"/>
              <a:t>推動，因此</a:t>
            </a:r>
            <a:endParaRPr lang="en-US" altLang="zh-TW" sz="3200" dirty="0"/>
          </a:p>
          <a:p>
            <a:r>
              <a:rPr lang="zh-TW" altLang="en-US" sz="3200" dirty="0"/>
              <a:t>待測電阻是</a:t>
            </a:r>
            <a:r>
              <a:rPr lang="en-US" altLang="zh-TW" sz="3200" dirty="0"/>
              <a:t>”</a:t>
            </a:r>
            <a:r>
              <a:rPr lang="zh-TW" altLang="en-US" sz="3200" dirty="0"/>
              <a:t>串聯</a:t>
            </a:r>
            <a:r>
              <a:rPr lang="en-US" altLang="zh-TW" sz="3200" dirty="0"/>
              <a:t>”</a:t>
            </a:r>
          </a:p>
          <a:p>
            <a:r>
              <a:rPr lang="zh-TW" altLang="en-US" sz="3200" dirty="0"/>
              <a:t>但流到表頭的電流是採</a:t>
            </a:r>
            <a:r>
              <a:rPr lang="en-US" altLang="zh-TW" sz="3200" dirty="0"/>
              <a:t>”</a:t>
            </a:r>
            <a:r>
              <a:rPr lang="zh-TW" altLang="en-US" sz="3200" dirty="0"/>
              <a:t>並聯分流</a:t>
            </a:r>
            <a:r>
              <a:rPr lang="en-US" altLang="zh-TW" sz="3200" dirty="0"/>
              <a:t>”</a:t>
            </a:r>
            <a:r>
              <a:rPr lang="zh-TW" altLang="en-US" sz="3200" dirty="0"/>
              <a:t>，所以歐姆檔的值是非線性</a:t>
            </a:r>
            <a:r>
              <a:rPr lang="en-US" altLang="zh-TW" sz="3200" dirty="0"/>
              <a:t>(</a:t>
            </a:r>
            <a:r>
              <a:rPr lang="zh-TW" altLang="en-US" sz="3200" dirty="0"/>
              <a:t>分流公式</a:t>
            </a:r>
            <a:r>
              <a:rPr lang="en-US" altLang="zh-TW" sz="3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947314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38CC6F-7867-4583-A09A-0003D72C9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下一個電路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4E809714-5291-49F6-8CB3-25AD7B3C44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598" y="1910556"/>
            <a:ext cx="5010849" cy="4020111"/>
          </a:xfrm>
          <a:prstGeom prst="rect">
            <a:avLst/>
          </a:prstGeom>
        </p:spPr>
      </p:pic>
      <p:pic>
        <p:nvPicPr>
          <p:cNvPr id="6" name="內容版面配置區 4">
            <a:extLst>
              <a:ext uri="{FF2B5EF4-FFF2-40B4-BE49-F238E27FC236}">
                <a16:creationId xmlns:a16="http://schemas.microsoft.com/office/drawing/2014/main" id="{905A9DBF-7558-465D-8368-00A87AF67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10555"/>
            <a:ext cx="5010849" cy="4020111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7B7EDA87-468D-4300-8338-769E20E34D98}"/>
              </a:ext>
            </a:extLst>
          </p:cNvPr>
          <p:cNvSpPr txBox="1"/>
          <p:nvPr/>
        </p:nvSpPr>
        <p:spPr>
          <a:xfrm>
            <a:off x="1085151" y="3244334"/>
            <a:ext cx="753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endParaRPr lang="zh-TW" alt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C70EDD9-EFAB-4F9F-924F-8F318DED8A27}"/>
              </a:ext>
            </a:extLst>
          </p:cNvPr>
          <p:cNvSpPr txBox="1"/>
          <p:nvPr/>
        </p:nvSpPr>
        <p:spPr>
          <a:xfrm>
            <a:off x="2034987" y="3735944"/>
            <a:ext cx="753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endParaRPr lang="zh-TW" altLang="en-US" sz="3200" b="1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5734C8D8-6C70-45DE-B4FE-222D2A583455}"/>
              </a:ext>
            </a:extLst>
          </p:cNvPr>
          <p:cNvSpPr txBox="1"/>
          <p:nvPr/>
        </p:nvSpPr>
        <p:spPr>
          <a:xfrm>
            <a:off x="4737213" y="3536721"/>
            <a:ext cx="753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endParaRPr lang="zh-TW" altLang="en-US" sz="32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3ED4296-CC45-4D4C-B440-886F701B8F2D}"/>
              </a:ext>
            </a:extLst>
          </p:cNvPr>
          <p:cNvSpPr txBox="1"/>
          <p:nvPr/>
        </p:nvSpPr>
        <p:spPr>
          <a:xfrm>
            <a:off x="2225689" y="5930666"/>
            <a:ext cx="753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endParaRPr lang="zh-TW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手繪多邊形: 圖案 15">
            <a:extLst>
              <a:ext uri="{FF2B5EF4-FFF2-40B4-BE49-F238E27FC236}">
                <a16:creationId xmlns:a16="http://schemas.microsoft.com/office/drawing/2014/main" id="{8D063983-3D7F-49C4-802B-C02CB36FF321}"/>
              </a:ext>
            </a:extLst>
          </p:cNvPr>
          <p:cNvSpPr/>
          <p:nvPr/>
        </p:nvSpPr>
        <p:spPr>
          <a:xfrm>
            <a:off x="6812280" y="2044304"/>
            <a:ext cx="3741420" cy="1691640"/>
          </a:xfrm>
          <a:custGeom>
            <a:avLst/>
            <a:gdLst>
              <a:gd name="connsiteX0" fmla="*/ 7620 w 3741420"/>
              <a:gd name="connsiteY0" fmla="*/ 1691640 h 1691640"/>
              <a:gd name="connsiteX1" fmla="*/ 7620 w 3741420"/>
              <a:gd name="connsiteY1" fmla="*/ 1287780 h 1691640"/>
              <a:gd name="connsiteX2" fmla="*/ 0 w 3741420"/>
              <a:gd name="connsiteY2" fmla="*/ 579120 h 1691640"/>
              <a:gd name="connsiteX3" fmla="*/ 7620 w 3741420"/>
              <a:gd name="connsiteY3" fmla="*/ 228600 h 1691640"/>
              <a:gd name="connsiteX4" fmla="*/ 22860 w 3741420"/>
              <a:gd name="connsiteY4" fmla="*/ 160020 h 1691640"/>
              <a:gd name="connsiteX5" fmla="*/ 38100 w 3741420"/>
              <a:gd name="connsiteY5" fmla="*/ 137160 h 1691640"/>
              <a:gd name="connsiteX6" fmla="*/ 53340 w 3741420"/>
              <a:gd name="connsiteY6" fmla="*/ 68580 h 1691640"/>
              <a:gd name="connsiteX7" fmla="*/ 68580 w 3741420"/>
              <a:gd name="connsiteY7" fmla="*/ 7620 h 1691640"/>
              <a:gd name="connsiteX8" fmla="*/ 114300 w 3741420"/>
              <a:gd name="connsiteY8" fmla="*/ 0 h 1691640"/>
              <a:gd name="connsiteX9" fmla="*/ 304800 w 3741420"/>
              <a:gd name="connsiteY9" fmla="*/ 30480 h 1691640"/>
              <a:gd name="connsiteX10" fmla="*/ 464820 w 3741420"/>
              <a:gd name="connsiteY10" fmla="*/ 60960 h 1691640"/>
              <a:gd name="connsiteX11" fmla="*/ 525780 w 3741420"/>
              <a:gd name="connsiteY11" fmla="*/ 76200 h 1691640"/>
              <a:gd name="connsiteX12" fmla="*/ 563880 w 3741420"/>
              <a:gd name="connsiteY12" fmla="*/ 91440 h 1691640"/>
              <a:gd name="connsiteX13" fmla="*/ 609600 w 3741420"/>
              <a:gd name="connsiteY13" fmla="*/ 99060 h 1691640"/>
              <a:gd name="connsiteX14" fmla="*/ 739140 w 3741420"/>
              <a:gd name="connsiteY14" fmla="*/ 114300 h 1691640"/>
              <a:gd name="connsiteX15" fmla="*/ 2979420 w 3741420"/>
              <a:gd name="connsiteY15" fmla="*/ 114300 h 1691640"/>
              <a:gd name="connsiteX16" fmla="*/ 3101340 w 3741420"/>
              <a:gd name="connsiteY16" fmla="*/ 91440 h 1691640"/>
              <a:gd name="connsiteX17" fmla="*/ 3177540 w 3741420"/>
              <a:gd name="connsiteY17" fmla="*/ 83820 h 1691640"/>
              <a:gd name="connsiteX18" fmla="*/ 3230880 w 3741420"/>
              <a:gd name="connsiteY18" fmla="*/ 76200 h 1691640"/>
              <a:gd name="connsiteX19" fmla="*/ 3444240 w 3741420"/>
              <a:gd name="connsiteY19" fmla="*/ 53340 h 1691640"/>
              <a:gd name="connsiteX20" fmla="*/ 3558540 w 3741420"/>
              <a:gd name="connsiteY20" fmla="*/ 38100 h 1691640"/>
              <a:gd name="connsiteX21" fmla="*/ 3733800 w 3741420"/>
              <a:gd name="connsiteY21" fmla="*/ 76200 h 1691640"/>
              <a:gd name="connsiteX22" fmla="*/ 3741420 w 3741420"/>
              <a:gd name="connsiteY22" fmla="*/ 121920 h 1691640"/>
              <a:gd name="connsiteX23" fmla="*/ 3726180 w 3741420"/>
              <a:gd name="connsiteY23" fmla="*/ 541020 h 1691640"/>
              <a:gd name="connsiteX24" fmla="*/ 3718560 w 3741420"/>
              <a:gd name="connsiteY24" fmla="*/ 563880 h 1691640"/>
              <a:gd name="connsiteX25" fmla="*/ 3710940 w 3741420"/>
              <a:gd name="connsiteY25" fmla="*/ 632460 h 1691640"/>
              <a:gd name="connsiteX26" fmla="*/ 3695700 w 3741420"/>
              <a:gd name="connsiteY26" fmla="*/ 723900 h 1691640"/>
              <a:gd name="connsiteX27" fmla="*/ 3688080 w 3741420"/>
              <a:gd name="connsiteY27" fmla="*/ 777240 h 1691640"/>
              <a:gd name="connsiteX28" fmla="*/ 3688080 w 3741420"/>
              <a:gd name="connsiteY28" fmla="*/ 838200 h 169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741420" h="1691640">
                <a:moveTo>
                  <a:pt x="7620" y="1691640"/>
                </a:moveTo>
                <a:cubicBezTo>
                  <a:pt x="25609" y="1493762"/>
                  <a:pt x="13216" y="1665482"/>
                  <a:pt x="7620" y="1287780"/>
                </a:cubicBezTo>
                <a:cubicBezTo>
                  <a:pt x="4121" y="1051572"/>
                  <a:pt x="2540" y="815340"/>
                  <a:pt x="0" y="579120"/>
                </a:cubicBezTo>
                <a:cubicBezTo>
                  <a:pt x="2540" y="462280"/>
                  <a:pt x="3040" y="345378"/>
                  <a:pt x="7620" y="228600"/>
                </a:cubicBezTo>
                <a:cubicBezTo>
                  <a:pt x="7776" y="224619"/>
                  <a:pt x="19795" y="167172"/>
                  <a:pt x="22860" y="160020"/>
                </a:cubicBezTo>
                <a:cubicBezTo>
                  <a:pt x="26468" y="151602"/>
                  <a:pt x="33020" y="144780"/>
                  <a:pt x="38100" y="137160"/>
                </a:cubicBezTo>
                <a:cubicBezTo>
                  <a:pt x="53913" y="42279"/>
                  <a:pt x="37261" y="127536"/>
                  <a:pt x="53340" y="68580"/>
                </a:cubicBezTo>
                <a:cubicBezTo>
                  <a:pt x="58851" y="48373"/>
                  <a:pt x="47920" y="11063"/>
                  <a:pt x="68580" y="7620"/>
                </a:cubicBezTo>
                <a:lnTo>
                  <a:pt x="114300" y="0"/>
                </a:lnTo>
                <a:cubicBezTo>
                  <a:pt x="182875" y="8572"/>
                  <a:pt x="231948" y="13668"/>
                  <a:pt x="304800" y="30480"/>
                </a:cubicBezTo>
                <a:cubicBezTo>
                  <a:pt x="470289" y="68670"/>
                  <a:pt x="263190" y="44158"/>
                  <a:pt x="464820" y="60960"/>
                </a:cubicBezTo>
                <a:cubicBezTo>
                  <a:pt x="485140" y="66040"/>
                  <a:pt x="506333" y="68421"/>
                  <a:pt x="525780" y="76200"/>
                </a:cubicBezTo>
                <a:cubicBezTo>
                  <a:pt x="538480" y="81280"/>
                  <a:pt x="550684" y="87841"/>
                  <a:pt x="563880" y="91440"/>
                </a:cubicBezTo>
                <a:cubicBezTo>
                  <a:pt x="578786" y="95505"/>
                  <a:pt x="594280" y="97062"/>
                  <a:pt x="609600" y="99060"/>
                </a:cubicBezTo>
                <a:cubicBezTo>
                  <a:pt x="652713" y="104683"/>
                  <a:pt x="695960" y="109220"/>
                  <a:pt x="739140" y="114300"/>
                </a:cubicBezTo>
                <a:cubicBezTo>
                  <a:pt x="1458808" y="319919"/>
                  <a:pt x="2235968" y="176254"/>
                  <a:pt x="2979420" y="114300"/>
                </a:cubicBezTo>
                <a:cubicBezTo>
                  <a:pt x="3020060" y="106680"/>
                  <a:pt x="3060473" y="97727"/>
                  <a:pt x="3101340" y="91440"/>
                </a:cubicBezTo>
                <a:cubicBezTo>
                  <a:pt x="3126570" y="87558"/>
                  <a:pt x="3152188" y="86803"/>
                  <a:pt x="3177540" y="83820"/>
                </a:cubicBezTo>
                <a:cubicBezTo>
                  <a:pt x="3195377" y="81721"/>
                  <a:pt x="3213036" y="78239"/>
                  <a:pt x="3230880" y="76200"/>
                </a:cubicBezTo>
                <a:cubicBezTo>
                  <a:pt x="3301944" y="68078"/>
                  <a:pt x="3373686" y="65099"/>
                  <a:pt x="3444240" y="53340"/>
                </a:cubicBezTo>
                <a:cubicBezTo>
                  <a:pt x="3512648" y="41939"/>
                  <a:pt x="3474604" y="47426"/>
                  <a:pt x="3558540" y="38100"/>
                </a:cubicBezTo>
                <a:cubicBezTo>
                  <a:pt x="3673900" y="48587"/>
                  <a:pt x="3717065" y="893"/>
                  <a:pt x="3733800" y="76200"/>
                </a:cubicBezTo>
                <a:cubicBezTo>
                  <a:pt x="3737152" y="91282"/>
                  <a:pt x="3738880" y="106680"/>
                  <a:pt x="3741420" y="121920"/>
                </a:cubicBezTo>
                <a:cubicBezTo>
                  <a:pt x="3740647" y="155159"/>
                  <a:pt x="3740757" y="431695"/>
                  <a:pt x="3726180" y="541020"/>
                </a:cubicBezTo>
                <a:cubicBezTo>
                  <a:pt x="3725118" y="548982"/>
                  <a:pt x="3721100" y="556260"/>
                  <a:pt x="3718560" y="563880"/>
                </a:cubicBezTo>
                <a:cubicBezTo>
                  <a:pt x="3716020" y="586740"/>
                  <a:pt x="3714193" y="609690"/>
                  <a:pt x="3710940" y="632460"/>
                </a:cubicBezTo>
                <a:cubicBezTo>
                  <a:pt x="3706570" y="663050"/>
                  <a:pt x="3700070" y="693310"/>
                  <a:pt x="3695700" y="723900"/>
                </a:cubicBezTo>
                <a:cubicBezTo>
                  <a:pt x="3693160" y="741680"/>
                  <a:pt x="3689275" y="759319"/>
                  <a:pt x="3688080" y="777240"/>
                </a:cubicBezTo>
                <a:cubicBezTo>
                  <a:pt x="3686728" y="797515"/>
                  <a:pt x="3688080" y="817880"/>
                  <a:pt x="3688080" y="838200"/>
                </a:cubicBezTo>
              </a:path>
            </a:pathLst>
          </a:cu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手繪多邊形: 圖案 16">
            <a:extLst>
              <a:ext uri="{FF2B5EF4-FFF2-40B4-BE49-F238E27FC236}">
                <a16:creationId xmlns:a16="http://schemas.microsoft.com/office/drawing/2014/main" id="{AEE3E04D-B8AC-4812-9F9C-B51670C4C7E4}"/>
              </a:ext>
            </a:extLst>
          </p:cNvPr>
          <p:cNvSpPr/>
          <p:nvPr/>
        </p:nvSpPr>
        <p:spPr>
          <a:xfrm>
            <a:off x="8228297" y="2382412"/>
            <a:ext cx="909386" cy="861922"/>
          </a:xfrm>
          <a:custGeom>
            <a:avLst/>
            <a:gdLst>
              <a:gd name="connsiteX0" fmla="*/ 343822 w 909386"/>
              <a:gd name="connsiteY0" fmla="*/ 861922 h 861922"/>
              <a:gd name="connsiteX1" fmla="*/ 442882 w 909386"/>
              <a:gd name="connsiteY1" fmla="*/ 854302 h 861922"/>
              <a:gd name="connsiteX2" fmla="*/ 503842 w 909386"/>
              <a:gd name="connsiteY2" fmla="*/ 839062 h 861922"/>
              <a:gd name="connsiteX3" fmla="*/ 549562 w 909386"/>
              <a:gd name="connsiteY3" fmla="*/ 831442 h 861922"/>
              <a:gd name="connsiteX4" fmla="*/ 587662 w 909386"/>
              <a:gd name="connsiteY4" fmla="*/ 823822 h 861922"/>
              <a:gd name="connsiteX5" fmla="*/ 884842 w 909386"/>
              <a:gd name="connsiteY5" fmla="*/ 816202 h 861922"/>
              <a:gd name="connsiteX6" fmla="*/ 907702 w 909386"/>
              <a:gd name="connsiteY6" fmla="*/ 800962 h 861922"/>
              <a:gd name="connsiteX7" fmla="*/ 900082 w 909386"/>
              <a:gd name="connsiteY7" fmla="*/ 709522 h 861922"/>
              <a:gd name="connsiteX8" fmla="*/ 877222 w 909386"/>
              <a:gd name="connsiteY8" fmla="*/ 679042 h 861922"/>
              <a:gd name="connsiteX9" fmla="*/ 861982 w 909386"/>
              <a:gd name="connsiteY9" fmla="*/ 640942 h 861922"/>
              <a:gd name="connsiteX10" fmla="*/ 854362 w 909386"/>
              <a:gd name="connsiteY10" fmla="*/ 275182 h 861922"/>
              <a:gd name="connsiteX11" fmla="*/ 839122 w 909386"/>
              <a:gd name="connsiteY11" fmla="*/ 31342 h 861922"/>
              <a:gd name="connsiteX12" fmla="*/ 473362 w 909386"/>
              <a:gd name="connsiteY12" fmla="*/ 23722 h 861922"/>
              <a:gd name="connsiteX13" fmla="*/ 351442 w 909386"/>
              <a:gd name="connsiteY13" fmla="*/ 8482 h 861922"/>
              <a:gd name="connsiteX14" fmla="*/ 313342 w 909386"/>
              <a:gd name="connsiteY14" fmla="*/ 862 h 861922"/>
              <a:gd name="connsiteX15" fmla="*/ 122842 w 909386"/>
              <a:gd name="connsiteY15" fmla="*/ 8482 h 861922"/>
              <a:gd name="connsiteX16" fmla="*/ 99982 w 909386"/>
              <a:gd name="connsiteY16" fmla="*/ 31342 h 861922"/>
              <a:gd name="connsiteX17" fmla="*/ 77122 w 909386"/>
              <a:gd name="connsiteY17" fmla="*/ 38962 h 861922"/>
              <a:gd name="connsiteX18" fmla="*/ 69502 w 909386"/>
              <a:gd name="connsiteY18" fmla="*/ 16102 h 861922"/>
              <a:gd name="connsiteX19" fmla="*/ 61882 w 909386"/>
              <a:gd name="connsiteY19" fmla="*/ 107542 h 861922"/>
              <a:gd name="connsiteX20" fmla="*/ 54262 w 909386"/>
              <a:gd name="connsiteY20" fmla="*/ 130402 h 861922"/>
              <a:gd name="connsiteX21" fmla="*/ 46642 w 909386"/>
              <a:gd name="connsiteY21" fmla="*/ 160882 h 861922"/>
              <a:gd name="connsiteX22" fmla="*/ 39022 w 909386"/>
              <a:gd name="connsiteY22" fmla="*/ 183742 h 861922"/>
              <a:gd name="connsiteX23" fmla="*/ 16162 w 909386"/>
              <a:gd name="connsiteY23" fmla="*/ 290422 h 861922"/>
              <a:gd name="connsiteX24" fmla="*/ 8542 w 909386"/>
              <a:gd name="connsiteY24" fmla="*/ 366622 h 861922"/>
              <a:gd name="connsiteX25" fmla="*/ 922 w 909386"/>
              <a:gd name="connsiteY25" fmla="*/ 397102 h 861922"/>
              <a:gd name="connsiteX26" fmla="*/ 922 w 909386"/>
              <a:gd name="connsiteY26" fmla="*/ 534262 h 86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909386" h="861922">
                <a:moveTo>
                  <a:pt x="343822" y="861922"/>
                </a:moveTo>
                <a:cubicBezTo>
                  <a:pt x="376842" y="859382"/>
                  <a:pt x="410097" y="858986"/>
                  <a:pt x="442882" y="854302"/>
                </a:cubicBezTo>
                <a:cubicBezTo>
                  <a:pt x="463617" y="851340"/>
                  <a:pt x="483182" y="842505"/>
                  <a:pt x="503842" y="839062"/>
                </a:cubicBezTo>
                <a:lnTo>
                  <a:pt x="549562" y="831442"/>
                </a:lnTo>
                <a:cubicBezTo>
                  <a:pt x="562305" y="829125"/>
                  <a:pt x="574724" y="824410"/>
                  <a:pt x="587662" y="823822"/>
                </a:cubicBezTo>
                <a:cubicBezTo>
                  <a:pt x="686652" y="819322"/>
                  <a:pt x="785782" y="818742"/>
                  <a:pt x="884842" y="816202"/>
                </a:cubicBezTo>
                <a:cubicBezTo>
                  <a:pt x="892462" y="811122"/>
                  <a:pt x="906407" y="810028"/>
                  <a:pt x="907702" y="800962"/>
                </a:cubicBezTo>
                <a:cubicBezTo>
                  <a:pt x="912027" y="770684"/>
                  <a:pt x="907500" y="739194"/>
                  <a:pt x="900082" y="709522"/>
                </a:cubicBezTo>
                <a:cubicBezTo>
                  <a:pt x="897002" y="697201"/>
                  <a:pt x="883390" y="690144"/>
                  <a:pt x="877222" y="679042"/>
                </a:cubicBezTo>
                <a:cubicBezTo>
                  <a:pt x="870579" y="667085"/>
                  <a:pt x="867062" y="653642"/>
                  <a:pt x="861982" y="640942"/>
                </a:cubicBezTo>
                <a:cubicBezTo>
                  <a:pt x="859442" y="519022"/>
                  <a:pt x="858932" y="397043"/>
                  <a:pt x="854362" y="275182"/>
                </a:cubicBezTo>
                <a:cubicBezTo>
                  <a:pt x="851310" y="193801"/>
                  <a:pt x="907091" y="76202"/>
                  <a:pt x="839122" y="31342"/>
                </a:cubicBezTo>
                <a:cubicBezTo>
                  <a:pt x="737344" y="-35831"/>
                  <a:pt x="595282" y="26262"/>
                  <a:pt x="473362" y="23722"/>
                </a:cubicBezTo>
                <a:cubicBezTo>
                  <a:pt x="387456" y="6541"/>
                  <a:pt x="492123" y="26067"/>
                  <a:pt x="351442" y="8482"/>
                </a:cubicBezTo>
                <a:cubicBezTo>
                  <a:pt x="338591" y="6876"/>
                  <a:pt x="326042" y="3402"/>
                  <a:pt x="313342" y="862"/>
                </a:cubicBezTo>
                <a:cubicBezTo>
                  <a:pt x="249842" y="3402"/>
                  <a:pt x="185754" y="-505"/>
                  <a:pt x="122842" y="8482"/>
                </a:cubicBezTo>
                <a:cubicBezTo>
                  <a:pt x="112174" y="10006"/>
                  <a:pt x="108948" y="25364"/>
                  <a:pt x="99982" y="31342"/>
                </a:cubicBezTo>
                <a:cubicBezTo>
                  <a:pt x="93299" y="35797"/>
                  <a:pt x="84742" y="36422"/>
                  <a:pt x="77122" y="38962"/>
                </a:cubicBezTo>
                <a:cubicBezTo>
                  <a:pt x="74582" y="31342"/>
                  <a:pt x="71244" y="8261"/>
                  <a:pt x="69502" y="16102"/>
                </a:cubicBezTo>
                <a:cubicBezTo>
                  <a:pt x="62867" y="45959"/>
                  <a:pt x="65924" y="77225"/>
                  <a:pt x="61882" y="107542"/>
                </a:cubicBezTo>
                <a:cubicBezTo>
                  <a:pt x="60820" y="115504"/>
                  <a:pt x="56469" y="122679"/>
                  <a:pt x="54262" y="130402"/>
                </a:cubicBezTo>
                <a:cubicBezTo>
                  <a:pt x="51385" y="140472"/>
                  <a:pt x="49519" y="150812"/>
                  <a:pt x="46642" y="160882"/>
                </a:cubicBezTo>
                <a:cubicBezTo>
                  <a:pt x="44435" y="168605"/>
                  <a:pt x="41135" y="175993"/>
                  <a:pt x="39022" y="183742"/>
                </a:cubicBezTo>
                <a:cubicBezTo>
                  <a:pt x="28418" y="222625"/>
                  <a:pt x="21042" y="251383"/>
                  <a:pt x="16162" y="290422"/>
                </a:cubicBezTo>
                <a:cubicBezTo>
                  <a:pt x="12996" y="315752"/>
                  <a:pt x="12152" y="341352"/>
                  <a:pt x="8542" y="366622"/>
                </a:cubicBezTo>
                <a:cubicBezTo>
                  <a:pt x="7061" y="376989"/>
                  <a:pt x="1398" y="386640"/>
                  <a:pt x="922" y="397102"/>
                </a:cubicBezTo>
                <a:cubicBezTo>
                  <a:pt x="-1154" y="442775"/>
                  <a:pt x="922" y="488542"/>
                  <a:pt x="922" y="534262"/>
                </a:cubicBezTo>
              </a:path>
            </a:pathLst>
          </a:cu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手繪多邊形: 圖案 17">
            <a:extLst>
              <a:ext uri="{FF2B5EF4-FFF2-40B4-BE49-F238E27FC236}">
                <a16:creationId xmlns:a16="http://schemas.microsoft.com/office/drawing/2014/main" id="{4C840E1E-88EE-45EC-8750-6BA4C5CDE9BD}"/>
              </a:ext>
            </a:extLst>
          </p:cNvPr>
          <p:cNvSpPr/>
          <p:nvPr/>
        </p:nvSpPr>
        <p:spPr>
          <a:xfrm>
            <a:off x="8275184" y="2232660"/>
            <a:ext cx="30616" cy="152400"/>
          </a:xfrm>
          <a:custGeom>
            <a:avLst/>
            <a:gdLst>
              <a:gd name="connsiteX0" fmla="*/ 30616 w 30616"/>
              <a:gd name="connsiteY0" fmla="*/ 152400 h 152400"/>
              <a:gd name="connsiteX1" fmla="*/ 7756 w 30616"/>
              <a:gd name="connsiteY1" fmla="*/ 91440 h 152400"/>
              <a:gd name="connsiteX2" fmla="*/ 136 w 30616"/>
              <a:gd name="connsiteY2" fmla="*/ 0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616" h="152400">
                <a:moveTo>
                  <a:pt x="30616" y="152400"/>
                </a:moveTo>
                <a:cubicBezTo>
                  <a:pt x="28667" y="147527"/>
                  <a:pt x="10145" y="103385"/>
                  <a:pt x="7756" y="91440"/>
                </a:cubicBezTo>
                <a:cubicBezTo>
                  <a:pt x="-1660" y="44360"/>
                  <a:pt x="136" y="42744"/>
                  <a:pt x="136" y="0"/>
                </a:cubicBezTo>
              </a:path>
            </a:pathLst>
          </a:cu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手繪多邊形: 圖案 18">
            <a:extLst>
              <a:ext uri="{FF2B5EF4-FFF2-40B4-BE49-F238E27FC236}">
                <a16:creationId xmlns:a16="http://schemas.microsoft.com/office/drawing/2014/main" id="{50A77568-8CF0-45DC-8E8F-79C302FB6A60}"/>
              </a:ext>
            </a:extLst>
          </p:cNvPr>
          <p:cNvSpPr/>
          <p:nvPr/>
        </p:nvSpPr>
        <p:spPr>
          <a:xfrm>
            <a:off x="8275320" y="3482340"/>
            <a:ext cx="7636" cy="944880"/>
          </a:xfrm>
          <a:custGeom>
            <a:avLst/>
            <a:gdLst>
              <a:gd name="connsiteX0" fmla="*/ 0 w 7636"/>
              <a:gd name="connsiteY0" fmla="*/ 0 h 944880"/>
              <a:gd name="connsiteX1" fmla="*/ 7620 w 7636"/>
              <a:gd name="connsiteY1" fmla="*/ 944880 h 944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636" h="944880">
                <a:moveTo>
                  <a:pt x="0" y="0"/>
                </a:moveTo>
                <a:cubicBezTo>
                  <a:pt x="8361" y="802636"/>
                  <a:pt x="7620" y="487667"/>
                  <a:pt x="7620" y="944880"/>
                </a:cubicBezTo>
              </a:path>
            </a:pathLst>
          </a:custGeom>
          <a:noFill/>
          <a:ln w="762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手繪多邊形: 圖案 19">
            <a:extLst>
              <a:ext uri="{FF2B5EF4-FFF2-40B4-BE49-F238E27FC236}">
                <a16:creationId xmlns:a16="http://schemas.microsoft.com/office/drawing/2014/main" id="{5DCD92F7-372D-44AE-85A5-1B2B2EBA688E}"/>
              </a:ext>
            </a:extLst>
          </p:cNvPr>
          <p:cNvSpPr/>
          <p:nvPr/>
        </p:nvSpPr>
        <p:spPr>
          <a:xfrm>
            <a:off x="8275320" y="3909060"/>
            <a:ext cx="502920" cy="38100"/>
          </a:xfrm>
          <a:custGeom>
            <a:avLst/>
            <a:gdLst>
              <a:gd name="connsiteX0" fmla="*/ 502920 w 502920"/>
              <a:gd name="connsiteY0" fmla="*/ 0 h 38100"/>
              <a:gd name="connsiteX1" fmla="*/ 160020 w 502920"/>
              <a:gd name="connsiteY1" fmla="*/ 15240 h 38100"/>
              <a:gd name="connsiteX2" fmla="*/ 7620 w 502920"/>
              <a:gd name="connsiteY2" fmla="*/ 30480 h 38100"/>
              <a:gd name="connsiteX3" fmla="*/ 0 w 502920"/>
              <a:gd name="connsiteY3" fmla="*/ 3810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2920" h="38100">
                <a:moveTo>
                  <a:pt x="502920" y="0"/>
                </a:moveTo>
                <a:cubicBezTo>
                  <a:pt x="353930" y="24832"/>
                  <a:pt x="508084" y="1317"/>
                  <a:pt x="160020" y="15240"/>
                </a:cubicBezTo>
                <a:cubicBezTo>
                  <a:pt x="152620" y="15536"/>
                  <a:pt x="22652" y="27474"/>
                  <a:pt x="7620" y="30480"/>
                </a:cubicBezTo>
                <a:cubicBezTo>
                  <a:pt x="4098" y="31184"/>
                  <a:pt x="2540" y="35560"/>
                  <a:pt x="0" y="38100"/>
                </a:cubicBezTo>
              </a:path>
            </a:pathLst>
          </a:custGeom>
          <a:noFill/>
          <a:ln w="762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手繪多邊形: 圖案 20">
            <a:extLst>
              <a:ext uri="{FF2B5EF4-FFF2-40B4-BE49-F238E27FC236}">
                <a16:creationId xmlns:a16="http://schemas.microsoft.com/office/drawing/2014/main" id="{113011E7-DEDC-4809-91AD-1AE4C7A9F431}"/>
              </a:ext>
            </a:extLst>
          </p:cNvPr>
          <p:cNvSpPr/>
          <p:nvPr/>
        </p:nvSpPr>
        <p:spPr>
          <a:xfrm>
            <a:off x="9471660" y="3878560"/>
            <a:ext cx="960120" cy="30500"/>
          </a:xfrm>
          <a:custGeom>
            <a:avLst/>
            <a:gdLst>
              <a:gd name="connsiteX0" fmla="*/ 0 w 960120"/>
              <a:gd name="connsiteY0" fmla="*/ 30500 h 30500"/>
              <a:gd name="connsiteX1" fmla="*/ 845820 w 960120"/>
              <a:gd name="connsiteY1" fmla="*/ 22880 h 30500"/>
              <a:gd name="connsiteX2" fmla="*/ 868680 w 960120"/>
              <a:gd name="connsiteY2" fmla="*/ 15260 h 30500"/>
              <a:gd name="connsiteX3" fmla="*/ 929640 w 960120"/>
              <a:gd name="connsiteY3" fmla="*/ 7640 h 30500"/>
              <a:gd name="connsiteX4" fmla="*/ 960120 w 960120"/>
              <a:gd name="connsiteY4" fmla="*/ 20 h 3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0120" h="30500">
                <a:moveTo>
                  <a:pt x="0" y="30500"/>
                </a:moveTo>
                <a:lnTo>
                  <a:pt x="845820" y="22880"/>
                </a:lnTo>
                <a:cubicBezTo>
                  <a:pt x="853851" y="22739"/>
                  <a:pt x="860777" y="16697"/>
                  <a:pt x="868680" y="15260"/>
                </a:cubicBezTo>
                <a:cubicBezTo>
                  <a:pt x="888828" y="11597"/>
                  <a:pt x="909320" y="10180"/>
                  <a:pt x="929640" y="7640"/>
                </a:cubicBezTo>
                <a:cubicBezTo>
                  <a:pt x="954910" y="-783"/>
                  <a:pt x="944468" y="20"/>
                  <a:pt x="960120" y="20"/>
                </a:cubicBezTo>
              </a:path>
            </a:pathLst>
          </a:cu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手繪多邊形: 圖案 21">
            <a:extLst>
              <a:ext uri="{FF2B5EF4-FFF2-40B4-BE49-F238E27FC236}">
                <a16:creationId xmlns:a16="http://schemas.microsoft.com/office/drawing/2014/main" id="{34DC531A-CFD2-4B87-9368-7DBB7E83E780}"/>
              </a:ext>
            </a:extLst>
          </p:cNvPr>
          <p:cNvSpPr/>
          <p:nvPr/>
        </p:nvSpPr>
        <p:spPr>
          <a:xfrm>
            <a:off x="10423975" y="3581400"/>
            <a:ext cx="45905" cy="960120"/>
          </a:xfrm>
          <a:custGeom>
            <a:avLst/>
            <a:gdLst>
              <a:gd name="connsiteX0" fmla="*/ 45905 w 45905"/>
              <a:gd name="connsiteY0" fmla="*/ 0 h 960120"/>
              <a:gd name="connsiteX1" fmla="*/ 30665 w 45905"/>
              <a:gd name="connsiteY1" fmla="*/ 617220 h 960120"/>
              <a:gd name="connsiteX2" fmla="*/ 23045 w 45905"/>
              <a:gd name="connsiteY2" fmla="*/ 754380 h 960120"/>
              <a:gd name="connsiteX3" fmla="*/ 15425 w 45905"/>
              <a:gd name="connsiteY3" fmla="*/ 777240 h 960120"/>
              <a:gd name="connsiteX4" fmla="*/ 7805 w 45905"/>
              <a:gd name="connsiteY4" fmla="*/ 807720 h 960120"/>
              <a:gd name="connsiteX5" fmla="*/ 185 w 45905"/>
              <a:gd name="connsiteY5" fmla="*/ 960120 h 960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05" h="960120">
                <a:moveTo>
                  <a:pt x="45905" y="0"/>
                </a:moveTo>
                <a:cubicBezTo>
                  <a:pt x="6518" y="236324"/>
                  <a:pt x="43998" y="-2772"/>
                  <a:pt x="30665" y="617220"/>
                </a:cubicBezTo>
                <a:cubicBezTo>
                  <a:pt x="29680" y="663000"/>
                  <a:pt x="27386" y="708796"/>
                  <a:pt x="23045" y="754380"/>
                </a:cubicBezTo>
                <a:cubicBezTo>
                  <a:pt x="22283" y="762376"/>
                  <a:pt x="17632" y="769517"/>
                  <a:pt x="15425" y="777240"/>
                </a:cubicBezTo>
                <a:cubicBezTo>
                  <a:pt x="12548" y="787310"/>
                  <a:pt x="10345" y="797560"/>
                  <a:pt x="7805" y="807720"/>
                </a:cubicBezTo>
                <a:cubicBezTo>
                  <a:pt x="-1885" y="914306"/>
                  <a:pt x="185" y="863485"/>
                  <a:pt x="185" y="960120"/>
                </a:cubicBezTo>
              </a:path>
            </a:pathLst>
          </a:cu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手繪多邊形: 圖案 22">
            <a:extLst>
              <a:ext uri="{FF2B5EF4-FFF2-40B4-BE49-F238E27FC236}">
                <a16:creationId xmlns:a16="http://schemas.microsoft.com/office/drawing/2014/main" id="{876D08C7-7A13-450B-BA8C-18EF6283DB54}"/>
              </a:ext>
            </a:extLst>
          </p:cNvPr>
          <p:cNvSpPr/>
          <p:nvPr/>
        </p:nvSpPr>
        <p:spPr>
          <a:xfrm>
            <a:off x="6835128" y="4457700"/>
            <a:ext cx="3634752" cy="1143000"/>
          </a:xfrm>
          <a:custGeom>
            <a:avLst/>
            <a:gdLst>
              <a:gd name="connsiteX0" fmla="*/ 3627132 w 3634752"/>
              <a:gd name="connsiteY0" fmla="*/ 632460 h 1143000"/>
              <a:gd name="connsiteX1" fmla="*/ 3634752 w 3634752"/>
              <a:gd name="connsiteY1" fmla="*/ 929640 h 1143000"/>
              <a:gd name="connsiteX2" fmla="*/ 3627132 w 3634752"/>
              <a:gd name="connsiteY2" fmla="*/ 1082040 h 1143000"/>
              <a:gd name="connsiteX3" fmla="*/ 3619512 w 3634752"/>
              <a:gd name="connsiteY3" fmla="*/ 1104900 h 1143000"/>
              <a:gd name="connsiteX4" fmla="*/ 3573792 w 3634752"/>
              <a:gd name="connsiteY4" fmla="*/ 1127760 h 1143000"/>
              <a:gd name="connsiteX5" fmla="*/ 3497592 w 3634752"/>
              <a:gd name="connsiteY5" fmla="*/ 1143000 h 1143000"/>
              <a:gd name="connsiteX6" fmla="*/ 3093732 w 3634752"/>
              <a:gd name="connsiteY6" fmla="*/ 1135380 h 1143000"/>
              <a:gd name="connsiteX7" fmla="*/ 3017532 w 3634752"/>
              <a:gd name="connsiteY7" fmla="*/ 1127760 h 1143000"/>
              <a:gd name="connsiteX8" fmla="*/ 2857512 w 3634752"/>
              <a:gd name="connsiteY8" fmla="*/ 1097280 h 1143000"/>
              <a:gd name="connsiteX9" fmla="*/ 2659392 w 3634752"/>
              <a:gd name="connsiteY9" fmla="*/ 1074420 h 1143000"/>
              <a:gd name="connsiteX10" fmla="*/ 2583192 w 3634752"/>
              <a:gd name="connsiteY10" fmla="*/ 1059180 h 1143000"/>
              <a:gd name="connsiteX11" fmla="*/ 2545092 w 3634752"/>
              <a:gd name="connsiteY11" fmla="*/ 1043940 h 1143000"/>
              <a:gd name="connsiteX12" fmla="*/ 2430792 w 3634752"/>
              <a:gd name="connsiteY12" fmla="*/ 1036320 h 1143000"/>
              <a:gd name="connsiteX13" fmla="*/ 2316492 w 3634752"/>
              <a:gd name="connsiteY13" fmla="*/ 1021080 h 1143000"/>
              <a:gd name="connsiteX14" fmla="*/ 2148852 w 3634752"/>
              <a:gd name="connsiteY14" fmla="*/ 1013460 h 1143000"/>
              <a:gd name="connsiteX15" fmla="*/ 15252 w 3634752"/>
              <a:gd name="connsiteY15" fmla="*/ 1005840 h 1143000"/>
              <a:gd name="connsiteX16" fmla="*/ 7632 w 3634752"/>
              <a:gd name="connsiteY16" fmla="*/ 952500 h 1143000"/>
              <a:gd name="connsiteX17" fmla="*/ 12 w 3634752"/>
              <a:gd name="connsiteY17" fmla="*/ 906780 h 1143000"/>
              <a:gd name="connsiteX18" fmla="*/ 22872 w 3634752"/>
              <a:gd name="connsiteY18" fmla="*/ 541020 h 1143000"/>
              <a:gd name="connsiteX19" fmla="*/ 30492 w 3634752"/>
              <a:gd name="connsiteY19" fmla="*/ 213360 h 1143000"/>
              <a:gd name="connsiteX20" fmla="*/ 53352 w 3634752"/>
              <a:gd name="connsiteY20" fmla="*/ 99060 h 1143000"/>
              <a:gd name="connsiteX21" fmla="*/ 53352 w 3634752"/>
              <a:gd name="connsiteY21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634752" h="1143000">
                <a:moveTo>
                  <a:pt x="3627132" y="632460"/>
                </a:moveTo>
                <a:cubicBezTo>
                  <a:pt x="3629672" y="731520"/>
                  <a:pt x="3634752" y="830547"/>
                  <a:pt x="3634752" y="929640"/>
                </a:cubicBezTo>
                <a:cubicBezTo>
                  <a:pt x="3634752" y="980503"/>
                  <a:pt x="3631538" y="1031368"/>
                  <a:pt x="3627132" y="1082040"/>
                </a:cubicBezTo>
                <a:cubicBezTo>
                  <a:pt x="3626436" y="1090042"/>
                  <a:pt x="3624530" y="1098628"/>
                  <a:pt x="3619512" y="1104900"/>
                </a:cubicBezTo>
                <a:cubicBezTo>
                  <a:pt x="3610497" y="1116169"/>
                  <a:pt x="3587336" y="1124634"/>
                  <a:pt x="3573792" y="1127760"/>
                </a:cubicBezTo>
                <a:cubicBezTo>
                  <a:pt x="3548552" y="1133585"/>
                  <a:pt x="3522992" y="1137920"/>
                  <a:pt x="3497592" y="1143000"/>
                </a:cubicBezTo>
                <a:lnTo>
                  <a:pt x="3093732" y="1135380"/>
                </a:lnTo>
                <a:cubicBezTo>
                  <a:pt x="3068218" y="1134570"/>
                  <a:pt x="3042733" y="1131825"/>
                  <a:pt x="3017532" y="1127760"/>
                </a:cubicBezTo>
                <a:cubicBezTo>
                  <a:pt x="2963926" y="1119114"/>
                  <a:pt x="2911210" y="1105335"/>
                  <a:pt x="2857512" y="1097280"/>
                </a:cubicBezTo>
                <a:cubicBezTo>
                  <a:pt x="2767819" y="1083826"/>
                  <a:pt x="2733771" y="1087546"/>
                  <a:pt x="2659392" y="1074420"/>
                </a:cubicBezTo>
                <a:cubicBezTo>
                  <a:pt x="2633883" y="1069918"/>
                  <a:pt x="2608220" y="1065854"/>
                  <a:pt x="2583192" y="1059180"/>
                </a:cubicBezTo>
                <a:cubicBezTo>
                  <a:pt x="2569976" y="1055656"/>
                  <a:pt x="2558619" y="1045969"/>
                  <a:pt x="2545092" y="1043940"/>
                </a:cubicBezTo>
                <a:cubicBezTo>
                  <a:pt x="2507330" y="1038276"/>
                  <a:pt x="2468892" y="1038860"/>
                  <a:pt x="2430792" y="1036320"/>
                </a:cubicBezTo>
                <a:cubicBezTo>
                  <a:pt x="2410081" y="1033361"/>
                  <a:pt x="2334956" y="1022311"/>
                  <a:pt x="2316492" y="1021080"/>
                </a:cubicBezTo>
                <a:cubicBezTo>
                  <a:pt x="2260678" y="1017359"/>
                  <a:pt x="2204788" y="1013830"/>
                  <a:pt x="2148852" y="1013460"/>
                </a:cubicBezTo>
                <a:lnTo>
                  <a:pt x="15252" y="1005840"/>
                </a:lnTo>
                <a:cubicBezTo>
                  <a:pt x="12712" y="988060"/>
                  <a:pt x="10363" y="970252"/>
                  <a:pt x="7632" y="952500"/>
                </a:cubicBezTo>
                <a:cubicBezTo>
                  <a:pt x="5283" y="937229"/>
                  <a:pt x="-297" y="922227"/>
                  <a:pt x="12" y="906780"/>
                </a:cubicBezTo>
                <a:cubicBezTo>
                  <a:pt x="6162" y="599302"/>
                  <a:pt x="-10986" y="676453"/>
                  <a:pt x="22872" y="541020"/>
                </a:cubicBezTo>
                <a:cubicBezTo>
                  <a:pt x="25412" y="431800"/>
                  <a:pt x="26211" y="322526"/>
                  <a:pt x="30492" y="213360"/>
                </a:cubicBezTo>
                <a:cubicBezTo>
                  <a:pt x="38903" y="-1122"/>
                  <a:pt x="33843" y="294150"/>
                  <a:pt x="53352" y="99060"/>
                </a:cubicBezTo>
                <a:cubicBezTo>
                  <a:pt x="56638" y="66204"/>
                  <a:pt x="53352" y="33020"/>
                  <a:pt x="53352" y="0"/>
                </a:cubicBezTo>
              </a:path>
            </a:pathLst>
          </a:custGeom>
          <a:noFill/>
          <a:ln w="762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手繪多邊形: 圖案 23">
            <a:extLst>
              <a:ext uri="{FF2B5EF4-FFF2-40B4-BE49-F238E27FC236}">
                <a16:creationId xmlns:a16="http://schemas.microsoft.com/office/drawing/2014/main" id="{961E1C62-9AD8-48E4-AE25-3439E08F112B}"/>
              </a:ext>
            </a:extLst>
          </p:cNvPr>
          <p:cNvSpPr/>
          <p:nvPr/>
        </p:nvSpPr>
        <p:spPr>
          <a:xfrm>
            <a:off x="8250219" y="5029200"/>
            <a:ext cx="9861" cy="464820"/>
          </a:xfrm>
          <a:custGeom>
            <a:avLst/>
            <a:gdLst>
              <a:gd name="connsiteX0" fmla="*/ 9861 w 9861"/>
              <a:gd name="connsiteY0" fmla="*/ 0 h 464820"/>
              <a:gd name="connsiteX1" fmla="*/ 2241 w 9861"/>
              <a:gd name="connsiteY1" fmla="*/ 464820 h 4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861" h="464820">
                <a:moveTo>
                  <a:pt x="9861" y="0"/>
                </a:moveTo>
                <a:cubicBezTo>
                  <a:pt x="-6264" y="225757"/>
                  <a:pt x="2241" y="71029"/>
                  <a:pt x="2241" y="464820"/>
                </a:cubicBezTo>
              </a:path>
            </a:pathLst>
          </a:custGeom>
          <a:noFill/>
          <a:ln w="762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67121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51E5DC-C8A7-4E57-8884-0060B2876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實測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833A883-12A6-448F-A3D6-7FEF4087A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7040" y="1825625"/>
            <a:ext cx="5826760" cy="4351338"/>
          </a:xfrm>
        </p:spPr>
        <p:txBody>
          <a:bodyPr/>
          <a:lstStyle/>
          <a:p>
            <a:r>
              <a:rPr lang="zh-TW" altLang="en-US" dirty="0"/>
              <a:t>由於</a:t>
            </a:r>
            <a:endParaRPr lang="en-US" altLang="zh-TW" dirty="0"/>
          </a:p>
          <a:p>
            <a:r>
              <a:rPr lang="en-US" altLang="zh-TW" dirty="0"/>
              <a:t>20k(VR) x 50k = 10k x 100k</a:t>
            </a:r>
          </a:p>
          <a:p>
            <a:r>
              <a:rPr lang="zh-TW" altLang="en-US" dirty="0"/>
              <a:t>型成  惠斯登電橋  </a:t>
            </a:r>
            <a:endParaRPr lang="en-US" altLang="zh-TW" dirty="0"/>
          </a:p>
          <a:p>
            <a:r>
              <a:rPr lang="zh-TW" altLang="en-US" dirty="0"/>
              <a:t>惠斯登電橋下，中間的電阻無電流流過，因此其電壓值為</a:t>
            </a:r>
            <a:r>
              <a:rPr lang="en-US" altLang="zh-TW" dirty="0"/>
              <a:t>0</a:t>
            </a:r>
          </a:p>
          <a:p>
            <a:r>
              <a:rPr lang="zh-TW" altLang="en-US" dirty="0"/>
              <a:t>由於沒有電阻</a:t>
            </a:r>
            <a:r>
              <a:rPr lang="en-US" altLang="zh-TW" dirty="0"/>
              <a:t>51k</a:t>
            </a:r>
            <a:r>
              <a:rPr lang="zh-TW" altLang="en-US" dirty="0"/>
              <a:t>此阻值，固存在誤差</a:t>
            </a:r>
            <a:r>
              <a:rPr lang="en-US" altLang="zh-TW" dirty="0"/>
              <a:t>0.02V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2BA659F-7C3B-47CE-962A-8DA013E6B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650" y="1544319"/>
            <a:ext cx="3880170" cy="5172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4519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0E107A-6728-4A20-B9E4-86D92A4D3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進階應用</a:t>
            </a:r>
            <a:br>
              <a:rPr lang="en-US" altLang="zh-TW" dirty="0"/>
            </a:br>
            <a:r>
              <a:rPr lang="zh-TW" altLang="en-US" dirty="0"/>
              <a:t>將</a:t>
            </a:r>
            <a:r>
              <a:rPr lang="en-US" altLang="zh-TW" dirty="0"/>
              <a:t>10k</a:t>
            </a:r>
            <a:r>
              <a:rPr lang="zh-TW" altLang="en-US" dirty="0"/>
              <a:t>電阻，換成</a:t>
            </a:r>
            <a:r>
              <a:rPr lang="en-US" altLang="zh-TW" dirty="0"/>
              <a:t>10k</a:t>
            </a:r>
            <a:r>
              <a:rPr lang="zh-TW" altLang="en-US" dirty="0"/>
              <a:t>的熱敏電阻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851AEC2F-D2D1-443B-9784-FCF42E1D54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2918" y="2174867"/>
            <a:ext cx="5563082" cy="3856054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6FF23B2B-D37D-4C41-902E-70E9A3875C87}"/>
              </a:ext>
            </a:extLst>
          </p:cNvPr>
          <p:cNvSpPr txBox="1"/>
          <p:nvPr/>
        </p:nvSpPr>
        <p:spPr>
          <a:xfrm>
            <a:off x="4683760" y="3082052"/>
            <a:ext cx="162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10k</a:t>
            </a:r>
            <a:r>
              <a:rPr lang="zh-TW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熱敏電阻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D05FCED-D5F5-44B1-A0F5-A7309C624DFF}"/>
              </a:ext>
            </a:extLst>
          </p:cNvPr>
          <p:cNvSpPr txBox="1"/>
          <p:nvPr/>
        </p:nvSpPr>
        <p:spPr>
          <a:xfrm>
            <a:off x="6375882" y="2174867"/>
            <a:ext cx="5283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Note: 10k</a:t>
            </a:r>
            <a:r>
              <a:rPr lang="zh-TW" altLang="en-US" dirty="0"/>
              <a:t>熱敏電阻定義</a:t>
            </a:r>
            <a:r>
              <a:rPr lang="en-US" altLang="zh-TW" dirty="0"/>
              <a:t>:</a:t>
            </a:r>
          </a:p>
          <a:p>
            <a:r>
              <a:rPr lang="zh-TW" altLang="en-US" dirty="0"/>
              <a:t>在</a:t>
            </a:r>
            <a:r>
              <a:rPr lang="en-US" altLang="zh-TW" dirty="0"/>
              <a:t>25</a:t>
            </a:r>
            <a:r>
              <a:rPr lang="zh-TW" altLang="en-US" dirty="0"/>
              <a:t>度下</a:t>
            </a:r>
            <a:r>
              <a:rPr lang="en-US" altLang="zh-TW" dirty="0"/>
              <a:t>10k</a:t>
            </a:r>
            <a:r>
              <a:rPr lang="zh-TW" altLang="en-US" dirty="0"/>
              <a:t>，左圖非</a:t>
            </a:r>
            <a:r>
              <a:rPr lang="en-US" altLang="zh-TW" dirty="0"/>
              <a:t>25</a:t>
            </a:r>
            <a:r>
              <a:rPr lang="zh-TW" altLang="en-US" dirty="0"/>
              <a:t>度所以並非</a:t>
            </a:r>
            <a:r>
              <a:rPr lang="en-US" altLang="zh-TW" dirty="0"/>
              <a:t>10k</a:t>
            </a:r>
          </a:p>
          <a:p>
            <a:endParaRPr lang="en-US" altLang="zh-TW" dirty="0"/>
          </a:p>
          <a:p>
            <a:r>
              <a:rPr lang="zh-TW" altLang="en-US" dirty="0"/>
              <a:t>剛放上去的電壓</a:t>
            </a:r>
            <a:r>
              <a:rPr lang="en-US" altLang="zh-TW" dirty="0"/>
              <a:t>(</a:t>
            </a:r>
            <a:r>
              <a:rPr lang="zh-TW" altLang="en-US" dirty="0"/>
              <a:t>要等手的溫度散熱</a:t>
            </a:r>
            <a:r>
              <a:rPr lang="en-US" altLang="zh-TW" dirty="0"/>
              <a:t>)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4BE9BFA-6FD0-4B83-9381-CA763CA19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3541" y="3559186"/>
            <a:ext cx="2345099" cy="3126093"/>
          </a:xfrm>
          <a:prstGeom prst="rect">
            <a:avLst/>
          </a:prstGeom>
        </p:spPr>
      </p:pic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5AB48059-B580-4022-8150-81510E5979AA}"/>
              </a:ext>
            </a:extLst>
          </p:cNvPr>
          <p:cNvCxnSpPr/>
          <p:nvPr/>
        </p:nvCxnSpPr>
        <p:spPr>
          <a:xfrm flipH="1">
            <a:off x="8860002" y="4311968"/>
            <a:ext cx="157480" cy="57499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50791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0E107A-6728-4A20-B9E4-86D92A4D3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進階應用</a:t>
            </a:r>
            <a:br>
              <a:rPr lang="en-US" altLang="zh-TW" dirty="0"/>
            </a:br>
            <a:r>
              <a:rPr lang="zh-TW" altLang="en-US" dirty="0"/>
              <a:t>將</a:t>
            </a:r>
            <a:r>
              <a:rPr lang="en-US" altLang="zh-TW" dirty="0"/>
              <a:t>10k</a:t>
            </a:r>
            <a:r>
              <a:rPr lang="zh-TW" altLang="en-US" dirty="0"/>
              <a:t>電阻，換成</a:t>
            </a:r>
            <a:r>
              <a:rPr lang="en-US" altLang="zh-TW" dirty="0"/>
              <a:t>10k</a:t>
            </a:r>
            <a:r>
              <a:rPr lang="zh-TW" altLang="en-US" dirty="0"/>
              <a:t>的熱敏電阻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851AEC2F-D2D1-443B-9784-FCF42E1D54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2918" y="2174867"/>
            <a:ext cx="5563082" cy="3856054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6FF23B2B-D37D-4C41-902E-70E9A3875C87}"/>
              </a:ext>
            </a:extLst>
          </p:cNvPr>
          <p:cNvSpPr txBox="1"/>
          <p:nvPr/>
        </p:nvSpPr>
        <p:spPr>
          <a:xfrm>
            <a:off x="4683760" y="3082052"/>
            <a:ext cx="162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10k</a:t>
            </a:r>
            <a:r>
              <a:rPr lang="zh-TW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熱敏電阻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D05FCED-D5F5-44B1-A0F5-A7309C624DFF}"/>
              </a:ext>
            </a:extLst>
          </p:cNvPr>
          <p:cNvSpPr txBox="1"/>
          <p:nvPr/>
        </p:nvSpPr>
        <p:spPr>
          <a:xfrm>
            <a:off x="6375882" y="2174867"/>
            <a:ext cx="528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穩定後，用手加熱</a:t>
            </a:r>
            <a:endParaRPr lang="en-US" altLang="zh-TW" dirty="0"/>
          </a:p>
          <a:p>
            <a:r>
              <a:rPr lang="zh-TW" altLang="en-US" dirty="0"/>
              <a:t>觀查電壓變化</a:t>
            </a:r>
            <a:endParaRPr lang="en-US" altLang="zh-TW" dirty="0"/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5AB48059-B580-4022-8150-81510E5979AA}"/>
              </a:ext>
            </a:extLst>
          </p:cNvPr>
          <p:cNvCxnSpPr/>
          <p:nvPr/>
        </p:nvCxnSpPr>
        <p:spPr>
          <a:xfrm flipH="1">
            <a:off x="8860002" y="4311968"/>
            <a:ext cx="157480" cy="57499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圖片 2">
            <a:extLst>
              <a:ext uri="{FF2B5EF4-FFF2-40B4-BE49-F238E27FC236}">
                <a16:creationId xmlns:a16="http://schemas.microsoft.com/office/drawing/2014/main" id="{B1FEBE2E-42AE-46AF-BCFF-BC2EB01DF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2202" y="2757805"/>
            <a:ext cx="2976880" cy="396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1505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7FB74F30-4EAA-4870-810E-5CFFA805CE6E}"/>
              </a:ext>
            </a:extLst>
          </p:cNvPr>
          <p:cNvSpPr txBox="1"/>
          <p:nvPr/>
        </p:nvSpPr>
        <p:spPr>
          <a:xfrm>
            <a:off x="2063552" y="1268761"/>
            <a:ext cx="770485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TW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電阻變化測量：</a:t>
            </a:r>
            <a:r>
              <a:rPr lang="zh-TW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檢測極小的電阻變化</a:t>
            </a:r>
            <a:r>
              <a:rPr lang="zh-TW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並將其轉換為適合精確測量和信號處理的比例電壓信號。</a:t>
            </a:r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endParaRPr lang="zh-TW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zh-TW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應變測量：與應變計一起使用，通過</a:t>
            </a:r>
            <a:r>
              <a:rPr lang="zh-TW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檢測施加應力引起的電阻變化</a:t>
            </a:r>
            <a:r>
              <a:rPr lang="zh-TW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來測量機械變形、力或負載。</a:t>
            </a:r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endParaRPr lang="zh-TW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zh-TW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壓力傳感：應用於壓力傳感器，以感測隔膜偏轉，將</a:t>
            </a:r>
            <a:r>
              <a:rPr lang="zh-TW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壓力引起的機械運動轉換為精確的電信號</a:t>
            </a:r>
            <a:r>
              <a:rPr lang="zh-TW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。</a:t>
            </a:r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endParaRPr lang="zh-TW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zh-TW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溫度測量：與 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RTD </a:t>
            </a:r>
            <a:r>
              <a:rPr lang="zh-TW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和類似傳感器一起使用，通過監測可預測的電阻隨溫度變化的變化來</a:t>
            </a:r>
            <a:r>
              <a:rPr lang="zh-TW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精確測量溫度</a:t>
            </a:r>
            <a:r>
              <a:rPr lang="zh-TW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。</a:t>
            </a:r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endParaRPr lang="zh-TW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zh-TW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信號精度提高：</a:t>
            </a:r>
            <a:r>
              <a:rPr lang="zh-TW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提高靈敏度</a:t>
            </a:r>
            <a:r>
              <a:rPr lang="zh-TW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zh-TW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減少噪聲影響</a:t>
            </a:r>
            <a:r>
              <a:rPr lang="zh-TW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，並</a:t>
            </a:r>
            <a:r>
              <a:rPr lang="zh-TW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提供溫度補償</a:t>
            </a:r>
            <a:r>
              <a:rPr lang="zh-TW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，以實現可靠、穩定的傳感器測量。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1EFB3AC-FF03-47D8-A5B1-F7CCEF7C5B9D}"/>
              </a:ext>
            </a:extLst>
          </p:cNvPr>
          <p:cNvSpPr txBox="1"/>
          <p:nvPr/>
        </p:nvSpPr>
        <p:spPr>
          <a:xfrm>
            <a:off x="1524000" y="466208"/>
            <a:ext cx="5004048" cy="5232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TW" altLang="en-US" sz="2800" dirty="0"/>
              <a:t>補充資料</a:t>
            </a:r>
            <a:r>
              <a:rPr lang="en-US" altLang="zh-TW" sz="2800" dirty="0"/>
              <a:t> </a:t>
            </a:r>
            <a:r>
              <a:rPr lang="zh-TW" altLang="en-US" sz="2800" dirty="0"/>
              <a:t>電橋的應用電路</a:t>
            </a:r>
          </a:p>
        </p:txBody>
      </p:sp>
    </p:spTree>
    <p:extLst>
      <p:ext uri="{BB962C8B-B14F-4D97-AF65-F5344CB8AC3E}">
        <p14:creationId xmlns:p14="http://schemas.microsoft.com/office/powerpoint/2010/main" val="34928923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CAC297F-A2EC-4DAD-ACCC-C127E93CBE0E}"/>
              </a:ext>
            </a:extLst>
          </p:cNvPr>
          <p:cNvSpPr txBox="1"/>
          <p:nvPr/>
        </p:nvSpPr>
        <p:spPr>
          <a:xfrm>
            <a:off x="2507226" y="2659559"/>
            <a:ext cx="47391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400" dirty="0"/>
              <a:t>二極體</a:t>
            </a:r>
          </a:p>
        </p:txBody>
      </p:sp>
    </p:spTree>
    <p:extLst>
      <p:ext uri="{BB962C8B-B14F-4D97-AF65-F5344CB8AC3E}">
        <p14:creationId xmlns:p14="http://schemas.microsoft.com/office/powerpoint/2010/main" val="3098298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BC4992-05A0-4576-B4D8-4B971A1CE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不會考</a:t>
            </a:r>
            <a:br>
              <a:rPr lang="en-US" altLang="zh-TW" dirty="0"/>
            </a:br>
            <a:r>
              <a:rPr lang="zh-TW" altLang="en-US" dirty="0"/>
              <a:t>和同學說 </a:t>
            </a:r>
            <a:r>
              <a:rPr lang="en-US" altLang="zh-TW" dirty="0"/>
              <a:t>P </a:t>
            </a:r>
            <a:r>
              <a:rPr lang="zh-TW" altLang="en-US" dirty="0"/>
              <a:t>與</a:t>
            </a:r>
            <a:r>
              <a:rPr lang="en-US" altLang="zh-TW" dirty="0"/>
              <a:t>N </a:t>
            </a:r>
            <a:r>
              <a:rPr lang="zh-TW" altLang="en-US" dirty="0"/>
              <a:t>的來源，</a:t>
            </a:r>
            <a:r>
              <a:rPr lang="en-US" altLang="zh-TW" dirty="0"/>
              <a:t> </a:t>
            </a:r>
            <a:r>
              <a:rPr lang="zh-TW" altLang="en-US" dirty="0"/>
              <a:t>與漏電流的來源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1B1EB6E-26E0-45AF-8936-7C021B82760E}"/>
              </a:ext>
            </a:extLst>
          </p:cNvPr>
          <p:cNvSpPr txBox="1"/>
          <p:nvPr/>
        </p:nvSpPr>
        <p:spPr>
          <a:xfrm>
            <a:off x="137462" y="1962845"/>
            <a:ext cx="45666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未摻雜 </a:t>
            </a:r>
            <a:r>
              <a:rPr lang="en-US" altLang="zh-TW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 </a:t>
            </a:r>
            <a:r>
              <a:rPr lang="zh-TW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當溫度上升，自然產生的電子</a:t>
            </a:r>
            <a:r>
              <a:rPr lang="en-US" altLang="zh-TW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zh-TW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電洞對</a:t>
            </a:r>
            <a:endParaRPr lang="en-US" altLang="zh-TW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TW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因為熱擾動</a:t>
            </a:r>
            <a:r>
              <a:rPr lang="en-US" altLang="zh-TW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zh-TW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震動而產生</a:t>
            </a:r>
            <a:endParaRPr lang="en-US" altLang="zh-TW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0D3B899-CA70-45C2-A59D-BE771DFA794A}"/>
              </a:ext>
            </a:extLst>
          </p:cNvPr>
          <p:cNvSpPr txBox="1"/>
          <p:nvPr/>
        </p:nvSpPr>
        <p:spPr>
          <a:xfrm>
            <a:off x="4704080" y="1912164"/>
            <a:ext cx="40277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摻雜</a:t>
            </a:r>
            <a:r>
              <a:rPr lang="en-US" altLang="zh-TW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TW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族</a:t>
            </a:r>
            <a:endParaRPr lang="en-US" altLang="zh-TW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TW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多了電洞</a:t>
            </a:r>
            <a:r>
              <a:rPr lang="en-US" altLang="zh-TW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TW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多數載子</a:t>
            </a:r>
            <a:r>
              <a:rPr lang="en-US" altLang="zh-TW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29B0FB5-7F2D-4D00-88B2-6F429A7BA85D}"/>
              </a:ext>
            </a:extLst>
          </p:cNvPr>
          <p:cNvSpPr txBox="1"/>
          <p:nvPr/>
        </p:nvSpPr>
        <p:spPr>
          <a:xfrm>
            <a:off x="8803040" y="1972221"/>
            <a:ext cx="40277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摻雜</a:t>
            </a:r>
            <a:r>
              <a:rPr lang="en-US" altLang="zh-TW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r>
              <a:rPr lang="zh-TW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族</a:t>
            </a:r>
            <a:endParaRPr lang="en-US" altLang="zh-TW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TW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多了電子 </a:t>
            </a:r>
            <a:r>
              <a:rPr lang="en-US" altLang="zh-TW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TW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多數載子</a:t>
            </a:r>
            <a:r>
              <a:rPr lang="en-US" altLang="zh-TW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173235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AE2866-F5E7-4155-88F3-0AAAB996E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不會考</a:t>
            </a:r>
            <a:br>
              <a:rPr lang="en-US" altLang="zh-TW" dirty="0"/>
            </a:br>
            <a:r>
              <a:rPr lang="zh-TW" altLang="en-US" dirty="0"/>
              <a:t>二極體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3145AB0-0B84-4835-9498-6A6C955275C3}"/>
              </a:ext>
            </a:extLst>
          </p:cNvPr>
          <p:cNvSpPr txBox="1"/>
          <p:nvPr/>
        </p:nvSpPr>
        <p:spPr>
          <a:xfrm>
            <a:off x="2065020" y="1666340"/>
            <a:ext cx="1874520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還沒接上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A1B5AF4-CDA7-40D4-8AEA-DD937CBB4D9F}"/>
              </a:ext>
            </a:extLst>
          </p:cNvPr>
          <p:cNvSpPr txBox="1"/>
          <p:nvPr/>
        </p:nvSpPr>
        <p:spPr>
          <a:xfrm>
            <a:off x="6647733" y="1527840"/>
            <a:ext cx="4183380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接上，接面的電子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電洞會中和，型成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空乏區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209B81E-B40B-44A8-A1B0-D59ACD89CFD5}"/>
              </a:ext>
            </a:extLst>
          </p:cNvPr>
          <p:cNvSpPr txBox="1"/>
          <p:nvPr/>
        </p:nvSpPr>
        <p:spPr>
          <a:xfrm>
            <a:off x="838200" y="2525523"/>
            <a:ext cx="1531373" cy="1200329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+ + + + + +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 - </a:t>
            </a:r>
            <a:r>
              <a:rPr lang="en-US" altLang="zh-TW" dirty="0">
                <a:solidFill>
                  <a:srgbClr val="FF0000"/>
                </a:solidFill>
              </a:rPr>
              <a:t>+ 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+ + + 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-</a:t>
            </a:r>
            <a:r>
              <a:rPr lang="en-US" altLang="zh-TW" dirty="0">
                <a:solidFill>
                  <a:srgbClr val="FF0000"/>
                </a:solidFill>
              </a:rPr>
              <a:t> + + + + 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+ + + + + + +  +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+ 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-</a:t>
            </a:r>
            <a:r>
              <a:rPr lang="en-US" altLang="zh-TW" dirty="0">
                <a:solidFill>
                  <a:srgbClr val="FF0000"/>
                </a:solidFill>
              </a:rPr>
              <a:t> + + + 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-</a:t>
            </a:r>
            <a:r>
              <a:rPr lang="en-US" altLang="zh-TW" dirty="0">
                <a:solidFill>
                  <a:srgbClr val="FF0000"/>
                </a:solidFill>
              </a:rPr>
              <a:t>  + +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7D20FAB-01EB-4044-9837-B065D04DB69C}"/>
              </a:ext>
            </a:extLst>
          </p:cNvPr>
          <p:cNvSpPr txBox="1"/>
          <p:nvPr/>
        </p:nvSpPr>
        <p:spPr>
          <a:xfrm>
            <a:off x="2858729" y="2525522"/>
            <a:ext cx="1531373" cy="1200329"/>
          </a:xfrm>
          <a:prstGeom prst="rect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/>
              <a:t> 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- - </a:t>
            </a:r>
            <a:r>
              <a:rPr lang="en-US" altLang="zh-TW" dirty="0">
                <a:solidFill>
                  <a:srgbClr val="FF0000"/>
                </a:solidFill>
              </a:rPr>
              <a:t>+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 - - - - - - -</a:t>
            </a:r>
          </a:p>
          <a:p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 - - - - - </a:t>
            </a:r>
            <a:r>
              <a:rPr lang="en-US" altLang="zh-TW" dirty="0">
                <a:solidFill>
                  <a:srgbClr val="FF0000"/>
                </a:solidFill>
              </a:rPr>
              <a:t>+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 - - - -</a:t>
            </a:r>
          </a:p>
          <a:p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 - - - - - - - - - - </a:t>
            </a:r>
          </a:p>
          <a:p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- - </a:t>
            </a:r>
            <a:r>
              <a:rPr lang="en-US" altLang="zh-TW" dirty="0">
                <a:solidFill>
                  <a:srgbClr val="FF0000"/>
                </a:solidFill>
              </a:rPr>
              <a:t>+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 - - - - - </a:t>
            </a:r>
            <a:r>
              <a:rPr lang="en-US" altLang="zh-TW" dirty="0">
                <a:solidFill>
                  <a:srgbClr val="FF0000"/>
                </a:solidFill>
              </a:rPr>
              <a:t>+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 - </a:t>
            </a:r>
            <a:endParaRPr lang="zh-TW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DF037B4-E4C6-4570-85BE-0A8A83349D7E}"/>
              </a:ext>
            </a:extLst>
          </p:cNvPr>
          <p:cNvSpPr txBox="1"/>
          <p:nvPr/>
        </p:nvSpPr>
        <p:spPr>
          <a:xfrm>
            <a:off x="3156154" y="4031035"/>
            <a:ext cx="17206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N</a:t>
            </a:r>
            <a:r>
              <a:rPr lang="zh-TW" altLang="en-US" dirty="0"/>
              <a:t>型半導體</a:t>
            </a:r>
            <a:endParaRPr lang="en-US" altLang="zh-TW" dirty="0"/>
          </a:p>
          <a:p>
            <a:r>
              <a:rPr lang="zh-TW" altLang="en-US" dirty="0"/>
              <a:t>多數載子</a:t>
            </a:r>
            <a:r>
              <a:rPr lang="en-US" altLang="zh-TW" dirty="0"/>
              <a:t>:</a:t>
            </a:r>
            <a:r>
              <a:rPr lang="zh-TW" altLang="en-US" dirty="0"/>
              <a:t>電子</a:t>
            </a:r>
            <a:endParaRPr lang="en-US" altLang="zh-TW" dirty="0"/>
          </a:p>
          <a:p>
            <a:r>
              <a:rPr lang="zh-TW" altLang="en-US" dirty="0"/>
              <a:t>少數截子</a:t>
            </a:r>
            <a:r>
              <a:rPr lang="en-US" altLang="zh-TW" dirty="0"/>
              <a:t>:</a:t>
            </a:r>
            <a:r>
              <a:rPr lang="zh-TW" altLang="en-US" dirty="0"/>
              <a:t>電洞</a:t>
            </a:r>
          </a:p>
          <a:p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443C8C1-0723-404A-8680-6C2AB28460CF}"/>
              </a:ext>
            </a:extLst>
          </p:cNvPr>
          <p:cNvSpPr txBox="1"/>
          <p:nvPr/>
        </p:nvSpPr>
        <p:spPr>
          <a:xfrm>
            <a:off x="838200" y="4031035"/>
            <a:ext cx="17206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</a:t>
            </a:r>
            <a:r>
              <a:rPr lang="zh-TW" altLang="en-US" dirty="0"/>
              <a:t>型半導體</a:t>
            </a:r>
            <a:endParaRPr lang="en-US" altLang="zh-TW" dirty="0"/>
          </a:p>
          <a:p>
            <a:r>
              <a:rPr lang="zh-TW" altLang="en-US" dirty="0"/>
              <a:t>多數載子</a:t>
            </a:r>
            <a:r>
              <a:rPr lang="en-US" altLang="zh-TW" dirty="0"/>
              <a:t>:</a:t>
            </a:r>
            <a:r>
              <a:rPr lang="zh-TW" altLang="en-US" dirty="0"/>
              <a:t>電洞</a:t>
            </a:r>
            <a:endParaRPr lang="en-US" altLang="zh-TW" dirty="0"/>
          </a:p>
          <a:p>
            <a:r>
              <a:rPr lang="zh-TW" altLang="en-US" dirty="0"/>
              <a:t>少數截子</a:t>
            </a:r>
            <a:r>
              <a:rPr lang="en-US" altLang="zh-TW" dirty="0"/>
              <a:t>:</a:t>
            </a:r>
            <a:r>
              <a:rPr lang="zh-TW" altLang="en-US" dirty="0"/>
              <a:t>電子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8665CA0-211A-4EFC-9DC2-E45F2CEFD48A}"/>
              </a:ext>
            </a:extLst>
          </p:cNvPr>
          <p:cNvSpPr txBox="1"/>
          <p:nvPr/>
        </p:nvSpPr>
        <p:spPr>
          <a:xfrm>
            <a:off x="6939116" y="2525521"/>
            <a:ext cx="1531373" cy="1200329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+ + + + + +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 - </a:t>
            </a:r>
            <a:r>
              <a:rPr lang="en-US" altLang="zh-TW" dirty="0">
                <a:solidFill>
                  <a:srgbClr val="FF0000"/>
                </a:solidFill>
              </a:rPr>
              <a:t>+ 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+ + + 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-</a:t>
            </a:r>
            <a:r>
              <a:rPr lang="en-US" altLang="zh-TW" dirty="0">
                <a:solidFill>
                  <a:srgbClr val="FF0000"/>
                </a:solidFill>
              </a:rPr>
              <a:t> + + + + 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+ + + + + + +  +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+ 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-</a:t>
            </a:r>
            <a:r>
              <a:rPr lang="en-US" altLang="zh-TW" dirty="0">
                <a:solidFill>
                  <a:srgbClr val="FF0000"/>
                </a:solidFill>
              </a:rPr>
              <a:t> + + + 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-</a:t>
            </a:r>
            <a:r>
              <a:rPr lang="en-US" altLang="zh-TW" dirty="0">
                <a:solidFill>
                  <a:srgbClr val="FF0000"/>
                </a:solidFill>
              </a:rPr>
              <a:t>  + +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FFB2A28-58CD-46E6-A22E-CD8E9B4CE893}"/>
              </a:ext>
            </a:extLst>
          </p:cNvPr>
          <p:cNvSpPr txBox="1"/>
          <p:nvPr/>
        </p:nvSpPr>
        <p:spPr>
          <a:xfrm>
            <a:off x="8470489" y="2525520"/>
            <a:ext cx="1531373" cy="1200329"/>
          </a:xfrm>
          <a:prstGeom prst="rect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/>
              <a:t> 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- - </a:t>
            </a:r>
            <a:r>
              <a:rPr lang="en-US" altLang="zh-TW" dirty="0">
                <a:solidFill>
                  <a:srgbClr val="FF0000"/>
                </a:solidFill>
              </a:rPr>
              <a:t>+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 - - - - - - -</a:t>
            </a:r>
          </a:p>
          <a:p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 - - - - - </a:t>
            </a:r>
            <a:r>
              <a:rPr lang="en-US" altLang="zh-TW" dirty="0">
                <a:solidFill>
                  <a:srgbClr val="FF0000"/>
                </a:solidFill>
              </a:rPr>
              <a:t>+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 - - - -</a:t>
            </a:r>
          </a:p>
          <a:p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 - - - - - - - - - - </a:t>
            </a:r>
          </a:p>
          <a:p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- - </a:t>
            </a:r>
            <a:r>
              <a:rPr lang="en-US" altLang="zh-TW" dirty="0">
                <a:solidFill>
                  <a:srgbClr val="FF0000"/>
                </a:solidFill>
              </a:rPr>
              <a:t>+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 - - - - - </a:t>
            </a:r>
            <a:r>
              <a:rPr lang="en-US" altLang="zh-TW" dirty="0">
                <a:solidFill>
                  <a:srgbClr val="FF0000"/>
                </a:solidFill>
              </a:rPr>
              <a:t>+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 - </a:t>
            </a:r>
            <a:endParaRPr lang="zh-TW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763941A5-945B-4AEB-9FD5-7EB062C882D5}"/>
              </a:ext>
            </a:extLst>
          </p:cNvPr>
          <p:cNvGrpSpPr/>
          <p:nvPr/>
        </p:nvGrpSpPr>
        <p:grpSpPr>
          <a:xfrm>
            <a:off x="7057103" y="5292545"/>
            <a:ext cx="3062746" cy="1200330"/>
            <a:chOff x="7057103" y="5292545"/>
            <a:chExt cx="3062746" cy="1200330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4CBB5B50-3100-4120-AC3A-7062BCC49D9E}"/>
                </a:ext>
              </a:extLst>
            </p:cNvPr>
            <p:cNvSpPr/>
            <p:nvPr/>
          </p:nvSpPr>
          <p:spPr>
            <a:xfrm>
              <a:off x="7057103" y="5292545"/>
              <a:ext cx="3062746" cy="1200329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9D091774-A19E-44A0-AC8B-E192158D0FB0}"/>
                </a:ext>
              </a:extLst>
            </p:cNvPr>
            <p:cNvSpPr txBox="1"/>
            <p:nvPr/>
          </p:nvSpPr>
          <p:spPr>
            <a:xfrm>
              <a:off x="7057104" y="5292546"/>
              <a:ext cx="1300316" cy="1200329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 </a:t>
              </a:r>
              <a:r>
                <a:rPr lang="en-US" altLang="zh-TW" dirty="0">
                  <a:solidFill>
                    <a:srgbClr val="FF0000"/>
                  </a:solidFill>
                </a:rPr>
                <a:t>+ + + + + +</a:t>
              </a:r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 </a:t>
              </a:r>
              <a:r>
                <a:rPr lang="en-US" altLang="zh-TW" dirty="0">
                  <a:solidFill>
                    <a:srgbClr val="FF0000"/>
                  </a:solidFill>
                </a:rPr>
                <a:t> </a:t>
              </a:r>
            </a:p>
            <a:p>
              <a:r>
                <a:rPr lang="en-US" altLang="zh-TW" dirty="0">
                  <a:solidFill>
                    <a:srgbClr val="FF0000"/>
                  </a:solidFill>
                </a:rPr>
                <a:t>+ + + </a:t>
              </a:r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-</a:t>
              </a:r>
              <a:r>
                <a:rPr lang="en-US" altLang="zh-TW" dirty="0">
                  <a:solidFill>
                    <a:srgbClr val="FF0000"/>
                  </a:solidFill>
                </a:rPr>
                <a:t> + + +  </a:t>
              </a:r>
            </a:p>
            <a:p>
              <a:r>
                <a:rPr lang="en-US" altLang="zh-TW" dirty="0">
                  <a:solidFill>
                    <a:srgbClr val="FF0000"/>
                  </a:solidFill>
                </a:rPr>
                <a:t>+ + + + + + +</a:t>
              </a:r>
            </a:p>
            <a:p>
              <a:r>
                <a:rPr lang="en-US" altLang="zh-TW" dirty="0">
                  <a:solidFill>
                    <a:srgbClr val="FF0000"/>
                  </a:solidFill>
                </a:rPr>
                <a:t>+ </a:t>
              </a:r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-</a:t>
              </a:r>
              <a:r>
                <a:rPr lang="en-US" altLang="zh-TW" dirty="0">
                  <a:solidFill>
                    <a:srgbClr val="FF0000"/>
                  </a:solidFill>
                </a:rPr>
                <a:t> + + + </a:t>
              </a:r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-</a:t>
              </a:r>
              <a:r>
                <a:rPr lang="en-US" altLang="zh-TW" dirty="0">
                  <a:solidFill>
                    <a:srgbClr val="FF0000"/>
                  </a:solidFill>
                </a:rPr>
                <a:t>  + </a:t>
              </a:r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ABB31BD6-0B66-4FD6-BCC3-11C4D591162E}"/>
                </a:ext>
              </a:extLst>
            </p:cNvPr>
            <p:cNvSpPr txBox="1"/>
            <p:nvPr/>
          </p:nvSpPr>
          <p:spPr>
            <a:xfrm>
              <a:off x="8750710" y="5292545"/>
              <a:ext cx="1369139" cy="1200329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 </a:t>
              </a:r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  - </a:t>
              </a:r>
              <a:r>
                <a:rPr lang="en-US" altLang="zh-TW" dirty="0">
                  <a:solidFill>
                    <a:srgbClr val="FF0000"/>
                  </a:solidFill>
                </a:rPr>
                <a:t>+</a:t>
              </a:r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 - - - - - -</a:t>
              </a:r>
            </a:p>
            <a:p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   - - - - </a:t>
              </a:r>
              <a:r>
                <a:rPr lang="en-US" altLang="zh-TW" dirty="0">
                  <a:solidFill>
                    <a:srgbClr val="FF0000"/>
                  </a:solidFill>
                </a:rPr>
                <a:t>+</a:t>
              </a:r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 - - -</a:t>
              </a:r>
            </a:p>
            <a:p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   - - - - - - - - </a:t>
              </a:r>
            </a:p>
            <a:p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   - </a:t>
              </a:r>
              <a:r>
                <a:rPr lang="en-US" altLang="zh-TW" dirty="0">
                  <a:solidFill>
                    <a:srgbClr val="FF0000"/>
                  </a:solidFill>
                </a:rPr>
                <a:t>+</a:t>
              </a:r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 - - - - - </a:t>
              </a:r>
              <a:r>
                <a:rPr lang="en-US" altLang="zh-TW" dirty="0">
                  <a:solidFill>
                    <a:srgbClr val="FF0000"/>
                  </a:solidFill>
                </a:rPr>
                <a:t>+</a:t>
              </a:r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 </a:t>
              </a:r>
              <a:endParaRPr lang="zh-TW" altLang="en-US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sp>
        <p:nvSpPr>
          <p:cNvPr id="13" name="箭號: 向下 12">
            <a:extLst>
              <a:ext uri="{FF2B5EF4-FFF2-40B4-BE49-F238E27FC236}">
                <a16:creationId xmlns:a16="http://schemas.microsoft.com/office/drawing/2014/main" id="{CADBD033-23E4-438A-9F10-B4FFFF051499}"/>
              </a:ext>
            </a:extLst>
          </p:cNvPr>
          <p:cNvSpPr/>
          <p:nvPr/>
        </p:nvSpPr>
        <p:spPr>
          <a:xfrm>
            <a:off x="7865806" y="4174804"/>
            <a:ext cx="1455175" cy="66878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F97D89A6-F436-4400-9DEA-CC57ECBFB7A6}"/>
              </a:ext>
            </a:extLst>
          </p:cNvPr>
          <p:cNvSpPr txBox="1"/>
          <p:nvPr/>
        </p:nvSpPr>
        <p:spPr>
          <a:xfrm>
            <a:off x="9330813" y="3763677"/>
            <a:ext cx="24211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中間的電子和電洞會結和而消失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形成</a:t>
            </a:r>
            <a:r>
              <a:rPr lang="en-US" altLang="zh-TW" dirty="0"/>
              <a:t>”</a:t>
            </a:r>
            <a:r>
              <a:rPr lang="zh-TW" altLang="en-US" dirty="0"/>
              <a:t>空乏區</a:t>
            </a:r>
            <a:r>
              <a:rPr lang="en-US" altLang="zh-TW" dirty="0"/>
              <a:t>”(</a:t>
            </a:r>
            <a:r>
              <a:rPr lang="zh-TW" altLang="en-US" dirty="0"/>
              <a:t>指沒有自由電子與電洞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328383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群組 21">
            <a:extLst>
              <a:ext uri="{FF2B5EF4-FFF2-40B4-BE49-F238E27FC236}">
                <a16:creationId xmlns:a16="http://schemas.microsoft.com/office/drawing/2014/main" id="{54A794C6-595C-4705-8A62-D5126A3E28ED}"/>
              </a:ext>
            </a:extLst>
          </p:cNvPr>
          <p:cNvGrpSpPr/>
          <p:nvPr/>
        </p:nvGrpSpPr>
        <p:grpSpPr>
          <a:xfrm>
            <a:off x="1904421" y="2598568"/>
            <a:ext cx="2815996" cy="1212036"/>
            <a:chOff x="7232430" y="5292544"/>
            <a:chExt cx="2815996" cy="1212036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1C588586-5B33-47DE-B610-969BFC15A8F8}"/>
                </a:ext>
              </a:extLst>
            </p:cNvPr>
            <p:cNvSpPr/>
            <p:nvPr/>
          </p:nvSpPr>
          <p:spPr>
            <a:xfrm>
              <a:off x="7232430" y="5292545"/>
              <a:ext cx="2815996" cy="1200329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D992C4DC-FE76-45E5-AD2D-B00E15F4C649}"/>
                </a:ext>
              </a:extLst>
            </p:cNvPr>
            <p:cNvSpPr txBox="1"/>
            <p:nvPr/>
          </p:nvSpPr>
          <p:spPr>
            <a:xfrm>
              <a:off x="7253749" y="5292544"/>
              <a:ext cx="1300316" cy="1200329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 </a:t>
              </a:r>
              <a:r>
                <a:rPr lang="en-US" altLang="zh-TW" dirty="0">
                  <a:solidFill>
                    <a:srgbClr val="FF0000"/>
                  </a:solidFill>
                </a:rPr>
                <a:t>+ + + + + +</a:t>
              </a:r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 </a:t>
              </a:r>
              <a:r>
                <a:rPr lang="en-US" altLang="zh-TW" dirty="0">
                  <a:solidFill>
                    <a:srgbClr val="FF0000"/>
                  </a:solidFill>
                </a:rPr>
                <a:t> </a:t>
              </a:r>
            </a:p>
            <a:p>
              <a:r>
                <a:rPr lang="en-US" altLang="zh-TW" dirty="0">
                  <a:solidFill>
                    <a:srgbClr val="FF0000"/>
                  </a:solidFill>
                </a:rPr>
                <a:t>+ + + </a:t>
              </a:r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-</a:t>
              </a:r>
              <a:r>
                <a:rPr lang="en-US" altLang="zh-TW" dirty="0">
                  <a:solidFill>
                    <a:srgbClr val="FF0000"/>
                  </a:solidFill>
                </a:rPr>
                <a:t> + + +  </a:t>
              </a:r>
            </a:p>
            <a:p>
              <a:r>
                <a:rPr lang="en-US" altLang="zh-TW" dirty="0">
                  <a:solidFill>
                    <a:srgbClr val="FF0000"/>
                  </a:solidFill>
                </a:rPr>
                <a:t>+ + + + + + +</a:t>
              </a:r>
            </a:p>
            <a:p>
              <a:r>
                <a:rPr lang="en-US" altLang="zh-TW" dirty="0">
                  <a:solidFill>
                    <a:srgbClr val="FF0000"/>
                  </a:solidFill>
                </a:rPr>
                <a:t>+ </a:t>
              </a:r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-</a:t>
              </a:r>
              <a:r>
                <a:rPr lang="en-US" altLang="zh-TW" dirty="0">
                  <a:solidFill>
                    <a:srgbClr val="FF0000"/>
                  </a:solidFill>
                </a:rPr>
                <a:t> + + + </a:t>
              </a:r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-</a:t>
              </a:r>
              <a:r>
                <a:rPr lang="en-US" altLang="zh-TW" dirty="0">
                  <a:solidFill>
                    <a:srgbClr val="FF0000"/>
                  </a:solidFill>
                </a:rPr>
                <a:t>  + </a:t>
              </a:r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E34F83FC-9E92-4A02-B338-DF9F79A2EC05}"/>
                </a:ext>
              </a:extLst>
            </p:cNvPr>
            <p:cNvSpPr txBox="1"/>
            <p:nvPr/>
          </p:nvSpPr>
          <p:spPr>
            <a:xfrm>
              <a:off x="8671881" y="5304251"/>
              <a:ext cx="1369139" cy="1200329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 </a:t>
              </a:r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  - </a:t>
              </a:r>
              <a:r>
                <a:rPr lang="en-US" altLang="zh-TW" dirty="0">
                  <a:solidFill>
                    <a:srgbClr val="FF0000"/>
                  </a:solidFill>
                </a:rPr>
                <a:t>+</a:t>
              </a:r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 - - - - - -</a:t>
              </a:r>
            </a:p>
            <a:p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   - - - - </a:t>
              </a:r>
              <a:r>
                <a:rPr lang="en-US" altLang="zh-TW" dirty="0">
                  <a:solidFill>
                    <a:srgbClr val="FF0000"/>
                  </a:solidFill>
                </a:rPr>
                <a:t>+</a:t>
              </a:r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 - - -</a:t>
              </a:r>
            </a:p>
            <a:p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   - - - - - - - - </a:t>
              </a:r>
            </a:p>
            <a:p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   - </a:t>
              </a:r>
              <a:r>
                <a:rPr lang="en-US" altLang="zh-TW" dirty="0">
                  <a:solidFill>
                    <a:srgbClr val="FF0000"/>
                  </a:solidFill>
                </a:rPr>
                <a:t>+</a:t>
              </a:r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 - - - - - </a:t>
              </a:r>
              <a:r>
                <a:rPr lang="en-US" altLang="zh-TW" dirty="0">
                  <a:solidFill>
                    <a:srgbClr val="FF0000"/>
                  </a:solidFill>
                </a:rPr>
                <a:t>+</a:t>
              </a:r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 </a:t>
              </a:r>
              <a:endParaRPr lang="zh-TW" altLang="en-US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F6A3B21C-9329-428A-A8CE-B0DF90FC2BD5}"/>
              </a:ext>
            </a:extLst>
          </p:cNvPr>
          <p:cNvSpPr txBox="1"/>
          <p:nvPr/>
        </p:nvSpPr>
        <p:spPr>
          <a:xfrm>
            <a:off x="6652189" y="1963943"/>
            <a:ext cx="15534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TW" alt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接負端</a:t>
            </a:r>
            <a:endParaRPr lang="en-US" altLang="zh-TW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TW" alt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為  電子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396FEE18-F23B-4A5F-81D7-4E81C9CAE4CB}"/>
              </a:ext>
            </a:extLst>
          </p:cNvPr>
          <p:cNvSpPr txBox="1"/>
          <p:nvPr/>
        </p:nvSpPr>
        <p:spPr>
          <a:xfrm>
            <a:off x="245652" y="2996550"/>
            <a:ext cx="15534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TW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接正端</a:t>
            </a:r>
            <a:endParaRPr lang="en-US" altLang="zh-TW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TW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為  電洞</a:t>
            </a:r>
            <a:endParaRPr lang="en-US" altLang="zh-TW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TW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推擠進</a:t>
            </a:r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zh-TW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級</a:t>
            </a:r>
            <a:b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zh-TW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ECE2C98-3096-4B7B-8261-9F8D2A779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30" y="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zh-TW" altLang="en-US" sz="3200"/>
              <a:t>原理會考</a:t>
            </a:r>
            <a:br>
              <a:rPr lang="en-US" altLang="zh-TW" dirty="0"/>
            </a:br>
            <a:r>
              <a:rPr lang="zh-TW" altLang="en-US" dirty="0"/>
              <a:t>加入偏壓</a:t>
            </a:r>
            <a:br>
              <a:rPr lang="en-US" altLang="zh-TW" dirty="0"/>
            </a:br>
            <a:r>
              <a:rPr lang="zh-TW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多數載子狀況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B40053F-44ED-4C8F-8A8C-89AD9C3A0F68}"/>
              </a:ext>
            </a:extLst>
          </p:cNvPr>
          <p:cNvSpPr txBox="1"/>
          <p:nvPr/>
        </p:nvSpPr>
        <p:spPr>
          <a:xfrm>
            <a:off x="2000922" y="2129246"/>
            <a:ext cx="1874520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順向偏壓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FB5A6C7-7FA9-4B48-9FDB-3CAFAF368D2B}"/>
              </a:ext>
            </a:extLst>
          </p:cNvPr>
          <p:cNvSpPr txBox="1"/>
          <p:nvPr/>
        </p:nvSpPr>
        <p:spPr>
          <a:xfrm>
            <a:off x="4755495" y="3010983"/>
            <a:ext cx="14883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推擠電子進</a:t>
            </a:r>
            <a:r>
              <a:rPr lang="en-US" altLang="zh-TW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zh-TW" alt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級</a:t>
            </a:r>
            <a:br>
              <a:rPr lang="en-US" altLang="zh-TW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zh-TW" altLang="en-US" sz="2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8FEDA9A-FC74-4D15-9BF5-73DEBEEF7E80}"/>
              </a:ext>
            </a:extLst>
          </p:cNvPr>
          <p:cNvSpPr txBox="1"/>
          <p:nvPr/>
        </p:nvSpPr>
        <p:spPr>
          <a:xfrm>
            <a:off x="11094025" y="1963944"/>
            <a:ext cx="1645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接正極</a:t>
            </a:r>
            <a:endParaRPr lang="en-US" altLang="zh-TW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TW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為電洞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D0BE078-6863-4317-B29A-53315D985C46}"/>
              </a:ext>
            </a:extLst>
          </p:cNvPr>
          <p:cNvSpPr txBox="1"/>
          <p:nvPr/>
        </p:nvSpPr>
        <p:spPr>
          <a:xfrm>
            <a:off x="3660380" y="3779361"/>
            <a:ext cx="1369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Electronic</a:t>
            </a:r>
            <a:endParaRPr lang="zh-TW" alt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A9011A9-D7B5-4C6B-A466-BD066CBCE4E5}"/>
              </a:ext>
            </a:extLst>
          </p:cNvPr>
          <p:cNvSpPr txBox="1"/>
          <p:nvPr/>
        </p:nvSpPr>
        <p:spPr>
          <a:xfrm>
            <a:off x="1440747" y="4166373"/>
            <a:ext cx="172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Hole</a:t>
            </a:r>
            <a:endParaRPr lang="zh-TW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4FD1D33-45DD-4704-AB00-ACF5FBF97A80}"/>
              </a:ext>
            </a:extLst>
          </p:cNvPr>
          <p:cNvSpPr txBox="1"/>
          <p:nvPr/>
        </p:nvSpPr>
        <p:spPr>
          <a:xfrm>
            <a:off x="5300681" y="5399662"/>
            <a:ext cx="70835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所以，電洞向右吸引</a:t>
            </a:r>
            <a:endParaRPr lang="en-US" altLang="zh-TW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TW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電子向中左吸引</a:t>
            </a:r>
            <a:endParaRPr lang="en-US" altLang="zh-TW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TW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逆向偏壓下空乏區變大</a:t>
            </a:r>
            <a:r>
              <a:rPr lang="zh-TW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，中間</a:t>
            </a:r>
            <a:r>
              <a:rPr lang="en-US" altLang="zh-TW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r>
              <a:rPr lang="zh-TW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變大，可變電容的做法之一</a:t>
            </a:r>
            <a:endParaRPr lang="en-US" altLang="zh-TW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A960E18-4DAC-4A94-92E5-F9A4A7AE3D0E}"/>
              </a:ext>
            </a:extLst>
          </p:cNvPr>
          <p:cNvSpPr txBox="1"/>
          <p:nvPr/>
        </p:nvSpPr>
        <p:spPr>
          <a:xfrm>
            <a:off x="8988910" y="210301"/>
            <a:ext cx="1645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排斥電子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2EF42B30-584F-46A9-BB9B-B94F8398E4D6}"/>
              </a:ext>
            </a:extLst>
          </p:cNvPr>
          <p:cNvSpPr txBox="1"/>
          <p:nvPr/>
        </p:nvSpPr>
        <p:spPr>
          <a:xfrm>
            <a:off x="-167640" y="5584328"/>
            <a:ext cx="54536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所以，電洞向中間</a:t>
            </a:r>
            <a:endParaRPr lang="en-US" altLang="zh-TW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TW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電子向中間</a:t>
            </a:r>
            <a:endParaRPr lang="en-US" altLang="zh-TW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TW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順向偏壓下，空乏區</a:t>
            </a:r>
            <a:r>
              <a:rPr lang="zh-TW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變小，直到消失</a:t>
            </a:r>
            <a:endParaRPr lang="en-US" altLang="zh-TW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08317F7-CC14-4BF2-A03F-2747128D4CAF}"/>
              </a:ext>
            </a:extLst>
          </p:cNvPr>
          <p:cNvSpPr txBox="1"/>
          <p:nvPr/>
        </p:nvSpPr>
        <p:spPr>
          <a:xfrm>
            <a:off x="7836945" y="1994775"/>
            <a:ext cx="1874520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逆向偏壓</a:t>
            </a: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1F2F8FB1-90B8-4EE8-8799-321459886AB2}"/>
              </a:ext>
            </a:extLst>
          </p:cNvPr>
          <p:cNvCxnSpPr/>
          <p:nvPr/>
        </p:nvCxnSpPr>
        <p:spPr>
          <a:xfrm flipH="1">
            <a:off x="2163418" y="4098052"/>
            <a:ext cx="2616485" cy="0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B05ACA51-5A63-424B-8713-31584E2B74C1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2303367" y="4628038"/>
            <a:ext cx="2628583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20D3C3BD-8D46-485D-9501-E604EBE195AE}"/>
              </a:ext>
            </a:extLst>
          </p:cNvPr>
          <p:cNvSpPr txBox="1"/>
          <p:nvPr/>
        </p:nvSpPr>
        <p:spPr>
          <a:xfrm>
            <a:off x="838200" y="4893850"/>
            <a:ext cx="5318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接的電位高到一定程度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矽為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0.6~0.7V,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鍺為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0.3V)</a:t>
            </a:r>
          </a:p>
          <a:p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可克服原本空乏區的障礙</a:t>
            </a:r>
          </a:p>
        </p:txBody>
      </p: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5F8B3A7F-D308-4BA4-B3D2-CDB5D40EF6C9}"/>
              </a:ext>
            </a:extLst>
          </p:cNvPr>
          <p:cNvGrpSpPr/>
          <p:nvPr/>
        </p:nvGrpSpPr>
        <p:grpSpPr>
          <a:xfrm>
            <a:off x="4337590" y="409857"/>
            <a:ext cx="3062746" cy="1200330"/>
            <a:chOff x="7057103" y="5292545"/>
            <a:chExt cx="3062746" cy="1200330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65FE97A2-14A3-4634-A9A5-D476082CB28E}"/>
                </a:ext>
              </a:extLst>
            </p:cNvPr>
            <p:cNvSpPr/>
            <p:nvPr/>
          </p:nvSpPr>
          <p:spPr>
            <a:xfrm>
              <a:off x="7057103" y="5292545"/>
              <a:ext cx="3062746" cy="1200329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9E571C71-4186-492D-A7AB-8FA3CBFE1E79}"/>
                </a:ext>
              </a:extLst>
            </p:cNvPr>
            <p:cNvSpPr txBox="1"/>
            <p:nvPr/>
          </p:nvSpPr>
          <p:spPr>
            <a:xfrm>
              <a:off x="7057104" y="5292546"/>
              <a:ext cx="1300316" cy="1200329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 </a:t>
              </a:r>
              <a:r>
                <a:rPr lang="en-US" altLang="zh-TW" dirty="0">
                  <a:solidFill>
                    <a:srgbClr val="FF0000"/>
                  </a:solidFill>
                </a:rPr>
                <a:t>+ + + + + +</a:t>
              </a:r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 </a:t>
              </a:r>
              <a:r>
                <a:rPr lang="en-US" altLang="zh-TW" dirty="0">
                  <a:solidFill>
                    <a:srgbClr val="FF0000"/>
                  </a:solidFill>
                </a:rPr>
                <a:t> </a:t>
              </a:r>
            </a:p>
            <a:p>
              <a:r>
                <a:rPr lang="en-US" altLang="zh-TW" dirty="0">
                  <a:solidFill>
                    <a:srgbClr val="FF0000"/>
                  </a:solidFill>
                </a:rPr>
                <a:t>+ + + </a:t>
              </a:r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-</a:t>
              </a:r>
              <a:r>
                <a:rPr lang="en-US" altLang="zh-TW" dirty="0">
                  <a:solidFill>
                    <a:srgbClr val="FF0000"/>
                  </a:solidFill>
                </a:rPr>
                <a:t> + + +  </a:t>
              </a:r>
            </a:p>
            <a:p>
              <a:r>
                <a:rPr lang="en-US" altLang="zh-TW" dirty="0">
                  <a:solidFill>
                    <a:srgbClr val="FF0000"/>
                  </a:solidFill>
                </a:rPr>
                <a:t>+ + + + + + +</a:t>
              </a:r>
            </a:p>
            <a:p>
              <a:r>
                <a:rPr lang="en-US" altLang="zh-TW" dirty="0">
                  <a:solidFill>
                    <a:srgbClr val="FF0000"/>
                  </a:solidFill>
                </a:rPr>
                <a:t>+ </a:t>
              </a:r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-</a:t>
              </a:r>
              <a:r>
                <a:rPr lang="en-US" altLang="zh-TW" dirty="0">
                  <a:solidFill>
                    <a:srgbClr val="FF0000"/>
                  </a:solidFill>
                </a:rPr>
                <a:t> + + + </a:t>
              </a:r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-</a:t>
              </a:r>
              <a:r>
                <a:rPr lang="en-US" altLang="zh-TW" dirty="0">
                  <a:solidFill>
                    <a:srgbClr val="FF0000"/>
                  </a:solidFill>
                </a:rPr>
                <a:t>  + </a:t>
              </a:r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0FBE2AF0-73AF-422F-9964-5C801799F471}"/>
                </a:ext>
              </a:extLst>
            </p:cNvPr>
            <p:cNvSpPr txBox="1"/>
            <p:nvPr/>
          </p:nvSpPr>
          <p:spPr>
            <a:xfrm>
              <a:off x="8750710" y="5292545"/>
              <a:ext cx="1369139" cy="1200329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 </a:t>
              </a:r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  - </a:t>
              </a:r>
              <a:r>
                <a:rPr lang="en-US" altLang="zh-TW" dirty="0">
                  <a:solidFill>
                    <a:srgbClr val="FF0000"/>
                  </a:solidFill>
                </a:rPr>
                <a:t>+</a:t>
              </a:r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 - - - - - -</a:t>
              </a:r>
            </a:p>
            <a:p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   - - - - </a:t>
              </a:r>
              <a:r>
                <a:rPr lang="en-US" altLang="zh-TW" dirty="0">
                  <a:solidFill>
                    <a:srgbClr val="FF0000"/>
                  </a:solidFill>
                </a:rPr>
                <a:t>+</a:t>
              </a:r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 - - -</a:t>
              </a:r>
            </a:p>
            <a:p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   - - - - - - - - </a:t>
              </a:r>
            </a:p>
            <a:p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   - </a:t>
              </a:r>
              <a:r>
                <a:rPr lang="en-US" altLang="zh-TW" dirty="0">
                  <a:solidFill>
                    <a:srgbClr val="FF0000"/>
                  </a:solidFill>
                </a:rPr>
                <a:t>+</a:t>
              </a:r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 - - - - - </a:t>
              </a:r>
              <a:r>
                <a:rPr lang="en-US" altLang="zh-TW" dirty="0">
                  <a:solidFill>
                    <a:srgbClr val="FF0000"/>
                  </a:solidFill>
                </a:rPr>
                <a:t>+</a:t>
              </a:r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 </a:t>
              </a:r>
              <a:endParaRPr lang="zh-TW" altLang="en-US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B91DC852-0E71-4E26-9ECC-3D8389777636}"/>
              </a:ext>
            </a:extLst>
          </p:cNvPr>
          <p:cNvSpPr txBox="1"/>
          <p:nvPr/>
        </p:nvSpPr>
        <p:spPr>
          <a:xfrm>
            <a:off x="4892057" y="-16609"/>
            <a:ext cx="1874520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未加偏壓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5F369D9-1F72-4C51-B0C5-2B9752AF4611}"/>
              </a:ext>
            </a:extLst>
          </p:cNvPr>
          <p:cNvSpPr/>
          <p:nvPr/>
        </p:nvSpPr>
        <p:spPr>
          <a:xfrm>
            <a:off x="7416536" y="2665802"/>
            <a:ext cx="3605691" cy="1200329"/>
          </a:xfrm>
          <a:prstGeom prst="rect">
            <a:avLst/>
          </a:prstGeom>
          <a:solidFill>
            <a:schemeClr val="bg1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373979F8-99C1-4185-B074-0A100C8CAB19}"/>
              </a:ext>
            </a:extLst>
          </p:cNvPr>
          <p:cNvSpPr txBox="1"/>
          <p:nvPr/>
        </p:nvSpPr>
        <p:spPr>
          <a:xfrm>
            <a:off x="7400336" y="2665802"/>
            <a:ext cx="1300316" cy="1200329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+ + + + + +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+ + + 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-</a:t>
            </a:r>
            <a:r>
              <a:rPr lang="en-US" altLang="zh-TW" dirty="0">
                <a:solidFill>
                  <a:srgbClr val="FF0000"/>
                </a:solidFill>
              </a:rPr>
              <a:t> + + +  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+ + + + + + +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+ 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-</a:t>
            </a:r>
            <a:r>
              <a:rPr lang="en-US" altLang="zh-TW" dirty="0">
                <a:solidFill>
                  <a:srgbClr val="FF0000"/>
                </a:solidFill>
              </a:rPr>
              <a:t> + + + 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-</a:t>
            </a:r>
            <a:r>
              <a:rPr lang="en-US" altLang="zh-TW" dirty="0">
                <a:solidFill>
                  <a:srgbClr val="FF0000"/>
                </a:solidFill>
              </a:rPr>
              <a:t>  + 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6EEA497E-D63C-4188-B88E-6B1A44D47878}"/>
              </a:ext>
            </a:extLst>
          </p:cNvPr>
          <p:cNvSpPr txBox="1"/>
          <p:nvPr/>
        </p:nvSpPr>
        <p:spPr>
          <a:xfrm>
            <a:off x="9653088" y="2677510"/>
            <a:ext cx="1369139" cy="1200329"/>
          </a:xfrm>
          <a:prstGeom prst="rect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/>
              <a:t> 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  - </a:t>
            </a:r>
            <a:r>
              <a:rPr lang="en-US" altLang="zh-TW" dirty="0">
                <a:solidFill>
                  <a:srgbClr val="FF0000"/>
                </a:solidFill>
              </a:rPr>
              <a:t>+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 - - - - - -</a:t>
            </a:r>
          </a:p>
          <a:p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   - - - - </a:t>
            </a:r>
            <a:r>
              <a:rPr lang="en-US" altLang="zh-TW" dirty="0">
                <a:solidFill>
                  <a:srgbClr val="FF0000"/>
                </a:solidFill>
              </a:rPr>
              <a:t>+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 - - -</a:t>
            </a:r>
          </a:p>
          <a:p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   - - - - - - - - </a:t>
            </a:r>
          </a:p>
          <a:p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   - </a:t>
            </a:r>
            <a:r>
              <a:rPr lang="en-US" altLang="zh-TW" dirty="0">
                <a:solidFill>
                  <a:srgbClr val="FF0000"/>
                </a:solidFill>
              </a:rPr>
              <a:t>+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 - - - - - </a:t>
            </a:r>
            <a:r>
              <a:rPr lang="en-US" altLang="zh-TW" dirty="0">
                <a:solidFill>
                  <a:srgbClr val="FF0000"/>
                </a:solidFill>
              </a:rPr>
              <a:t>+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endParaRPr lang="zh-TW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7FB5E7C6-6B6E-4342-AF4F-9F687FDA7186}"/>
              </a:ext>
            </a:extLst>
          </p:cNvPr>
          <p:cNvSpPr txBox="1"/>
          <p:nvPr/>
        </p:nvSpPr>
        <p:spPr>
          <a:xfrm>
            <a:off x="432220" y="2089906"/>
            <a:ext cx="1645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接正極</a:t>
            </a:r>
            <a:endParaRPr lang="en-US" altLang="zh-TW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TW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為電洞</a:t>
            </a: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4E266D56-6289-45DC-9B42-C7BA837A6620}"/>
              </a:ext>
            </a:extLst>
          </p:cNvPr>
          <p:cNvSpPr txBox="1"/>
          <p:nvPr/>
        </p:nvSpPr>
        <p:spPr>
          <a:xfrm>
            <a:off x="11022227" y="2705323"/>
            <a:ext cx="11697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電場會</a:t>
            </a:r>
            <a:endParaRPr lang="en-US" altLang="zh-TW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TW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吸引電子</a:t>
            </a:r>
            <a:endParaRPr lang="en-US" altLang="zh-TW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TW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所以空乏區變大</a:t>
            </a:r>
          </a:p>
          <a:p>
            <a:endParaRPr lang="zh-TW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55C9AF08-8754-42FC-89EE-D43979B76E77}"/>
              </a:ext>
            </a:extLst>
          </p:cNvPr>
          <p:cNvSpPr txBox="1"/>
          <p:nvPr/>
        </p:nvSpPr>
        <p:spPr>
          <a:xfrm>
            <a:off x="4936920" y="2196997"/>
            <a:ext cx="15534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TW" alt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接負端</a:t>
            </a:r>
            <a:endParaRPr lang="en-US" altLang="zh-TW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TW" alt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為  電子</a:t>
            </a: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E089EA2D-8C3E-4110-8992-770E8413B276}"/>
              </a:ext>
            </a:extLst>
          </p:cNvPr>
          <p:cNvSpPr txBox="1"/>
          <p:nvPr/>
        </p:nvSpPr>
        <p:spPr>
          <a:xfrm>
            <a:off x="6379469" y="2762554"/>
            <a:ext cx="11923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電場會</a:t>
            </a:r>
            <a:endParaRPr lang="en-US" altLang="zh-TW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TW" alt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吸引電洞</a:t>
            </a:r>
            <a:br>
              <a:rPr lang="en-US" altLang="zh-TW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altLang="zh-TW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TW" alt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同樣的，空乏區也會變大</a:t>
            </a:r>
          </a:p>
        </p:txBody>
      </p: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BA64DEE3-DC16-4CAB-96E9-99FDFFD5E65D}"/>
              </a:ext>
            </a:extLst>
          </p:cNvPr>
          <p:cNvCxnSpPr/>
          <p:nvPr/>
        </p:nvCxnSpPr>
        <p:spPr>
          <a:xfrm>
            <a:off x="8689378" y="4269593"/>
            <a:ext cx="96371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35808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C9EA87-6727-4B0F-851C-0991E5067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/>
              <a:t>少數載子  </a:t>
            </a:r>
            <a:r>
              <a:rPr lang="en-US" altLang="zh-TW" sz="4000" dirty="0"/>
              <a:t>-  </a:t>
            </a:r>
            <a:r>
              <a:rPr lang="zh-TW" altLang="en-US" sz="4000" dirty="0"/>
              <a:t>可以當作是多數載子的相反狀況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E4538FA-7A81-4D59-A5CC-C111BDE25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TW" altLang="en-US" dirty="0"/>
              <a:t>少數載子來源</a:t>
            </a:r>
            <a:r>
              <a:rPr lang="en-US" altLang="zh-TW" dirty="0"/>
              <a:t>:</a:t>
            </a:r>
            <a:r>
              <a:rPr lang="zh-TW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熱擾動</a:t>
            </a:r>
            <a:r>
              <a:rPr lang="zh-TW" altLang="en-US" dirty="0"/>
              <a:t>產生的</a:t>
            </a:r>
            <a:r>
              <a:rPr lang="zh-TW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半導體的電子</a:t>
            </a:r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zh-TW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電洞對</a:t>
            </a:r>
            <a:endParaRPr lang="en-US" altLang="zh-TW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zh-TW" altLang="en-US" dirty="0"/>
              <a:t>即使有摻雜，但半導體本身主體亦是</a:t>
            </a:r>
            <a:r>
              <a:rPr lang="en-US" altLang="zh-TW" dirty="0"/>
              <a:t>Si(</a:t>
            </a:r>
            <a:r>
              <a:rPr lang="zh-TW" altLang="en-US" dirty="0"/>
              <a:t>四族</a:t>
            </a:r>
            <a:r>
              <a:rPr lang="en-US" altLang="zh-TW" dirty="0"/>
              <a:t>)</a:t>
            </a:r>
            <a:r>
              <a:rPr lang="zh-TW" altLang="en-US" dirty="0"/>
              <a:t>為主，因此自然的會有電子</a:t>
            </a:r>
            <a:r>
              <a:rPr lang="en-US" altLang="zh-TW" dirty="0"/>
              <a:t>/</a:t>
            </a:r>
            <a:r>
              <a:rPr lang="zh-TW" altLang="en-US" dirty="0"/>
              <a:t>電洞對在熱擾動下產生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用在二極體，它被叫為</a:t>
            </a:r>
            <a:r>
              <a:rPr lang="en-US" altLang="zh-TW" dirty="0"/>
              <a:t>”</a:t>
            </a:r>
            <a:r>
              <a:rPr lang="zh-TW" altLang="en-US" dirty="0"/>
              <a:t>漏電流</a:t>
            </a:r>
            <a:r>
              <a:rPr lang="en-US" altLang="zh-TW" dirty="0"/>
              <a:t>”(</a:t>
            </a:r>
            <a:r>
              <a:rPr lang="zh-TW" altLang="en-US" dirty="0"/>
              <a:t>逆向還存在的電流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zh-TW" altLang="en-US" dirty="0"/>
              <a:t>所以漏電流</a:t>
            </a:r>
            <a:r>
              <a:rPr lang="en-US" altLang="zh-TW" dirty="0"/>
              <a:t>(</a:t>
            </a:r>
            <a:r>
              <a:rPr lang="zh-TW" altLang="en-US" dirty="0"/>
              <a:t>少數載子</a:t>
            </a:r>
            <a:r>
              <a:rPr lang="en-US" altLang="zh-TW" dirty="0"/>
              <a:t>)</a:t>
            </a:r>
            <a:r>
              <a:rPr lang="zh-TW" altLang="en-US" dirty="0"/>
              <a:t>直接和溫度相關</a:t>
            </a:r>
            <a:endParaRPr lang="en-US" altLang="zh-TW" dirty="0"/>
          </a:p>
          <a:p>
            <a:pPr lvl="1"/>
            <a:r>
              <a:rPr lang="zh-TW" altLang="en-US" dirty="0"/>
              <a:t>溫度上升</a:t>
            </a:r>
            <a:r>
              <a:rPr lang="en-US" altLang="zh-TW" dirty="0"/>
              <a:t>10</a:t>
            </a:r>
            <a:r>
              <a:rPr lang="zh-TW" altLang="en-US" dirty="0"/>
              <a:t>度，漏電流增加</a:t>
            </a:r>
            <a:r>
              <a:rPr lang="en-US" altLang="zh-TW" dirty="0"/>
              <a:t>1</a:t>
            </a:r>
            <a:r>
              <a:rPr lang="zh-TW" altLang="en-US" dirty="0"/>
              <a:t>倍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二極體的內阻，亦因為熱擾動產生的電子</a:t>
            </a:r>
            <a:r>
              <a:rPr lang="en-US" altLang="zh-TW" dirty="0"/>
              <a:t>/</a:t>
            </a:r>
            <a:r>
              <a:rPr lang="zh-TW" altLang="en-US" dirty="0"/>
              <a:t>電洞對，變的沒這麼</a:t>
            </a:r>
            <a:r>
              <a:rPr lang="en-US" altLang="zh-TW" dirty="0"/>
              <a:t>”</a:t>
            </a:r>
            <a:r>
              <a:rPr lang="zh-TW" altLang="en-US" dirty="0"/>
              <a:t>絕緣</a:t>
            </a:r>
            <a:r>
              <a:rPr lang="en-US" altLang="zh-TW" dirty="0"/>
              <a:t>”</a:t>
            </a:r>
          </a:p>
          <a:p>
            <a:pPr lvl="1"/>
            <a:r>
              <a:rPr lang="zh-TW" altLang="en-US" dirty="0"/>
              <a:t>所以溫度上升，更多的電子</a:t>
            </a:r>
            <a:r>
              <a:rPr lang="en-US" altLang="zh-TW" dirty="0"/>
              <a:t>/</a:t>
            </a:r>
            <a:r>
              <a:rPr lang="zh-TW" altLang="en-US" dirty="0"/>
              <a:t>電洞對自然產生，造成二極體內阻會下降</a:t>
            </a:r>
            <a:endParaRPr lang="en-US" altLang="zh-TW" dirty="0"/>
          </a:p>
          <a:p>
            <a:pPr lvl="1"/>
            <a:r>
              <a:rPr lang="zh-TW" altLang="en-US" dirty="0"/>
              <a:t>矽</a:t>
            </a:r>
            <a:r>
              <a:rPr lang="en-US" altLang="zh-TW" dirty="0"/>
              <a:t>;-2.5mV/</a:t>
            </a:r>
            <a:r>
              <a:rPr lang="zh-TW" altLang="en-US" dirty="0"/>
              <a:t>度</a:t>
            </a:r>
            <a:endParaRPr lang="en-US" altLang="zh-TW" dirty="0"/>
          </a:p>
          <a:p>
            <a:pPr lvl="1"/>
            <a:r>
              <a:rPr lang="zh-TW" altLang="en-US" dirty="0"/>
              <a:t>鍺</a:t>
            </a:r>
            <a:r>
              <a:rPr lang="en-US" altLang="zh-TW" dirty="0"/>
              <a:t>:-1.0mV/</a:t>
            </a:r>
            <a:r>
              <a:rPr lang="zh-TW" altLang="en-US" dirty="0"/>
              <a:t>度</a:t>
            </a:r>
          </a:p>
        </p:txBody>
      </p:sp>
    </p:spTree>
    <p:extLst>
      <p:ext uri="{BB962C8B-B14F-4D97-AF65-F5344CB8AC3E}">
        <p14:creationId xmlns:p14="http://schemas.microsoft.com/office/powerpoint/2010/main" val="17569151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2560A8-6B07-462B-973D-4241E404D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二極體的寄生電容效應</a:t>
            </a: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FF6BB641-8C44-41BC-B686-CC9143C040A6}"/>
              </a:ext>
            </a:extLst>
          </p:cNvPr>
          <p:cNvGrpSpPr/>
          <p:nvPr/>
        </p:nvGrpSpPr>
        <p:grpSpPr>
          <a:xfrm>
            <a:off x="7760675" y="621002"/>
            <a:ext cx="3062746" cy="1200330"/>
            <a:chOff x="7057103" y="5292545"/>
            <a:chExt cx="3062746" cy="1200330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1BB9316-DE61-4B5C-851F-B8C25351EE28}"/>
                </a:ext>
              </a:extLst>
            </p:cNvPr>
            <p:cNvSpPr/>
            <p:nvPr/>
          </p:nvSpPr>
          <p:spPr>
            <a:xfrm>
              <a:off x="7057103" y="5292545"/>
              <a:ext cx="3062746" cy="1200329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48F39D48-B300-4296-A2DC-6430FE6DDC0D}"/>
                </a:ext>
              </a:extLst>
            </p:cNvPr>
            <p:cNvSpPr txBox="1"/>
            <p:nvPr/>
          </p:nvSpPr>
          <p:spPr>
            <a:xfrm>
              <a:off x="7057104" y="5292546"/>
              <a:ext cx="1300316" cy="1200329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 </a:t>
              </a:r>
              <a:r>
                <a:rPr lang="en-US" altLang="zh-TW" dirty="0">
                  <a:solidFill>
                    <a:srgbClr val="FF0000"/>
                  </a:solidFill>
                </a:rPr>
                <a:t>+ + + + + +</a:t>
              </a:r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 </a:t>
              </a:r>
              <a:r>
                <a:rPr lang="en-US" altLang="zh-TW" dirty="0">
                  <a:solidFill>
                    <a:srgbClr val="FF0000"/>
                  </a:solidFill>
                </a:rPr>
                <a:t> </a:t>
              </a:r>
            </a:p>
            <a:p>
              <a:r>
                <a:rPr lang="en-US" altLang="zh-TW" dirty="0">
                  <a:solidFill>
                    <a:srgbClr val="FF0000"/>
                  </a:solidFill>
                </a:rPr>
                <a:t>+ + + </a:t>
              </a:r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-</a:t>
              </a:r>
              <a:r>
                <a:rPr lang="en-US" altLang="zh-TW" dirty="0">
                  <a:solidFill>
                    <a:srgbClr val="FF0000"/>
                  </a:solidFill>
                </a:rPr>
                <a:t> + + +  </a:t>
              </a:r>
            </a:p>
            <a:p>
              <a:r>
                <a:rPr lang="en-US" altLang="zh-TW" dirty="0">
                  <a:solidFill>
                    <a:srgbClr val="FF0000"/>
                  </a:solidFill>
                </a:rPr>
                <a:t>+ + + + + + +</a:t>
              </a:r>
            </a:p>
            <a:p>
              <a:r>
                <a:rPr lang="en-US" altLang="zh-TW" dirty="0">
                  <a:solidFill>
                    <a:srgbClr val="FF0000"/>
                  </a:solidFill>
                </a:rPr>
                <a:t>+ </a:t>
              </a:r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-</a:t>
              </a:r>
              <a:r>
                <a:rPr lang="en-US" altLang="zh-TW" dirty="0">
                  <a:solidFill>
                    <a:srgbClr val="FF0000"/>
                  </a:solidFill>
                </a:rPr>
                <a:t> + + + </a:t>
              </a:r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-</a:t>
              </a:r>
              <a:r>
                <a:rPr lang="en-US" altLang="zh-TW" dirty="0">
                  <a:solidFill>
                    <a:srgbClr val="FF0000"/>
                  </a:solidFill>
                </a:rPr>
                <a:t>  + </a:t>
              </a:r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78DA900D-526F-411D-B17C-17B6CB21AC63}"/>
                </a:ext>
              </a:extLst>
            </p:cNvPr>
            <p:cNvSpPr txBox="1"/>
            <p:nvPr/>
          </p:nvSpPr>
          <p:spPr>
            <a:xfrm>
              <a:off x="8750710" y="5292545"/>
              <a:ext cx="1369139" cy="1200329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 </a:t>
              </a:r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  - </a:t>
              </a:r>
              <a:r>
                <a:rPr lang="en-US" altLang="zh-TW" dirty="0">
                  <a:solidFill>
                    <a:srgbClr val="FF0000"/>
                  </a:solidFill>
                </a:rPr>
                <a:t>+</a:t>
              </a:r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 - - - - - -</a:t>
              </a:r>
            </a:p>
            <a:p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   - - - - </a:t>
              </a:r>
              <a:r>
                <a:rPr lang="en-US" altLang="zh-TW" dirty="0">
                  <a:solidFill>
                    <a:srgbClr val="FF0000"/>
                  </a:solidFill>
                </a:rPr>
                <a:t>+</a:t>
              </a:r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 - - -</a:t>
              </a:r>
            </a:p>
            <a:p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   - - - - - - - - </a:t>
              </a:r>
            </a:p>
            <a:p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   - </a:t>
              </a:r>
              <a:r>
                <a:rPr lang="en-US" altLang="zh-TW" dirty="0">
                  <a:solidFill>
                    <a:srgbClr val="FF0000"/>
                  </a:solidFill>
                </a:rPr>
                <a:t>+</a:t>
              </a:r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 - - - - - </a:t>
              </a:r>
              <a:r>
                <a:rPr lang="en-US" altLang="zh-TW" dirty="0">
                  <a:solidFill>
                    <a:srgbClr val="FF0000"/>
                  </a:solidFill>
                </a:rPr>
                <a:t>+</a:t>
              </a:r>
              <a:r>
                <a:rPr lang="en-US" altLang="zh-TW" dirty="0">
                  <a:solidFill>
                    <a:schemeClr val="accent5">
                      <a:lumMod val="75000"/>
                    </a:schemeClr>
                  </a:solidFill>
                </a:rPr>
                <a:t> </a:t>
              </a:r>
              <a:endParaRPr lang="zh-TW" altLang="en-US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941E297D-EE43-44F7-959B-01A73449C862}"/>
              </a:ext>
            </a:extLst>
          </p:cNvPr>
          <p:cNvSpPr/>
          <p:nvPr/>
        </p:nvSpPr>
        <p:spPr>
          <a:xfrm>
            <a:off x="1338580" y="2537185"/>
            <a:ext cx="101600" cy="94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687D714-E019-495E-AB82-92A3EA819BAA}"/>
              </a:ext>
            </a:extLst>
          </p:cNvPr>
          <p:cNvSpPr/>
          <p:nvPr/>
        </p:nvSpPr>
        <p:spPr>
          <a:xfrm>
            <a:off x="1775460" y="2537184"/>
            <a:ext cx="101600" cy="94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3584526-7442-48E5-8A54-D0CF33C0E579}"/>
              </a:ext>
            </a:extLst>
          </p:cNvPr>
          <p:cNvSpPr/>
          <p:nvPr/>
        </p:nvSpPr>
        <p:spPr>
          <a:xfrm rot="16200000">
            <a:off x="867869" y="2551524"/>
            <a:ext cx="101600" cy="94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2D418CF-2412-4236-B26D-ECE6520FBBE5}"/>
              </a:ext>
            </a:extLst>
          </p:cNvPr>
          <p:cNvSpPr/>
          <p:nvPr/>
        </p:nvSpPr>
        <p:spPr>
          <a:xfrm rot="16200000">
            <a:off x="2296972" y="2551524"/>
            <a:ext cx="101600" cy="94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89005FB-0D5E-4AD9-B16A-DFF406BCF6D8}"/>
              </a:ext>
            </a:extLst>
          </p:cNvPr>
          <p:cNvSpPr txBox="1"/>
          <p:nvPr/>
        </p:nvSpPr>
        <p:spPr>
          <a:xfrm>
            <a:off x="838200" y="1972854"/>
            <a:ext cx="1874520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電容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F6AE8CC-2927-4005-BDB0-E38D591051FF}"/>
              </a:ext>
            </a:extLst>
          </p:cNvPr>
          <p:cNvSpPr txBox="1"/>
          <p:nvPr/>
        </p:nvSpPr>
        <p:spPr>
          <a:xfrm>
            <a:off x="8123732" y="103838"/>
            <a:ext cx="1874520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二極體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5F168572-8CFB-4E09-8C61-952807AA6613}"/>
              </a:ext>
            </a:extLst>
          </p:cNvPr>
          <p:cNvSpPr txBox="1"/>
          <p:nvPr/>
        </p:nvSpPr>
        <p:spPr>
          <a:xfrm>
            <a:off x="447957" y="3660451"/>
            <a:ext cx="55270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/>
              <a:t>電容器構造定義</a:t>
            </a:r>
            <a:r>
              <a:rPr lang="en-US" altLang="zh-TW" sz="2400" dirty="0"/>
              <a:t>:</a:t>
            </a:r>
            <a:r>
              <a:rPr lang="zh-TW" altLang="en-US" sz="2400" dirty="0"/>
              <a:t>二平板上可以儲存電荷</a:t>
            </a:r>
            <a:endParaRPr lang="en-US" altLang="zh-TW" sz="2400" dirty="0"/>
          </a:p>
          <a:p>
            <a:r>
              <a:rPr lang="zh-TW" altLang="en-US" sz="2400" dirty="0"/>
              <a:t>中間為絕緣體，可以防止電荷復合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59778D0-EEDB-44C6-8AD3-A2FA81414CCF}"/>
              </a:ext>
            </a:extLst>
          </p:cNvPr>
          <p:cNvSpPr txBox="1"/>
          <p:nvPr/>
        </p:nvSpPr>
        <p:spPr>
          <a:xfrm>
            <a:off x="447957" y="4634137"/>
            <a:ext cx="5527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/>
              <a:t>電容容量公式</a:t>
            </a:r>
            <a:r>
              <a:rPr lang="en-US" altLang="zh-TW" sz="2400" dirty="0"/>
              <a:t>: C=</a:t>
            </a:r>
            <a:r>
              <a:rPr lang="el-GR" altLang="zh-TW" sz="2400" dirty="0"/>
              <a:t>ε</a:t>
            </a:r>
            <a:r>
              <a:rPr lang="en-US" altLang="zh-TW" sz="2400" dirty="0"/>
              <a:t> </a:t>
            </a:r>
            <a:r>
              <a:rPr lang="en-US" altLang="zh-TW" sz="2400" dirty="0" err="1"/>
              <a:t>A/d</a:t>
            </a:r>
            <a:endParaRPr lang="zh-TW" altLang="en-US" sz="24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D900C29-3781-4849-B605-4868E8FF8D33}"/>
              </a:ext>
            </a:extLst>
          </p:cNvPr>
          <p:cNvSpPr txBox="1"/>
          <p:nvPr/>
        </p:nvSpPr>
        <p:spPr>
          <a:xfrm>
            <a:off x="5974997" y="1951975"/>
            <a:ext cx="635680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/>
              <a:t>二極體的寄生電容</a:t>
            </a:r>
            <a:r>
              <a:rPr lang="en-US" altLang="zh-TW" sz="2400" dirty="0"/>
              <a:t>:</a:t>
            </a:r>
          </a:p>
          <a:p>
            <a:r>
              <a:rPr lang="zh-TW" altLang="en-US" sz="2400" dirty="0"/>
              <a:t>中間空乏區由於沒有自由電洞</a:t>
            </a:r>
            <a:r>
              <a:rPr lang="en-US" altLang="zh-TW" sz="2400" dirty="0"/>
              <a:t>/</a:t>
            </a:r>
            <a:r>
              <a:rPr lang="zh-TW" altLang="en-US" sz="2400" dirty="0"/>
              <a:t>電子</a:t>
            </a:r>
            <a:endParaRPr lang="en-US" altLang="zh-TW" sz="2400" dirty="0"/>
          </a:p>
          <a:p>
            <a:r>
              <a:rPr lang="zh-TW" altLang="en-US" sz="2400" dirty="0"/>
              <a:t>可視為高阻值區</a:t>
            </a:r>
            <a:r>
              <a:rPr lang="en-US" altLang="zh-TW" sz="2400" dirty="0"/>
              <a:t>&gt;&gt;&gt;</a:t>
            </a:r>
            <a:r>
              <a:rPr lang="zh-TW" altLang="en-US" sz="2400" dirty="0"/>
              <a:t>可防止電荷復合</a:t>
            </a:r>
            <a:endParaRPr lang="en-US" altLang="zh-TW" sz="2400" dirty="0"/>
          </a:p>
          <a:p>
            <a:endParaRPr lang="en-US" altLang="zh-TW" sz="2400" dirty="0"/>
          </a:p>
          <a:p>
            <a:r>
              <a:rPr lang="zh-TW" altLang="en-US" sz="2400" dirty="0"/>
              <a:t>左右二邊的摻雜</a:t>
            </a:r>
            <a:r>
              <a:rPr lang="en-US" altLang="zh-TW" sz="2400" dirty="0"/>
              <a:t>&gt;&gt;&gt;</a:t>
            </a:r>
            <a:r>
              <a:rPr lang="zh-TW" altLang="en-US" sz="2400" dirty="0"/>
              <a:t>可存放電荷</a:t>
            </a:r>
            <a:endParaRPr lang="en-US" altLang="zh-TW" sz="2400" dirty="0"/>
          </a:p>
          <a:p>
            <a:endParaRPr lang="en-US" altLang="zh-TW" sz="2400" dirty="0"/>
          </a:p>
          <a:p>
            <a:r>
              <a:rPr lang="zh-TW" altLang="en-US" sz="2400" dirty="0"/>
              <a:t>因此它天生就具有寄生電容</a:t>
            </a:r>
            <a:endParaRPr lang="en-US" altLang="zh-TW" sz="2400" dirty="0"/>
          </a:p>
          <a:p>
            <a:endParaRPr lang="en-US" altLang="zh-TW" sz="2400" dirty="0"/>
          </a:p>
          <a:p>
            <a:r>
              <a:rPr lang="zh-TW" altLang="en-US" sz="2400" dirty="0"/>
              <a:t>而且，電容量與</a:t>
            </a:r>
            <a:r>
              <a:rPr lang="en-US" altLang="zh-TW" sz="2400" dirty="0"/>
              <a:t>”</a:t>
            </a:r>
            <a:r>
              <a:rPr lang="zh-TW" altLang="en-US" sz="2400" dirty="0"/>
              <a:t>空乏區</a:t>
            </a:r>
            <a:r>
              <a:rPr lang="en-US" altLang="zh-TW" sz="2400" dirty="0"/>
              <a:t>”</a:t>
            </a:r>
            <a:r>
              <a:rPr lang="zh-TW" altLang="en-US" sz="2400" dirty="0"/>
              <a:t>寬度直接相關</a:t>
            </a:r>
            <a:endParaRPr lang="en-US" altLang="zh-TW" sz="2400" dirty="0"/>
          </a:p>
          <a:p>
            <a:r>
              <a:rPr lang="en-US" altLang="zh-TW" sz="2400" dirty="0"/>
              <a:t>”</a:t>
            </a:r>
            <a:r>
              <a:rPr lang="zh-TW" altLang="en-US" sz="2400" dirty="0"/>
              <a:t>空乏區</a:t>
            </a:r>
            <a:r>
              <a:rPr lang="en-US" altLang="zh-TW" sz="2400" dirty="0"/>
              <a:t>”</a:t>
            </a:r>
            <a:r>
              <a:rPr lang="zh-TW" altLang="en-US" sz="2400" dirty="0"/>
              <a:t>寬度，則直接與二極體施加電壓相關。 </a:t>
            </a:r>
            <a:endParaRPr lang="en-US" altLang="zh-TW" sz="2400" dirty="0"/>
          </a:p>
          <a:p>
            <a:r>
              <a:rPr lang="zh-TW" altLang="en-US" sz="2400" dirty="0"/>
              <a:t>參考左方電容公式</a:t>
            </a:r>
            <a:r>
              <a:rPr lang="en-US" altLang="zh-TW" sz="2400" dirty="0"/>
              <a:t>;</a:t>
            </a:r>
          </a:p>
          <a:p>
            <a:r>
              <a:rPr lang="zh-TW" altLang="en-US" sz="2400" dirty="0"/>
              <a:t>正偏</a:t>
            </a:r>
            <a:r>
              <a:rPr lang="en-US" altLang="zh-TW" sz="2400" dirty="0"/>
              <a:t>&gt;&gt;d</a:t>
            </a:r>
            <a:r>
              <a:rPr lang="zh-TW" altLang="en-US" sz="2400" dirty="0"/>
              <a:t>變小</a:t>
            </a:r>
            <a:r>
              <a:rPr lang="en-US" altLang="zh-TW" sz="2400" dirty="0"/>
              <a:t>(</a:t>
            </a:r>
            <a:r>
              <a:rPr lang="zh-TW" altLang="en-US" sz="2400" dirty="0"/>
              <a:t>空乏區變小</a:t>
            </a:r>
            <a:r>
              <a:rPr lang="en-US" altLang="zh-TW" sz="2400" dirty="0"/>
              <a:t>)&gt;&gt;&gt;</a:t>
            </a:r>
            <a:r>
              <a:rPr lang="zh-TW" altLang="en-US" sz="2400" dirty="0"/>
              <a:t>寄生電容上升</a:t>
            </a:r>
            <a:endParaRPr lang="en-US" altLang="zh-TW" sz="2400" dirty="0"/>
          </a:p>
          <a:p>
            <a:r>
              <a:rPr lang="zh-TW" altLang="en-US" sz="2400" dirty="0"/>
              <a:t>逆偏</a:t>
            </a:r>
            <a:r>
              <a:rPr lang="en-US" altLang="zh-TW" sz="2400" dirty="0"/>
              <a:t>&gt;&gt;d</a:t>
            </a:r>
            <a:r>
              <a:rPr lang="zh-TW" altLang="en-US" sz="2400" dirty="0"/>
              <a:t>變大</a:t>
            </a:r>
            <a:r>
              <a:rPr lang="en-US" altLang="zh-TW" sz="2400" dirty="0"/>
              <a:t>(</a:t>
            </a:r>
            <a:r>
              <a:rPr lang="zh-TW" altLang="en-US" sz="2400" dirty="0"/>
              <a:t>空乏區變大</a:t>
            </a:r>
            <a:r>
              <a:rPr lang="en-US" altLang="zh-TW" sz="2400" dirty="0"/>
              <a:t>) )&gt;&gt;&gt;</a:t>
            </a:r>
            <a:r>
              <a:rPr lang="zh-TW" altLang="en-US" sz="2400" dirty="0"/>
              <a:t>寄生電容下升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D2F4790F-BF0A-4112-972F-BB17CBA76D12}"/>
              </a:ext>
            </a:extLst>
          </p:cNvPr>
          <p:cNvCxnSpPr>
            <a:cxnSpLocks/>
          </p:cNvCxnSpPr>
          <p:nvPr/>
        </p:nvCxnSpPr>
        <p:spPr>
          <a:xfrm>
            <a:off x="9060992" y="1972854"/>
            <a:ext cx="393290" cy="0"/>
          </a:xfrm>
          <a:prstGeom prst="straightConnector1">
            <a:avLst/>
          </a:prstGeom>
          <a:ln w="3810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31184E39-7D45-477E-9E72-D1E292ABC4C6}"/>
              </a:ext>
            </a:extLst>
          </p:cNvPr>
          <p:cNvSpPr txBox="1"/>
          <p:nvPr/>
        </p:nvSpPr>
        <p:spPr>
          <a:xfrm>
            <a:off x="8763000" y="1958344"/>
            <a:ext cx="173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空乏區寬度</a:t>
            </a:r>
            <a:r>
              <a:rPr lang="en-US" altLang="zh-TW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:d</a:t>
            </a:r>
            <a:endParaRPr lang="zh-TW" altLang="en-US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070750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D17D90-C926-46F1-AF71-7851C0FBC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二極體</a:t>
            </a:r>
            <a:br>
              <a:rPr lang="en-US" altLang="zh-TW" dirty="0"/>
            </a:br>
            <a:r>
              <a:rPr lang="zh-TW" altLang="en-US" dirty="0"/>
              <a:t>麻煩自已看課本的部份</a:t>
            </a:r>
            <a:br>
              <a:rPr lang="en-US" altLang="zh-TW" dirty="0"/>
            </a:br>
            <a:r>
              <a:rPr lang="en-US" altLang="zh-TW" dirty="0"/>
              <a:t>(</a:t>
            </a:r>
            <a:r>
              <a:rPr lang="zh-TW" altLang="en-US" dirty="0"/>
              <a:t>課本就說的不錯了，沒有需要補充的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76E575D-7A57-42A8-9D91-0B5BA876F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r>
              <a:rPr lang="zh-TW" altLang="en-US" dirty="0"/>
              <a:t>二極體理想</a:t>
            </a:r>
            <a:r>
              <a:rPr lang="en-US" altLang="zh-TW" dirty="0"/>
              <a:t>/</a:t>
            </a:r>
            <a:r>
              <a:rPr lang="zh-TW" altLang="en-US" dirty="0"/>
              <a:t>近似結構</a:t>
            </a:r>
            <a:endParaRPr lang="en-US" altLang="zh-TW" dirty="0"/>
          </a:p>
          <a:p>
            <a:r>
              <a:rPr lang="zh-TW" altLang="en-US" dirty="0"/>
              <a:t>電壓計算</a:t>
            </a:r>
            <a:endParaRPr lang="en-US" altLang="zh-TW" dirty="0"/>
          </a:p>
          <a:p>
            <a:r>
              <a:rPr lang="zh-TW" altLang="en-US" dirty="0"/>
              <a:t>靜態電阻</a:t>
            </a:r>
            <a:r>
              <a:rPr lang="en-US" altLang="zh-TW" dirty="0"/>
              <a:t>/</a:t>
            </a:r>
            <a:r>
              <a:rPr lang="zh-TW" altLang="en-US" dirty="0"/>
              <a:t>動態電阻</a:t>
            </a:r>
            <a:endParaRPr lang="en-US" altLang="zh-TW" dirty="0"/>
          </a:p>
          <a:p>
            <a:r>
              <a:rPr lang="zh-TW" altLang="en-US" dirty="0"/>
              <a:t>公式</a:t>
            </a:r>
          </a:p>
        </p:txBody>
      </p:sp>
    </p:spTree>
    <p:extLst>
      <p:ext uri="{BB962C8B-B14F-4D97-AF65-F5344CB8AC3E}">
        <p14:creationId xmlns:p14="http://schemas.microsoft.com/office/powerpoint/2010/main" val="9786179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9D5266-67F9-4106-9134-20C2228D7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二極體電路解題過程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648ABB-D56A-4F2B-A87A-911C543A3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有可能有的導通，有的截止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需假設二極體導通</a:t>
            </a:r>
            <a:r>
              <a:rPr lang="en-US" altLang="zh-TW" dirty="0"/>
              <a:t>/</a:t>
            </a:r>
            <a:r>
              <a:rPr lang="zh-TW" altLang="en-US" dirty="0"/>
              <a:t>載止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之後再將結果代入節點，看是否與假設相同</a:t>
            </a:r>
            <a:endParaRPr lang="en-US" altLang="zh-TW" dirty="0"/>
          </a:p>
          <a:p>
            <a:pPr lvl="1"/>
            <a:r>
              <a:rPr lang="zh-TW" altLang="en-US" dirty="0"/>
              <a:t>所以與一般電阻網路比起來，多了一步做</a:t>
            </a:r>
            <a:r>
              <a:rPr lang="en-US" altLang="zh-TW" dirty="0"/>
              <a:t>”</a:t>
            </a:r>
            <a:r>
              <a:rPr lang="zh-TW" altLang="en-US" dirty="0"/>
              <a:t>驗證</a:t>
            </a:r>
            <a:r>
              <a:rPr lang="en-US" altLang="zh-TW" dirty="0"/>
              <a:t>”</a:t>
            </a:r>
            <a:r>
              <a:rPr lang="zh-TW" altLang="en-US" dirty="0"/>
              <a:t>的步驟</a:t>
            </a:r>
          </a:p>
        </p:txBody>
      </p:sp>
    </p:spTree>
    <p:extLst>
      <p:ext uri="{BB962C8B-B14F-4D97-AF65-F5344CB8AC3E}">
        <p14:creationId xmlns:p14="http://schemas.microsoft.com/office/powerpoint/2010/main" val="39212210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8B702F-649F-46BC-B6DC-0F314DBFB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課本</a:t>
            </a:r>
            <a:br>
              <a:rPr lang="en-US" altLang="zh-TW" dirty="0"/>
            </a:br>
            <a:r>
              <a:rPr lang="zh-TW" altLang="en-US" dirty="0"/>
              <a:t>隨堂練習</a:t>
            </a:r>
            <a:r>
              <a:rPr lang="en-US" altLang="zh-TW" dirty="0"/>
              <a:t>  </a:t>
            </a:r>
            <a:r>
              <a:rPr lang="zh-TW" altLang="en-US" dirty="0"/>
              <a:t>上課講過的題目題數</a:t>
            </a:r>
            <a:r>
              <a:rPr lang="en-US" altLang="zh-TW" dirty="0"/>
              <a:t>: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96231C6-9B28-401E-9AE1-273391C70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1</a:t>
            </a:r>
            <a:r>
              <a:rPr lang="zh-TW" altLang="en-US" dirty="0"/>
              <a:t>、</a:t>
            </a:r>
            <a:r>
              <a:rPr lang="en-US" altLang="zh-TW" dirty="0"/>
              <a:t>3</a:t>
            </a:r>
            <a:r>
              <a:rPr lang="zh-TW" altLang="en-US" dirty="0"/>
              <a:t>、</a:t>
            </a:r>
            <a:r>
              <a:rPr lang="en-US" altLang="zh-TW" dirty="0"/>
              <a:t>4</a:t>
            </a:r>
            <a:r>
              <a:rPr lang="zh-TW" altLang="en-US" dirty="0"/>
              <a:t>、</a:t>
            </a:r>
            <a:r>
              <a:rPr lang="en-US" altLang="zh-TW" dirty="0"/>
              <a:t>5</a:t>
            </a:r>
            <a:r>
              <a:rPr lang="zh-TW" altLang="en-US" dirty="0"/>
              <a:t>、</a:t>
            </a:r>
            <a:r>
              <a:rPr lang="en-US" altLang="zh-TW" dirty="0"/>
              <a:t>6</a:t>
            </a:r>
            <a:r>
              <a:rPr lang="zh-TW" altLang="en-US" dirty="0"/>
              <a:t>、</a:t>
            </a:r>
            <a:r>
              <a:rPr lang="en-US" altLang="zh-TW" dirty="0"/>
              <a:t>9</a:t>
            </a:r>
            <a:r>
              <a:rPr lang="zh-TW" altLang="en-US" dirty="0"/>
              <a:t>、</a:t>
            </a:r>
            <a:r>
              <a:rPr lang="en-US" altLang="zh-TW" dirty="0"/>
              <a:t>10</a:t>
            </a:r>
            <a:r>
              <a:rPr lang="zh-TW" altLang="en-US" dirty="0"/>
              <a:t>、</a:t>
            </a:r>
            <a:r>
              <a:rPr lang="en-US" altLang="zh-TW" dirty="0"/>
              <a:t>16</a:t>
            </a:r>
            <a:r>
              <a:rPr lang="zh-TW" altLang="en-US" dirty="0"/>
              <a:t>、</a:t>
            </a:r>
            <a:r>
              <a:rPr lang="en-US" altLang="zh-TW" dirty="0"/>
              <a:t>17</a:t>
            </a:r>
            <a:r>
              <a:rPr lang="zh-TW" altLang="en-US" dirty="0"/>
              <a:t>、</a:t>
            </a:r>
            <a:r>
              <a:rPr lang="en-US" altLang="zh-TW" dirty="0"/>
              <a:t>18</a:t>
            </a:r>
            <a:r>
              <a:rPr lang="zh-TW" altLang="en-US" dirty="0"/>
              <a:t>、</a:t>
            </a:r>
            <a:r>
              <a:rPr lang="en-US" altLang="zh-TW" dirty="0"/>
              <a:t>26</a:t>
            </a:r>
            <a:r>
              <a:rPr lang="zh-TW" altLang="en-US" dirty="0"/>
              <a:t>、</a:t>
            </a:r>
            <a:r>
              <a:rPr lang="en-US" altLang="zh-TW" dirty="0"/>
              <a:t>29</a:t>
            </a:r>
            <a:r>
              <a:rPr lang="zh-TW" altLang="en-US" dirty="0"/>
              <a:t>、</a:t>
            </a:r>
            <a:r>
              <a:rPr lang="en-US" altLang="zh-TW" dirty="0"/>
              <a:t>30</a:t>
            </a:r>
            <a:r>
              <a:rPr lang="zh-TW" altLang="en-US" dirty="0"/>
              <a:t>、</a:t>
            </a:r>
            <a:r>
              <a:rPr lang="en-US" altLang="zh-TW" dirty="0"/>
              <a:t>32</a:t>
            </a:r>
            <a:r>
              <a:rPr lang="zh-TW" altLang="en-US" dirty="0"/>
              <a:t>、</a:t>
            </a:r>
            <a:r>
              <a:rPr lang="en-US" altLang="zh-TW" dirty="0"/>
              <a:t>33</a:t>
            </a:r>
            <a:r>
              <a:rPr lang="zh-TW" altLang="en-US" dirty="0"/>
              <a:t>、</a:t>
            </a:r>
            <a:r>
              <a:rPr lang="en-US" altLang="zh-TW" dirty="0"/>
              <a:t>34</a:t>
            </a:r>
            <a:r>
              <a:rPr lang="zh-TW" altLang="en-US" dirty="0"/>
              <a:t>、</a:t>
            </a:r>
            <a:r>
              <a:rPr lang="en-US" altLang="zh-TW" dirty="0"/>
              <a:t>35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007738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0F521D-BC16-4A90-97C6-D1C7B8244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電阻網路分析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B2E7280-C5C3-4E92-BCF5-24EAF15A67A5}"/>
              </a:ext>
            </a:extLst>
          </p:cNvPr>
          <p:cNvSpPr txBox="1"/>
          <p:nvPr/>
        </p:nvSpPr>
        <p:spPr>
          <a:xfrm>
            <a:off x="591671" y="1949852"/>
            <a:ext cx="1114312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/>
              <a:t>後面會引入比較容易實現的網路分析技術</a:t>
            </a:r>
            <a:r>
              <a:rPr lang="en-US" altLang="zh-TW" sz="3200" dirty="0"/>
              <a:t>(</a:t>
            </a:r>
            <a:r>
              <a:rPr lang="zh-TW" altLang="en-US" sz="3200" dirty="0"/>
              <a:t>理論、實作、量測</a:t>
            </a:r>
            <a:r>
              <a:rPr lang="en-US" altLang="zh-TW" sz="3200" dirty="0"/>
              <a:t>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zh-TW" altLang="en-US" sz="3200" dirty="0"/>
              <a:t>節點電壓法</a:t>
            </a:r>
            <a:endParaRPr lang="en-US" altLang="zh-TW" sz="32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zh-TW" altLang="en-US" sz="3200" dirty="0"/>
              <a:t>重疊定理、載維寧定理</a:t>
            </a:r>
            <a:r>
              <a:rPr lang="en-US" altLang="zh-TW" sz="3200" dirty="0"/>
              <a:t>(Vth</a:t>
            </a:r>
            <a:r>
              <a:rPr lang="zh-TW" altLang="en-US" sz="3200" dirty="0"/>
              <a:t>、</a:t>
            </a:r>
            <a:r>
              <a:rPr lang="en-US" altLang="zh-TW" sz="3200" dirty="0" err="1"/>
              <a:t>Rth</a:t>
            </a:r>
            <a:r>
              <a:rPr lang="en-US" altLang="zh-TW" sz="320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3200" dirty="0"/>
              <a:t>現實電阻網路實用案例</a:t>
            </a:r>
            <a:endParaRPr lang="en-US" altLang="zh-TW" sz="32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TW" sz="3200" dirty="0"/>
              <a:t>R-2R</a:t>
            </a:r>
            <a:r>
              <a:rPr lang="zh-TW" altLang="en-US" sz="3200" dirty="0"/>
              <a:t>網路</a:t>
            </a:r>
            <a:endParaRPr lang="en-US" altLang="zh-TW" sz="32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7407019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0F521D-BC16-4A90-97C6-D1C7B8244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電阻網路分析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DEE6096-ED9C-4DA5-ABC0-B830FC997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18830"/>
            <a:ext cx="3315163" cy="2143424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6B2E7280-C5C3-4E92-BCF5-24EAF15A67A5}"/>
              </a:ext>
            </a:extLst>
          </p:cNvPr>
          <p:cNvSpPr txBox="1"/>
          <p:nvPr/>
        </p:nvSpPr>
        <p:spPr>
          <a:xfrm>
            <a:off x="4978400" y="734238"/>
            <a:ext cx="714248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/>
              <a:t>使用模擬的結果，此時電壓</a:t>
            </a:r>
            <a:r>
              <a:rPr lang="en-US" altLang="zh-TW" sz="3200" dirty="0" err="1"/>
              <a:t>Vx</a:t>
            </a:r>
            <a:r>
              <a:rPr lang="en-US" altLang="zh-TW" sz="3200" dirty="0"/>
              <a:t>____</a:t>
            </a:r>
          </a:p>
          <a:p>
            <a:endParaRPr lang="en-US" altLang="zh-TW" sz="3200" dirty="0"/>
          </a:p>
          <a:p>
            <a:r>
              <a:rPr lang="zh-TW" altLang="en-US" sz="3200" dirty="0"/>
              <a:t>理論</a:t>
            </a:r>
            <a:r>
              <a:rPr lang="en-US" altLang="zh-TW" sz="3200" dirty="0"/>
              <a:t>:</a:t>
            </a:r>
          </a:p>
          <a:p>
            <a:r>
              <a:rPr lang="zh-TW" altLang="en-US" sz="3200" dirty="0"/>
              <a:t>如果我們試著使用求解</a:t>
            </a:r>
            <a:endParaRPr lang="en-US" altLang="zh-TW" sz="3200" dirty="0"/>
          </a:p>
          <a:p>
            <a:endParaRPr lang="en-US" altLang="zh-TW" sz="3200" dirty="0"/>
          </a:p>
          <a:p>
            <a:r>
              <a:rPr lang="zh-TW" altLang="en-US" sz="3200" dirty="0"/>
              <a:t>節點電壓法，</a:t>
            </a:r>
            <a:r>
              <a:rPr lang="en-US" altLang="zh-TW" sz="3200" dirty="0" err="1"/>
              <a:t>Vx</a:t>
            </a:r>
            <a:r>
              <a:rPr lang="en-US" altLang="zh-TW" sz="3200" dirty="0"/>
              <a:t>=_____</a:t>
            </a:r>
          </a:p>
          <a:p>
            <a:r>
              <a:rPr lang="zh-TW" altLang="en-US" sz="3200" dirty="0"/>
              <a:t>重疊定理</a:t>
            </a:r>
            <a:r>
              <a:rPr lang="en-US" altLang="zh-TW" sz="3200" dirty="0"/>
              <a:t>Vx1=_____ (</a:t>
            </a:r>
            <a:r>
              <a:rPr lang="zh-TW" altLang="en-US" sz="3200" dirty="0"/>
              <a:t>右方</a:t>
            </a:r>
            <a:r>
              <a:rPr lang="en-US" altLang="zh-TW" sz="3200" dirty="0"/>
              <a:t>5V</a:t>
            </a:r>
            <a:r>
              <a:rPr lang="zh-TW" altLang="en-US" sz="3200" dirty="0"/>
              <a:t>短路</a:t>
            </a:r>
            <a:r>
              <a:rPr lang="en-US" altLang="zh-TW" sz="3200" dirty="0"/>
              <a:t>)</a:t>
            </a:r>
          </a:p>
          <a:p>
            <a:r>
              <a:rPr lang="en-US" altLang="zh-TW" sz="3200" dirty="0"/>
              <a:t>Vx2=_____(</a:t>
            </a:r>
            <a:r>
              <a:rPr lang="zh-TW" altLang="en-US" sz="3200" dirty="0"/>
              <a:t>左方</a:t>
            </a:r>
            <a:r>
              <a:rPr lang="en-US" altLang="zh-TW" sz="3200" dirty="0"/>
              <a:t>5V</a:t>
            </a:r>
            <a:r>
              <a:rPr lang="zh-TW" altLang="en-US" sz="3200" dirty="0"/>
              <a:t>短路</a:t>
            </a:r>
            <a:r>
              <a:rPr lang="en-US" altLang="zh-TW" sz="3200" dirty="0"/>
              <a:t>)</a:t>
            </a:r>
          </a:p>
          <a:p>
            <a:r>
              <a:rPr lang="en-US" altLang="zh-TW" sz="3200" dirty="0" err="1"/>
              <a:t>Vx</a:t>
            </a:r>
            <a:r>
              <a:rPr lang="en-US" altLang="zh-TW" sz="3200" dirty="0"/>
              <a:t>=Vx1+Vx2=_____</a:t>
            </a:r>
          </a:p>
          <a:p>
            <a:r>
              <a:rPr lang="zh-TW" altLang="en-US" sz="3200" dirty="0"/>
              <a:t>重疊定理</a:t>
            </a:r>
            <a:r>
              <a:rPr lang="en-US" altLang="zh-TW" sz="3200" dirty="0"/>
              <a:t>:</a:t>
            </a:r>
          </a:p>
          <a:p>
            <a:r>
              <a:rPr lang="zh-TW" altLang="en-US" sz="3200" dirty="0"/>
              <a:t>電壓源短路，電流源開路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1F53350-E321-4DB9-86BC-6042EED21BEF}"/>
              </a:ext>
            </a:extLst>
          </p:cNvPr>
          <p:cNvSpPr txBox="1"/>
          <p:nvPr/>
        </p:nvSpPr>
        <p:spPr>
          <a:xfrm>
            <a:off x="2391642" y="2184400"/>
            <a:ext cx="1341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Vx</a:t>
            </a:r>
            <a:endParaRPr lang="zh-TW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723840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5A63C401-4FF3-4D13-A35C-6A3AB9A73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212" y="1201654"/>
            <a:ext cx="3315163" cy="2143424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B41F9C2E-2F57-4E50-A7F4-C8D40200925B}"/>
              </a:ext>
            </a:extLst>
          </p:cNvPr>
          <p:cNvSpPr txBox="1"/>
          <p:nvPr/>
        </p:nvSpPr>
        <p:spPr>
          <a:xfrm>
            <a:off x="2563906" y="1407459"/>
            <a:ext cx="67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</a:t>
            </a:r>
            <a:endParaRPr lang="zh-TW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49E3B284-70E5-4542-A169-0DC70A2AA1A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節點電壓法 </a:t>
            </a:r>
            <a:r>
              <a:rPr lang="en-US" altLang="zh-TW" dirty="0"/>
              <a:t>(</a:t>
            </a:r>
            <a:r>
              <a:rPr lang="zh-TW" altLang="en-US" dirty="0"/>
              <a:t>理論值</a:t>
            </a:r>
            <a:r>
              <a:rPr lang="en-US" altLang="zh-TW" dirty="0"/>
              <a:t>)</a:t>
            </a:r>
            <a:endParaRPr lang="zh-TW" altLang="en-US" dirty="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A7CA19E3-5FD2-4020-8E51-9645E17980FC}"/>
              </a:ext>
            </a:extLst>
          </p:cNvPr>
          <p:cNvCxnSpPr/>
          <p:nvPr/>
        </p:nvCxnSpPr>
        <p:spPr>
          <a:xfrm flipH="1">
            <a:off x="1894181" y="1907692"/>
            <a:ext cx="648072" cy="0"/>
          </a:xfrm>
          <a:prstGeom prst="straightConnector1">
            <a:avLst/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05492B4A-7947-4FCC-960E-E539C85142C3}"/>
              </a:ext>
            </a:extLst>
          </p:cNvPr>
          <p:cNvCxnSpPr>
            <a:cxnSpLocks/>
          </p:cNvCxnSpPr>
          <p:nvPr/>
        </p:nvCxnSpPr>
        <p:spPr>
          <a:xfrm>
            <a:off x="2919976" y="2556190"/>
            <a:ext cx="0" cy="52683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5AD3A68A-BF08-42AD-A0E8-16586AD0B589}"/>
              </a:ext>
            </a:extLst>
          </p:cNvPr>
          <p:cNvCxnSpPr>
            <a:cxnSpLocks/>
          </p:cNvCxnSpPr>
          <p:nvPr/>
        </p:nvCxnSpPr>
        <p:spPr>
          <a:xfrm>
            <a:off x="3218330" y="1997339"/>
            <a:ext cx="61847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C086752-CD7C-4C9B-A6A3-391A492163C1}"/>
              </a:ext>
            </a:extLst>
          </p:cNvPr>
          <p:cNvSpPr txBox="1"/>
          <p:nvPr/>
        </p:nvSpPr>
        <p:spPr>
          <a:xfrm>
            <a:off x="2769606" y="2527217"/>
            <a:ext cx="720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srgbClr val="00B050"/>
                </a:solidFill>
              </a:rPr>
              <a:t>Iβ</a:t>
            </a:r>
            <a:endParaRPr lang="zh-TW" altLang="en-US" sz="3200" dirty="0">
              <a:solidFill>
                <a:srgbClr val="00B050"/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A6D7E405-849F-42C7-A415-C4CE12E60D4F}"/>
              </a:ext>
            </a:extLst>
          </p:cNvPr>
          <p:cNvSpPr txBox="1"/>
          <p:nvPr/>
        </p:nvSpPr>
        <p:spPr>
          <a:xfrm>
            <a:off x="3275214" y="1856339"/>
            <a:ext cx="720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err="1">
                <a:solidFill>
                  <a:srgbClr val="FF0000"/>
                </a:solidFill>
              </a:rPr>
              <a:t>Ir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DFEE0C08-3538-4FD6-BCA4-0D70A4E6387C}"/>
              </a:ext>
            </a:extLst>
          </p:cNvPr>
          <p:cNvSpPr txBox="1"/>
          <p:nvPr/>
        </p:nvSpPr>
        <p:spPr>
          <a:xfrm>
            <a:off x="1822173" y="1907692"/>
            <a:ext cx="72008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I</a:t>
            </a:r>
            <a:r>
              <a:rPr lang="el-GR" altLang="zh-TW" sz="32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α</a:t>
            </a:r>
            <a:endParaRPr lang="zh-TW" altLang="en-US" sz="32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5C37A45B-64C5-4238-AF53-6309290C1232}"/>
              </a:ext>
            </a:extLst>
          </p:cNvPr>
          <p:cNvSpPr txBox="1"/>
          <p:nvPr/>
        </p:nvSpPr>
        <p:spPr>
          <a:xfrm>
            <a:off x="4628624" y="1231511"/>
            <a:ext cx="3528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KCL:</a:t>
            </a:r>
            <a:r>
              <a:rPr lang="zh-TW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電流總合為</a:t>
            </a:r>
            <a:r>
              <a:rPr lang="en-US" altLang="zh-TW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endParaRPr lang="zh-TW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C90367E0-75D6-44DF-AF6D-0E384A359DAB}"/>
              </a:ext>
            </a:extLst>
          </p:cNvPr>
          <p:cNvSpPr txBox="1"/>
          <p:nvPr/>
        </p:nvSpPr>
        <p:spPr>
          <a:xfrm>
            <a:off x="5137336" y="1879603"/>
            <a:ext cx="3528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l-GR" altLang="zh-TW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α</a:t>
            </a:r>
            <a:r>
              <a:rPr lang="en-US" altLang="zh-TW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 </a:t>
            </a:r>
            <a:r>
              <a:rPr lang="en-US" altLang="zh-TW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Iβ</a:t>
            </a:r>
            <a:r>
              <a:rPr lang="zh-TW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  <a:r>
              <a:rPr lang="zh-TW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Ir</a:t>
            </a:r>
            <a:r>
              <a:rPr lang="zh-TW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  <a:r>
              <a:rPr lang="en-US" altLang="zh-TW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0</a:t>
            </a:r>
            <a:endParaRPr lang="zh-TW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1B42CDF0-073A-4292-8DDB-796FB9CC2D68}"/>
                  </a:ext>
                </a:extLst>
              </p:cNvPr>
              <p:cNvSpPr txBox="1"/>
              <p:nvPr/>
            </p:nvSpPr>
            <p:spPr>
              <a:xfrm>
                <a:off x="5137336" y="3416883"/>
                <a:ext cx="5541248" cy="810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3200" b="1" i="1" smtClean="0">
                            <a:solidFill>
                              <a:srgbClr val="7030A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3200" b="1" i="1" smtClean="0">
                            <a:solidFill>
                              <a:srgbClr val="7030A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𝑽𝒂</m:t>
                        </m:r>
                        <m:r>
                          <a:rPr lang="en-US" altLang="zh-TW" sz="3200" b="1" i="1" smtClean="0">
                            <a:solidFill>
                              <a:srgbClr val="7030A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altLang="zh-TW" sz="3200" b="1" i="1" smtClean="0">
                            <a:solidFill>
                              <a:srgbClr val="7030A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a:rPr lang="en-US" altLang="zh-TW" sz="3200" b="1" i="1" smtClean="0">
                            <a:solidFill>
                              <a:srgbClr val="7030A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𝟏𝟎</m:t>
                        </m:r>
                        <m:r>
                          <a:rPr lang="en-US" altLang="zh-TW" sz="3200" b="1" i="1" smtClean="0">
                            <a:solidFill>
                              <a:srgbClr val="7030A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𝒌</m:t>
                        </m:r>
                      </m:den>
                    </m:f>
                  </m:oMath>
                </a14:m>
                <a:r>
                  <a:rPr lang="zh-TW" altLang="en-US" sz="3200" b="1" dirty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US" altLang="zh-TW" sz="3200" b="1" dirty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US" altLang="zh-TW" sz="3200" b="1" dirty="0">
                    <a:solidFill>
                      <a:srgbClr val="00B05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3200" b="1" i="1" smtClean="0">
                            <a:solidFill>
                              <a:srgbClr val="00B05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3200" b="1" i="1">
                            <a:solidFill>
                              <a:srgbClr val="00B05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𝑽𝒂</m:t>
                        </m:r>
                        <m:r>
                          <a:rPr lang="en-US" altLang="zh-TW" sz="3200" b="1" i="1">
                            <a:solidFill>
                              <a:srgbClr val="00B05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US" altLang="zh-TW" sz="3200" b="1" i="1">
                            <a:solidFill>
                              <a:srgbClr val="00B05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𝟏𝟎</m:t>
                        </m:r>
                        <m:r>
                          <a:rPr lang="en-US" altLang="zh-TW" sz="3200" b="1" i="1">
                            <a:solidFill>
                              <a:srgbClr val="00B05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𝒌</m:t>
                        </m:r>
                      </m:den>
                    </m:f>
                  </m:oMath>
                </a14:m>
                <a:r>
                  <a:rPr lang="zh-TW" altLang="en-US" sz="3200" b="1" dirty="0">
                    <a:solidFill>
                      <a:srgbClr val="00B05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US" altLang="zh-TW" sz="32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3200" b="1" i="1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3200" b="1" i="1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𝑽𝒂</m:t>
                        </m:r>
                        <m:r>
                          <a:rPr lang="en-US" altLang="zh-TW" sz="3200" b="1" i="1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3200" b="1" i="1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altLang="zh-TW" sz="3200" b="1" i="1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US" altLang="zh-TW" sz="3200" b="1" i="1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𝟏𝟎𝟎</m:t>
                        </m:r>
                        <m:r>
                          <a:rPr lang="en-US" altLang="zh-TW" sz="3200" b="1" i="1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𝒌</m:t>
                        </m:r>
                      </m:den>
                    </m:f>
                  </m:oMath>
                </a14:m>
                <a:r>
                  <a:rPr lang="zh-TW" altLang="en-US" sz="32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US" altLang="zh-TW" sz="3200" b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= 0</a:t>
                </a:r>
                <a:r>
                  <a:rPr lang="zh-TW" altLang="en-US" sz="3200" b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endParaRPr lang="zh-TW" altLang="en-US" sz="3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1B42CDF0-073A-4292-8DDB-796FB9CC2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7336" y="3416883"/>
                <a:ext cx="5541248" cy="810991"/>
              </a:xfrm>
              <a:prstGeom prst="rect">
                <a:avLst/>
              </a:prstGeom>
              <a:blipFill>
                <a:blip r:embed="rId3"/>
                <a:stretch>
                  <a:fillRect b="-172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字方塊 22">
            <a:extLst>
              <a:ext uri="{FF2B5EF4-FFF2-40B4-BE49-F238E27FC236}">
                <a16:creationId xmlns:a16="http://schemas.microsoft.com/office/drawing/2014/main" id="{F61975A9-6372-44E1-8DBF-8E9C908519F7}"/>
              </a:ext>
            </a:extLst>
          </p:cNvPr>
          <p:cNvSpPr txBox="1"/>
          <p:nvPr/>
        </p:nvSpPr>
        <p:spPr>
          <a:xfrm>
            <a:off x="5137336" y="4455178"/>
            <a:ext cx="640871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10Va</a:t>
            </a:r>
            <a:r>
              <a:rPr lang="en-US" altLang="zh-TW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 50</a:t>
            </a:r>
            <a:r>
              <a:rPr lang="en-US" altLang="zh-TW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+ 10Va </a:t>
            </a:r>
            <a:r>
              <a:rPr lang="en-US" altLang="zh-TW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 </a:t>
            </a:r>
            <a:r>
              <a:rPr lang="en-US" altLang="zh-TW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</a:t>
            </a:r>
            <a:r>
              <a:rPr lang="en-US" altLang="zh-TW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-5 </a:t>
            </a:r>
            <a:r>
              <a:rPr lang="en-US" altLang="zh-TW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=0</a:t>
            </a:r>
          </a:p>
          <a:p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21Va = 55</a:t>
            </a:r>
          </a:p>
          <a:p>
            <a:r>
              <a:rPr lang="en-US" altLang="zh-TW" sz="28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</a:t>
            </a:r>
            <a:r>
              <a:rPr lang="en-US" altLang="zh-TW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2.619 V</a:t>
            </a:r>
            <a:endParaRPr lang="zh-TW" altLang="en-US" sz="2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B7D56B21-55D9-472A-8CFD-FEA958E6920F}"/>
              </a:ext>
            </a:extLst>
          </p:cNvPr>
          <p:cNvSpPr txBox="1"/>
          <p:nvPr/>
        </p:nvSpPr>
        <p:spPr>
          <a:xfrm>
            <a:off x="4628624" y="2704748"/>
            <a:ext cx="3528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歐姆定律</a:t>
            </a:r>
            <a:r>
              <a:rPr lang="en-US" altLang="zh-TW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zh-TW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 = V/R</a:t>
            </a:r>
            <a:endParaRPr lang="zh-TW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242487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3659B9-7282-48AC-B8A1-5A35C81C2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重疊定理</a:t>
            </a:r>
            <a:r>
              <a:rPr lang="en-US" altLang="zh-TW" dirty="0"/>
              <a:t>(</a:t>
            </a:r>
            <a:r>
              <a:rPr lang="zh-TW" altLang="en-US" dirty="0"/>
              <a:t>理論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A31FD58-9E39-4873-BB56-2813157B5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85" y="2276463"/>
            <a:ext cx="2953162" cy="2000529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60786886-B474-4DB7-811E-048EB9CF8DD6}"/>
              </a:ext>
            </a:extLst>
          </p:cNvPr>
          <p:cNvSpPr txBox="1"/>
          <p:nvPr/>
        </p:nvSpPr>
        <p:spPr>
          <a:xfrm>
            <a:off x="1178206" y="1595656"/>
            <a:ext cx="212852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dirty="0"/>
              <a:t>保留左方電壓源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D82D81B-E513-459C-8C08-7DB8CE4B7F8E}"/>
              </a:ext>
            </a:extLst>
          </p:cNvPr>
          <p:cNvSpPr txBox="1"/>
          <p:nvPr/>
        </p:nvSpPr>
        <p:spPr>
          <a:xfrm>
            <a:off x="487979" y="4713863"/>
            <a:ext cx="429917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Va1= 5x (10/(10//100+10))</a:t>
            </a:r>
          </a:p>
          <a:p>
            <a:r>
              <a:rPr lang="en-US" altLang="zh-TW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=5x(9.091/(9.091+10))</a:t>
            </a:r>
          </a:p>
          <a:p>
            <a:r>
              <a:rPr lang="en-US" altLang="zh-TW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=2.381V</a:t>
            </a:r>
            <a:endParaRPr lang="zh-TW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AE0FD3F-72BC-42D6-8857-2F7892CF7E4A}"/>
              </a:ext>
            </a:extLst>
          </p:cNvPr>
          <p:cNvSpPr txBox="1"/>
          <p:nvPr/>
        </p:nvSpPr>
        <p:spPr>
          <a:xfrm>
            <a:off x="2115671" y="2414430"/>
            <a:ext cx="67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Va1</a:t>
            </a:r>
            <a:endParaRPr lang="zh-TW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7B5684F-C4E8-4366-AB41-1531666EE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2031" y="2139085"/>
            <a:ext cx="3010320" cy="2181529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70ED3051-055F-4639-AC53-7A77A28A0DCD}"/>
              </a:ext>
            </a:extLst>
          </p:cNvPr>
          <p:cNvSpPr txBox="1"/>
          <p:nvPr/>
        </p:nvSpPr>
        <p:spPr>
          <a:xfrm>
            <a:off x="5592931" y="1506022"/>
            <a:ext cx="212852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dirty="0"/>
              <a:t>保留右方電壓源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C75D5C2-96A7-47E4-87C6-45B3B5C70641}"/>
              </a:ext>
            </a:extLst>
          </p:cNvPr>
          <p:cNvSpPr txBox="1"/>
          <p:nvPr/>
        </p:nvSpPr>
        <p:spPr>
          <a:xfrm>
            <a:off x="6321014" y="2276463"/>
            <a:ext cx="67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Va2</a:t>
            </a:r>
            <a:endParaRPr lang="zh-TW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D213B36-2B2C-499B-8CA5-53C418713B7F}"/>
              </a:ext>
            </a:extLst>
          </p:cNvPr>
          <p:cNvSpPr txBox="1"/>
          <p:nvPr/>
        </p:nvSpPr>
        <p:spPr>
          <a:xfrm>
            <a:off x="5016948" y="5343656"/>
            <a:ext cx="42991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Va2= 5x (5/(5+100))</a:t>
            </a:r>
          </a:p>
          <a:p>
            <a:r>
              <a:rPr lang="en-US" altLang="zh-TW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=0.238V</a:t>
            </a:r>
            <a:endParaRPr lang="zh-TW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649C77A-953E-4A88-8118-2500CEDAA24D}"/>
              </a:ext>
            </a:extLst>
          </p:cNvPr>
          <p:cNvSpPr txBox="1"/>
          <p:nvPr/>
        </p:nvSpPr>
        <p:spPr>
          <a:xfrm>
            <a:off x="5016948" y="4601877"/>
            <a:ext cx="4299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10k//10k=5k</a:t>
            </a:r>
            <a:endParaRPr lang="zh-TW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1D0981D-B9C9-458D-A792-ED2D4994ABE7}"/>
              </a:ext>
            </a:extLst>
          </p:cNvPr>
          <p:cNvSpPr txBox="1"/>
          <p:nvPr/>
        </p:nvSpPr>
        <p:spPr>
          <a:xfrm>
            <a:off x="8798560" y="1852961"/>
            <a:ext cx="3393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重疊定理，線性疊加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38BDF5C-50FF-4640-9F7B-EC57A7F24CED}"/>
              </a:ext>
            </a:extLst>
          </p:cNvPr>
          <p:cNvSpPr txBox="1"/>
          <p:nvPr/>
        </p:nvSpPr>
        <p:spPr>
          <a:xfrm>
            <a:off x="8798560" y="1330482"/>
            <a:ext cx="212852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dirty="0"/>
              <a:t>重疊定理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7476E7F-11E0-45F0-AF32-0659FFBBABF6}"/>
              </a:ext>
            </a:extLst>
          </p:cNvPr>
          <p:cNvSpPr txBox="1"/>
          <p:nvPr/>
        </p:nvSpPr>
        <p:spPr>
          <a:xfrm>
            <a:off x="8862807" y="2462635"/>
            <a:ext cx="429917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</a:t>
            </a:r>
            <a:r>
              <a:rPr lang="en-US" altLang="zh-TW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Va1 + Va2</a:t>
            </a:r>
          </a:p>
          <a:p>
            <a:r>
              <a:rPr lang="en-US" altLang="zh-TW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=2.381 + 0.238</a:t>
            </a:r>
          </a:p>
          <a:p>
            <a:r>
              <a:rPr lang="en-US" altLang="zh-TW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=2.619 V</a:t>
            </a:r>
            <a:endParaRPr lang="zh-TW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774553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0F521D-BC16-4A90-97C6-D1C7B8244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TW" altLang="en-US" dirty="0"/>
              <a:t>電阻網路分析</a:t>
            </a:r>
            <a:br>
              <a:rPr lang="en-US" altLang="zh-TW" dirty="0"/>
            </a:br>
            <a:r>
              <a:rPr lang="zh-TW" altLang="en-US" dirty="0"/>
              <a:t>重疊定理 </a:t>
            </a:r>
            <a:r>
              <a:rPr lang="en-US" altLang="zh-TW" dirty="0"/>
              <a:t>1</a:t>
            </a: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129F8B5-4059-4E2B-B99B-C966D56D2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20" y="3002605"/>
            <a:ext cx="2953162" cy="2000529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0A254D36-F96F-47D5-B567-905A7E340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8360" y="3002605"/>
            <a:ext cx="3010320" cy="218152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43317F9-B84B-4BA5-A0DF-03684CE739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9720" y="3002605"/>
            <a:ext cx="3315163" cy="214342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01746390-9FF1-4265-AD4C-FF781CE7EC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0010" y="5334929"/>
            <a:ext cx="1114581" cy="333422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2429D645-8183-4447-9852-AC3B0B2F93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6753" y="5334929"/>
            <a:ext cx="1105054" cy="400106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A153DD85-E5C3-4F80-934F-F12E5BDD8FCE}"/>
              </a:ext>
            </a:extLst>
          </p:cNvPr>
          <p:cNvSpPr txBox="1"/>
          <p:nvPr/>
        </p:nvSpPr>
        <p:spPr>
          <a:xfrm>
            <a:off x="559641" y="2321798"/>
            <a:ext cx="212852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dirty="0"/>
              <a:t>保留左方電壓源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1E97FBC-FC9A-4773-B101-DC46225B90C2}"/>
              </a:ext>
            </a:extLst>
          </p:cNvPr>
          <p:cNvSpPr txBox="1"/>
          <p:nvPr/>
        </p:nvSpPr>
        <p:spPr>
          <a:xfrm>
            <a:off x="4239260" y="2369542"/>
            <a:ext cx="212852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dirty="0"/>
              <a:t>保留右方電壓源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F92D4BF-374D-42CD-B378-744E08321D12}"/>
              </a:ext>
            </a:extLst>
          </p:cNvPr>
          <p:cNvSpPr txBox="1"/>
          <p:nvPr/>
        </p:nvSpPr>
        <p:spPr>
          <a:xfrm>
            <a:off x="8087360" y="2159390"/>
            <a:ext cx="3393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模擬重疊定理，把個別電壓累加</a:t>
            </a:r>
            <a:endParaRPr lang="en-US" altLang="zh-TW" dirty="0"/>
          </a:p>
          <a:p>
            <a:r>
              <a:rPr lang="en-US" altLang="zh-TW" dirty="0"/>
              <a:t>V=2.381 + 0.238=2.619V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6088544-C25A-4B2C-9EB7-1CC87A2D360A}"/>
              </a:ext>
            </a:extLst>
          </p:cNvPr>
          <p:cNvSpPr txBox="1"/>
          <p:nvPr/>
        </p:nvSpPr>
        <p:spPr>
          <a:xfrm>
            <a:off x="8087360" y="1636911"/>
            <a:ext cx="212852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dirty="0"/>
              <a:t>重疊定理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6C5F83E-90CE-477F-BE50-30A41F78CC64}"/>
              </a:ext>
            </a:extLst>
          </p:cNvPr>
          <p:cNvSpPr/>
          <p:nvPr/>
        </p:nvSpPr>
        <p:spPr>
          <a:xfrm>
            <a:off x="8713443" y="843240"/>
            <a:ext cx="18902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理論計算</a:t>
            </a:r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:2.619 V</a:t>
            </a:r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61F276-3566-45C9-987E-88682CE958F1}"/>
              </a:ext>
            </a:extLst>
          </p:cNvPr>
          <p:cNvSpPr/>
          <p:nvPr/>
        </p:nvSpPr>
        <p:spPr>
          <a:xfrm>
            <a:off x="7450350" y="5299019"/>
            <a:ext cx="1569660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TW" altLang="en-US" dirty="0"/>
              <a:t>完整電路模擬</a:t>
            </a:r>
          </a:p>
        </p:txBody>
      </p:sp>
    </p:spTree>
    <p:extLst>
      <p:ext uri="{BB962C8B-B14F-4D97-AF65-F5344CB8AC3E}">
        <p14:creationId xmlns:p14="http://schemas.microsoft.com/office/powerpoint/2010/main" val="18288105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0374605D-15C4-4815-94CD-73E98DD6AD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47850" y="692151"/>
            <a:ext cx="8135938" cy="720725"/>
          </a:xfrm>
        </p:spPr>
        <p:txBody>
          <a:bodyPr/>
          <a:lstStyle/>
          <a:p>
            <a:pPr eaLnBrk="1" hangingPunct="1"/>
            <a:r>
              <a:rPr lang="zh-TW" altLang="en-US" dirty="0">
                <a:ea typeface="微軟正黑體" panose="020B0604030504040204" pitchFamily="34" charset="-120"/>
              </a:rPr>
              <a:t>戴維寧定理 使用前題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6B6DD139-B892-4272-890B-D3C3893EA892}"/>
              </a:ext>
            </a:extLst>
          </p:cNvPr>
          <p:cNvSpPr txBox="1"/>
          <p:nvPr/>
        </p:nvSpPr>
        <p:spPr>
          <a:xfrm>
            <a:off x="2585864" y="3237072"/>
            <a:ext cx="7704856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TW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1:</a:t>
            </a:r>
            <a:r>
              <a:rPr lang="zh-TW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僅適用於</a:t>
            </a:r>
            <a:r>
              <a:rPr lang="zh-TW" altLang="en-US" sz="2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線性電路</a:t>
            </a:r>
            <a:r>
              <a:rPr lang="en-US" altLang="zh-TW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!!!(</a:t>
            </a:r>
            <a:r>
              <a:rPr lang="zh-TW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如同重疊定理</a:t>
            </a:r>
            <a:r>
              <a:rPr lang="en-US" altLang="zh-TW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algn="l"/>
            <a:endParaRPr lang="en-US" altLang="zh-TW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en-US" altLang="zh-TW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2:</a:t>
            </a:r>
            <a:r>
              <a:rPr lang="zh-TW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電路可以包含獨立電源或線性相依電源。若包含相依電源，其控制變數必須是電路中其他元件的電壓或電流，且關係為線性。</a:t>
            </a:r>
            <a:endParaRPr lang="en-US" altLang="zh-TW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endParaRPr lang="en-US" altLang="zh-TW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en-US" altLang="zh-TW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3:</a:t>
            </a:r>
            <a:r>
              <a:rPr lang="zh-TW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計算等效電阻</a:t>
            </a:r>
            <a:r>
              <a:rPr lang="en-US" altLang="zh-TW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zh-TW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電流源開路，電壓源短路</a:t>
            </a:r>
            <a:endParaRPr lang="en-US" altLang="zh-TW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endParaRPr lang="en-US" altLang="zh-TW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4:</a:t>
            </a:r>
            <a:r>
              <a:rPr lang="zh-TW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計算等效電阻</a:t>
            </a:r>
            <a:r>
              <a:rPr lang="en-US" altLang="zh-TW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zh-TW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等效電壓時，可使用過去所學電路分析</a:t>
            </a:r>
            <a:r>
              <a:rPr lang="en-US" altLang="zh-TW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zh-TW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廻路電流法、截點電壓法等</a:t>
            </a:r>
            <a:endParaRPr lang="en-US" altLang="zh-TW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endParaRPr lang="en-US" altLang="zh-TW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9E121E4-BAD7-4204-884E-41D84DAE3AAA}"/>
              </a:ext>
            </a:extLst>
          </p:cNvPr>
          <p:cNvSpPr/>
          <p:nvPr/>
        </p:nvSpPr>
        <p:spPr>
          <a:xfrm>
            <a:off x="2057058" y="1409328"/>
            <a:ext cx="646246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TW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電路中的所有元件必須遵守線性（</a:t>
            </a:r>
            <a:r>
              <a:rPr lang="en-US" altLang="zh-TW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Linear</a:t>
            </a:r>
            <a:r>
              <a:rPr lang="zh-TW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）與非時變（</a:t>
            </a:r>
            <a:r>
              <a:rPr lang="en-US" altLang="zh-TW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Time-invariant</a:t>
            </a:r>
            <a:r>
              <a:rPr lang="zh-TW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）原則。此定理僅適用於這類系統，不適用於包含非線性元件（如二極體、電晶體）的電路。</a:t>
            </a:r>
          </a:p>
        </p:txBody>
      </p:sp>
    </p:spTree>
    <p:extLst>
      <p:ext uri="{BB962C8B-B14F-4D97-AF65-F5344CB8AC3E}">
        <p14:creationId xmlns:p14="http://schemas.microsoft.com/office/powerpoint/2010/main" val="20741088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A07676EF-03F2-4B53-8B5B-3428048015B7}"/>
              </a:ext>
            </a:extLst>
          </p:cNvPr>
          <p:cNvSpPr/>
          <p:nvPr/>
        </p:nvSpPr>
        <p:spPr>
          <a:xfrm>
            <a:off x="224559" y="4322320"/>
            <a:ext cx="11859865" cy="251744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143EB0DF-8750-4C8B-BF52-16C57D384F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66"/>
          <a:stretch/>
        </p:blipFill>
        <p:spPr>
          <a:xfrm>
            <a:off x="107576" y="2146212"/>
            <a:ext cx="3876004" cy="2176108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FDCBD82E-15EC-4134-A2DA-DF3491D03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255" y="14053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載維寧等效電路求解法</a:t>
            </a:r>
            <a:br>
              <a:rPr lang="en-US" altLang="zh-TW" dirty="0"/>
            </a:br>
            <a:r>
              <a:rPr lang="zh-TW" altLang="en-US" dirty="0"/>
              <a:t>算</a:t>
            </a:r>
            <a:r>
              <a:rPr lang="en-US" altLang="zh-TW" dirty="0" err="1"/>
              <a:t>Rth</a:t>
            </a:r>
            <a:r>
              <a:rPr lang="zh-TW" altLang="en-US" dirty="0"/>
              <a:t>與</a:t>
            </a:r>
            <a:r>
              <a:rPr lang="en-US" altLang="zh-TW" dirty="0"/>
              <a:t>Vth</a:t>
            </a:r>
            <a:br>
              <a:rPr lang="en-US" altLang="zh-TW" dirty="0"/>
            </a:br>
            <a:r>
              <a:rPr lang="zh-TW" altLang="en-US" dirty="0"/>
              <a:t>量測，接好要叫老師</a:t>
            </a:r>
            <a:r>
              <a:rPr lang="en-US" altLang="zh-TW" dirty="0"/>
              <a:t>/</a:t>
            </a:r>
            <a:r>
              <a:rPr lang="zh-TW" altLang="en-US" dirty="0"/>
              <a:t>小老師檢查</a:t>
            </a:r>
          </a:p>
        </p:txBody>
      </p:sp>
      <p:sp>
        <p:nvSpPr>
          <p:cNvPr id="5" name="箭號: 向右 4">
            <a:extLst>
              <a:ext uri="{FF2B5EF4-FFF2-40B4-BE49-F238E27FC236}">
                <a16:creationId xmlns:a16="http://schemas.microsoft.com/office/drawing/2014/main" id="{FF723775-968C-4CD0-AC78-9603B782DC10}"/>
              </a:ext>
            </a:extLst>
          </p:cNvPr>
          <p:cNvSpPr/>
          <p:nvPr/>
        </p:nvSpPr>
        <p:spPr>
          <a:xfrm rot="19962190">
            <a:off x="4014957" y="2375645"/>
            <a:ext cx="2545976" cy="5737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0E8692B-493B-4640-B234-5319F586CC53}"/>
              </a:ext>
            </a:extLst>
          </p:cNvPr>
          <p:cNvSpPr/>
          <p:nvPr/>
        </p:nvSpPr>
        <p:spPr>
          <a:xfrm>
            <a:off x="4361088" y="1690688"/>
            <a:ext cx="9268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Rth</a:t>
            </a:r>
            <a:endParaRPr lang="zh-TW" altLang="en-US" sz="4000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810E0717-53F8-4C7B-AD78-E8E93BF78F6F}"/>
              </a:ext>
            </a:extLst>
          </p:cNvPr>
          <p:cNvSpPr/>
          <p:nvPr/>
        </p:nvSpPr>
        <p:spPr>
          <a:xfrm>
            <a:off x="1975476" y="2678869"/>
            <a:ext cx="125505" cy="13843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14DC631-11BA-4A3A-9883-25F2B188E3F5}"/>
              </a:ext>
            </a:extLst>
          </p:cNvPr>
          <p:cNvSpPr/>
          <p:nvPr/>
        </p:nvSpPr>
        <p:spPr>
          <a:xfrm>
            <a:off x="1982825" y="3654383"/>
            <a:ext cx="125505" cy="13843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E352C7BE-41AA-4929-A9BE-0E59F9F32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2808" y="549914"/>
            <a:ext cx="3920404" cy="1879516"/>
          </a:xfrm>
          <a:prstGeom prst="rect">
            <a:avLst/>
          </a:prstGeom>
        </p:spPr>
      </p:pic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F9520157-B25E-4B0E-9E82-71CF22D3A149}"/>
              </a:ext>
            </a:extLst>
          </p:cNvPr>
          <p:cNvSpPr/>
          <p:nvPr/>
        </p:nvSpPr>
        <p:spPr>
          <a:xfrm rot="1720966">
            <a:off x="3954490" y="4596579"/>
            <a:ext cx="2545976" cy="5737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F7C8F391-80D0-47C3-A243-9D763994EA4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4516"/>
          <a:stretch/>
        </p:blipFill>
        <p:spPr>
          <a:xfrm>
            <a:off x="6643351" y="4667135"/>
            <a:ext cx="3222010" cy="1827815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78881CAF-046A-4464-BAF6-FC41EC88E52D}"/>
              </a:ext>
            </a:extLst>
          </p:cNvPr>
          <p:cNvSpPr/>
          <p:nvPr/>
        </p:nvSpPr>
        <p:spPr>
          <a:xfrm>
            <a:off x="8228714" y="4640374"/>
            <a:ext cx="5245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Vth</a:t>
            </a:r>
            <a:endParaRPr lang="zh-TW" altLang="en-US" dirty="0"/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659593CC-F5BF-4BB3-A3E8-C76D79237057}"/>
              </a:ext>
            </a:extLst>
          </p:cNvPr>
          <p:cNvCxnSpPr>
            <a:cxnSpLocks/>
          </p:cNvCxnSpPr>
          <p:nvPr/>
        </p:nvCxnSpPr>
        <p:spPr>
          <a:xfrm>
            <a:off x="3015150" y="3234266"/>
            <a:ext cx="23778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BDAAE0A3-852E-4F60-B3A9-BB79180EBB48}"/>
              </a:ext>
            </a:extLst>
          </p:cNvPr>
          <p:cNvCxnSpPr>
            <a:cxnSpLocks/>
          </p:cNvCxnSpPr>
          <p:nvPr/>
        </p:nvCxnSpPr>
        <p:spPr>
          <a:xfrm>
            <a:off x="9050190" y="5571066"/>
            <a:ext cx="23778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14B7F299-E326-4FB8-9DAA-A0B7455B2F31}"/>
              </a:ext>
            </a:extLst>
          </p:cNvPr>
          <p:cNvSpPr/>
          <p:nvPr/>
        </p:nvSpPr>
        <p:spPr>
          <a:xfrm>
            <a:off x="4732904" y="3905663"/>
            <a:ext cx="9412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Vth</a:t>
            </a:r>
            <a:endParaRPr lang="zh-TW" altLang="en-US" sz="40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BF35798-0FCA-458F-A9C6-4144329DD824}"/>
              </a:ext>
            </a:extLst>
          </p:cNvPr>
          <p:cNvSpPr/>
          <p:nvPr/>
        </p:nvSpPr>
        <p:spPr>
          <a:xfrm>
            <a:off x="6290994" y="2511774"/>
            <a:ext cx="533204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800" dirty="0"/>
              <a:t>以左圖橙色二點截開</a:t>
            </a:r>
            <a:endParaRPr lang="en-US" altLang="zh-TW" sz="2800" dirty="0"/>
          </a:p>
          <a:p>
            <a:r>
              <a:rPr lang="zh-TW" altLang="en-US" sz="2800" dirty="0"/>
              <a:t>求</a:t>
            </a:r>
            <a:endParaRPr lang="en-US" altLang="zh-TW" sz="2800" dirty="0"/>
          </a:p>
          <a:p>
            <a:r>
              <a:rPr lang="en-US" altLang="zh-TW" sz="2800" dirty="0" err="1"/>
              <a:t>Rth</a:t>
            </a:r>
            <a:r>
              <a:rPr lang="en-US" altLang="zh-TW" sz="2800" dirty="0"/>
              <a:t> = _____(</a:t>
            </a:r>
            <a:r>
              <a:rPr lang="zh-TW" altLang="en-US" sz="2800" dirty="0"/>
              <a:t>理論</a:t>
            </a:r>
            <a:r>
              <a:rPr lang="en-US" altLang="zh-TW" sz="2800" dirty="0"/>
              <a:t>)</a:t>
            </a:r>
            <a:r>
              <a:rPr lang="zh-TW" altLang="en-US" sz="2800" dirty="0"/>
              <a:t>，</a:t>
            </a:r>
            <a:r>
              <a:rPr lang="en-US" altLang="zh-TW" sz="2800" dirty="0"/>
              <a:t>_____(</a:t>
            </a:r>
            <a:r>
              <a:rPr lang="zh-TW" altLang="en-US" sz="2800" dirty="0"/>
              <a:t>量測</a:t>
            </a:r>
            <a:r>
              <a:rPr lang="en-US" altLang="zh-TW" sz="2800" dirty="0"/>
              <a:t>)</a:t>
            </a:r>
          </a:p>
          <a:p>
            <a:r>
              <a:rPr lang="en-US" altLang="zh-TW" sz="2800" dirty="0"/>
              <a:t>Vth = _____(</a:t>
            </a:r>
            <a:r>
              <a:rPr lang="zh-TW" altLang="en-US" sz="2800" dirty="0"/>
              <a:t>理論</a:t>
            </a:r>
            <a:r>
              <a:rPr lang="en-US" altLang="zh-TW" sz="2800" dirty="0"/>
              <a:t>)</a:t>
            </a:r>
            <a:r>
              <a:rPr lang="zh-TW" altLang="en-US" sz="2800" dirty="0"/>
              <a:t>，</a:t>
            </a:r>
            <a:r>
              <a:rPr lang="en-US" altLang="zh-TW" sz="2800" dirty="0"/>
              <a:t>_____(</a:t>
            </a:r>
            <a:r>
              <a:rPr lang="zh-TW" altLang="en-US" sz="2800" dirty="0"/>
              <a:t>量測</a:t>
            </a:r>
            <a:r>
              <a:rPr lang="en-US" altLang="zh-TW" sz="2800" dirty="0"/>
              <a:t>)</a:t>
            </a:r>
            <a:endParaRPr lang="zh-TW" altLang="en-US" sz="28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5D39C5D-1207-4C35-9134-486746417FB5}"/>
              </a:ext>
            </a:extLst>
          </p:cNvPr>
          <p:cNvSpPr/>
          <p:nvPr/>
        </p:nvSpPr>
        <p:spPr>
          <a:xfrm>
            <a:off x="8904924" y="1479482"/>
            <a:ext cx="528320" cy="29264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F05BC05-76ED-435A-BE37-AA2F4DEEF566}"/>
              </a:ext>
            </a:extLst>
          </p:cNvPr>
          <p:cNvSpPr/>
          <p:nvPr/>
        </p:nvSpPr>
        <p:spPr>
          <a:xfrm>
            <a:off x="8514121" y="5613313"/>
            <a:ext cx="865574" cy="4572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AB71CE2-77D6-4B4A-9A79-C49A79C15EF6}"/>
              </a:ext>
            </a:extLst>
          </p:cNvPr>
          <p:cNvSpPr/>
          <p:nvPr/>
        </p:nvSpPr>
        <p:spPr>
          <a:xfrm>
            <a:off x="10246468" y="1434369"/>
            <a:ext cx="1102252" cy="5003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F36F1D0-9E01-46AF-9C16-0FD38358A34E}"/>
              </a:ext>
            </a:extLst>
          </p:cNvPr>
          <p:cNvSpPr/>
          <p:nvPr/>
        </p:nvSpPr>
        <p:spPr>
          <a:xfrm>
            <a:off x="8417610" y="5051952"/>
            <a:ext cx="865574" cy="2389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455912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A07676EF-03F2-4B53-8B5B-3428048015B7}"/>
              </a:ext>
            </a:extLst>
          </p:cNvPr>
          <p:cNvSpPr/>
          <p:nvPr/>
        </p:nvSpPr>
        <p:spPr>
          <a:xfrm>
            <a:off x="224559" y="4322320"/>
            <a:ext cx="11859865" cy="251744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143EB0DF-8750-4C8B-BF52-16C57D384F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66"/>
          <a:stretch/>
        </p:blipFill>
        <p:spPr>
          <a:xfrm>
            <a:off x="107576" y="2146212"/>
            <a:ext cx="3876004" cy="2176108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FDCBD82E-15EC-4134-A2DA-DF3491D03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載維寧等效電路求解法</a:t>
            </a:r>
            <a:br>
              <a:rPr lang="en-US" altLang="zh-TW" dirty="0"/>
            </a:br>
            <a:r>
              <a:rPr lang="zh-TW" altLang="en-US" dirty="0"/>
              <a:t>算</a:t>
            </a:r>
            <a:r>
              <a:rPr lang="en-US" altLang="zh-TW" dirty="0" err="1"/>
              <a:t>Rth</a:t>
            </a:r>
            <a:r>
              <a:rPr lang="zh-TW" altLang="en-US" dirty="0"/>
              <a:t>與</a:t>
            </a:r>
            <a:r>
              <a:rPr lang="en-US" altLang="zh-TW" dirty="0"/>
              <a:t>Vth</a:t>
            </a:r>
            <a:endParaRPr lang="zh-TW" altLang="en-US" dirty="0"/>
          </a:p>
        </p:txBody>
      </p:sp>
      <p:sp>
        <p:nvSpPr>
          <p:cNvPr id="5" name="箭號: 向右 4">
            <a:extLst>
              <a:ext uri="{FF2B5EF4-FFF2-40B4-BE49-F238E27FC236}">
                <a16:creationId xmlns:a16="http://schemas.microsoft.com/office/drawing/2014/main" id="{FF723775-968C-4CD0-AC78-9603B782DC10}"/>
              </a:ext>
            </a:extLst>
          </p:cNvPr>
          <p:cNvSpPr/>
          <p:nvPr/>
        </p:nvSpPr>
        <p:spPr>
          <a:xfrm rot="19962190">
            <a:off x="4014957" y="2375645"/>
            <a:ext cx="2545976" cy="5737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0E8692B-493B-4640-B234-5319F586CC53}"/>
              </a:ext>
            </a:extLst>
          </p:cNvPr>
          <p:cNvSpPr/>
          <p:nvPr/>
        </p:nvSpPr>
        <p:spPr>
          <a:xfrm>
            <a:off x="4361088" y="1690688"/>
            <a:ext cx="9268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Rth</a:t>
            </a:r>
            <a:endParaRPr lang="zh-TW" altLang="en-US" sz="4000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810E0717-53F8-4C7B-AD78-E8E93BF78F6F}"/>
              </a:ext>
            </a:extLst>
          </p:cNvPr>
          <p:cNvSpPr/>
          <p:nvPr/>
        </p:nvSpPr>
        <p:spPr>
          <a:xfrm>
            <a:off x="1975476" y="2678869"/>
            <a:ext cx="125505" cy="13843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14DC631-11BA-4A3A-9883-25F2B188E3F5}"/>
              </a:ext>
            </a:extLst>
          </p:cNvPr>
          <p:cNvSpPr/>
          <p:nvPr/>
        </p:nvSpPr>
        <p:spPr>
          <a:xfrm>
            <a:off x="1982825" y="3654383"/>
            <a:ext cx="125505" cy="13843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E352C7BE-41AA-4929-A9BE-0E59F9F32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2808" y="549914"/>
            <a:ext cx="3920404" cy="1879516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000D4B93-65E4-4616-9908-ACCD3A5473DD}"/>
              </a:ext>
            </a:extLst>
          </p:cNvPr>
          <p:cNvSpPr txBox="1"/>
          <p:nvPr/>
        </p:nvSpPr>
        <p:spPr>
          <a:xfrm>
            <a:off x="6592310" y="2614219"/>
            <a:ext cx="56925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/>
              <a:t>理論</a:t>
            </a:r>
            <a:r>
              <a:rPr lang="en-US" altLang="zh-TW" sz="2400" dirty="0"/>
              <a:t>:</a:t>
            </a:r>
          </a:p>
          <a:p>
            <a:r>
              <a:rPr lang="en-US" altLang="zh-TW" sz="2400" dirty="0" err="1"/>
              <a:t>Rth</a:t>
            </a:r>
            <a:r>
              <a:rPr lang="en-US" altLang="zh-TW" sz="2400" dirty="0"/>
              <a:t> = 10k//100k = 10kx100k/(10k+100k)=9.0909k</a:t>
            </a:r>
            <a:endParaRPr lang="zh-TW" altLang="en-US" sz="2400" dirty="0"/>
          </a:p>
        </p:txBody>
      </p:sp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F9520157-B25E-4B0E-9E82-71CF22D3A149}"/>
              </a:ext>
            </a:extLst>
          </p:cNvPr>
          <p:cNvSpPr/>
          <p:nvPr/>
        </p:nvSpPr>
        <p:spPr>
          <a:xfrm rot="1720966">
            <a:off x="3954490" y="4596579"/>
            <a:ext cx="2545976" cy="5737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0F2889D-096B-4D32-857F-537F33E926FF}"/>
              </a:ext>
            </a:extLst>
          </p:cNvPr>
          <p:cNvSpPr/>
          <p:nvPr/>
        </p:nvSpPr>
        <p:spPr>
          <a:xfrm>
            <a:off x="628369" y="4450085"/>
            <a:ext cx="208262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Vth </a:t>
            </a:r>
            <a:r>
              <a:rPr lang="zh-TW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計算</a:t>
            </a:r>
            <a:endParaRPr lang="zh-TW" altLang="en-US" sz="4000" dirty="0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F7C8F391-80D0-47C3-A243-9D763994EA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350" y="4667135"/>
            <a:ext cx="4920281" cy="1827815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78881CAF-046A-4464-BAF6-FC41EC88E52D}"/>
              </a:ext>
            </a:extLst>
          </p:cNvPr>
          <p:cNvSpPr/>
          <p:nvPr/>
        </p:nvSpPr>
        <p:spPr>
          <a:xfrm>
            <a:off x="8228714" y="4640374"/>
            <a:ext cx="5245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Vth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DD3E87C6-6BAD-441B-9350-E0721A8204F4}"/>
                  </a:ext>
                </a:extLst>
              </p:cNvPr>
              <p:cNvSpPr txBox="1"/>
              <p:nvPr/>
            </p:nvSpPr>
            <p:spPr>
              <a:xfrm>
                <a:off x="329003" y="5176021"/>
                <a:ext cx="5541248" cy="7234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8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𝑉𝑡h</m:t>
                        </m:r>
                        <m:r>
                          <a:rPr lang="en-US" altLang="zh-TW" sz="2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−5</m:t>
                        </m:r>
                      </m:num>
                      <m:den>
                        <m:r>
                          <a:rPr lang="en-US" altLang="zh-TW" sz="2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altLang="zh-TW" sz="2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lang="zh-TW" altLang="en-US" sz="2800" dirty="0">
                    <a:solidFill>
                      <a:srgbClr val="7030A0"/>
                    </a:solidFill>
                  </a:rPr>
                  <a:t> </a:t>
                </a:r>
                <a:r>
                  <a:rPr lang="en-US" altLang="zh-TW" sz="2800" dirty="0">
                    <a:solidFill>
                      <a:srgbClr val="7030A0"/>
                    </a:solidFill>
                  </a:rPr>
                  <a:t> </a:t>
                </a:r>
                <a:r>
                  <a:rPr lang="en-US" altLang="zh-TW" sz="2800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8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altLang="zh-TW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𝑡h</m:t>
                        </m:r>
                        <m:r>
                          <a:rPr lang="en-US" altLang="zh-TW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altLang="zh-TW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zh-TW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US" altLang="zh-TW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lang="zh-TW" altLang="en-US" sz="2800" dirty="0">
                    <a:solidFill>
                      <a:srgbClr val="7030A0"/>
                    </a:solidFill>
                  </a:rPr>
                  <a:t> </a:t>
                </a:r>
                <a:r>
                  <a:rPr lang="en-US" altLang="zh-TW" sz="2800" dirty="0">
                    <a:solidFill>
                      <a:schemeClr val="tx1"/>
                    </a:solidFill>
                  </a:rPr>
                  <a:t>= 0</a:t>
                </a:r>
                <a:r>
                  <a:rPr lang="zh-TW" altLang="en-US" sz="28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DD3E87C6-6BAD-441B-9350-E0721A820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003" y="5176021"/>
                <a:ext cx="5541248" cy="723468"/>
              </a:xfrm>
              <a:prstGeom prst="rect">
                <a:avLst/>
              </a:prstGeom>
              <a:blipFill>
                <a:blip r:embed="rId5"/>
                <a:stretch>
                  <a:fillRect b="-92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4A06C65C-683F-4286-B9E8-9CC78D770611}"/>
                  </a:ext>
                </a:extLst>
              </p:cNvPr>
              <p:cNvSpPr/>
              <p:nvPr/>
            </p:nvSpPr>
            <p:spPr>
              <a:xfrm>
                <a:off x="224559" y="6152663"/>
                <a:ext cx="36273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zh-TW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𝑉𝑡h</m:t>
                    </m:r>
                    <m:r>
                      <a:rPr lang="en-US" altLang="zh-TW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−50+</m:t>
                    </m:r>
                    <m:r>
                      <a:rPr lang="en-US" altLang="zh-TW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𝑉𝑡h</m:t>
                    </m:r>
                    <m:r>
                      <a:rPr lang="en-US" altLang="zh-TW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−3</m:t>
                    </m:r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=0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4A06C65C-683F-4286-B9E8-9CC78D7706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559" y="6152663"/>
                <a:ext cx="3627340" cy="461665"/>
              </a:xfrm>
              <a:prstGeom prst="rect">
                <a:avLst/>
              </a:prstGeom>
              <a:blipFill>
                <a:blip r:embed="rId6"/>
                <a:stretch>
                  <a:fillRect l="-504" t="-10526" r="-1513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C4680DA3-07BB-4D51-A896-81A76E4AA6E7}"/>
                  </a:ext>
                </a:extLst>
              </p:cNvPr>
              <p:cNvSpPr/>
              <p:nvPr/>
            </p:nvSpPr>
            <p:spPr>
              <a:xfrm>
                <a:off x="3955186" y="5165782"/>
                <a:ext cx="1773178" cy="11606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TW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𝑡h</m:t>
                      </m:r>
                      <m:r>
                        <a:rPr lang="en-US" altLang="zh-TW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53</m:t>
                          </m:r>
                        </m:num>
                        <m:den>
                          <m:r>
                            <a:rPr lang="en-US" altLang="zh-TW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US" altLang="zh-TW" sz="2400" b="0" dirty="0">
                  <a:solidFill>
                    <a:srgbClr val="7030A0"/>
                  </a:solidFill>
                </a:endParaRPr>
              </a:p>
              <a:p>
                <a:endParaRPr lang="zh-TW" altLang="en-US" sz="24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C4680DA3-07BB-4D51-A896-81A76E4AA6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186" y="5165782"/>
                <a:ext cx="1773178" cy="116063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6A9365DF-DDFB-4897-9F21-047AA5FD72A1}"/>
                  </a:ext>
                </a:extLst>
              </p:cNvPr>
              <p:cNvSpPr/>
              <p:nvPr/>
            </p:nvSpPr>
            <p:spPr>
              <a:xfrm>
                <a:off x="4101370" y="6008812"/>
                <a:ext cx="2089033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TW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𝑡h</m:t>
                      </m:r>
                      <m:r>
                        <a:rPr lang="en-US" altLang="zh-TW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=4.818</m:t>
                      </m:r>
                      <m:r>
                        <a:rPr lang="en-US" altLang="zh-TW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altLang="zh-TW" sz="2400" b="0" dirty="0">
                  <a:solidFill>
                    <a:srgbClr val="7030A0"/>
                  </a:solidFill>
                </a:endParaRPr>
              </a:p>
              <a:p>
                <a:endParaRPr lang="zh-TW" altLang="en-US" sz="24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6A9365DF-DDFB-4897-9F21-047AA5FD72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1370" y="6008812"/>
                <a:ext cx="2089033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1AB12BBA-F591-4DDC-A93C-FD1684A01D49}"/>
              </a:ext>
            </a:extLst>
          </p:cNvPr>
          <p:cNvCxnSpPr>
            <a:cxnSpLocks/>
          </p:cNvCxnSpPr>
          <p:nvPr/>
        </p:nvCxnSpPr>
        <p:spPr>
          <a:xfrm>
            <a:off x="10624981" y="5730379"/>
            <a:ext cx="658231" cy="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ACF1557E-B044-401D-BF4B-5EF34BA19BFF}"/>
              </a:ext>
            </a:extLst>
          </p:cNvPr>
          <p:cNvCxnSpPr>
            <a:cxnSpLocks/>
          </p:cNvCxnSpPr>
          <p:nvPr/>
        </p:nvCxnSpPr>
        <p:spPr>
          <a:xfrm>
            <a:off x="5145886" y="6430030"/>
            <a:ext cx="834104" cy="1142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659593CC-F5BF-4BB3-A3E8-C76D79237057}"/>
              </a:ext>
            </a:extLst>
          </p:cNvPr>
          <p:cNvCxnSpPr>
            <a:cxnSpLocks/>
          </p:cNvCxnSpPr>
          <p:nvPr/>
        </p:nvCxnSpPr>
        <p:spPr>
          <a:xfrm>
            <a:off x="3015150" y="3234266"/>
            <a:ext cx="23778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CC6ED7AF-7419-4FF8-986E-447BBB49CAB5}"/>
              </a:ext>
            </a:extLst>
          </p:cNvPr>
          <p:cNvSpPr/>
          <p:nvPr/>
        </p:nvSpPr>
        <p:spPr>
          <a:xfrm>
            <a:off x="6306995" y="6213245"/>
            <a:ext cx="397416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唉，怎麼不同</a:t>
            </a:r>
            <a:r>
              <a:rPr lang="en-US" altLang="zh-TW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???</a:t>
            </a:r>
            <a:endParaRPr lang="zh-TW" altLang="en-US" sz="4000" dirty="0"/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43D99366-C5BB-4297-B9DC-AF0D6D25F6CC}"/>
              </a:ext>
            </a:extLst>
          </p:cNvPr>
          <p:cNvCxnSpPr/>
          <p:nvPr/>
        </p:nvCxnSpPr>
        <p:spPr>
          <a:xfrm flipH="1">
            <a:off x="6096000" y="5730379"/>
            <a:ext cx="4211782" cy="509244"/>
          </a:xfrm>
          <a:prstGeom prst="straightConnector1">
            <a:avLst/>
          </a:prstGeom>
          <a:ln w="762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EC28F0CB-3D71-4173-8E00-53658C001C08}"/>
              </a:ext>
            </a:extLst>
          </p:cNvPr>
          <p:cNvSpPr/>
          <p:nvPr/>
        </p:nvSpPr>
        <p:spPr>
          <a:xfrm>
            <a:off x="8102134" y="4004142"/>
            <a:ext cx="208262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Vth </a:t>
            </a:r>
            <a:r>
              <a:rPr lang="zh-TW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模擬</a:t>
            </a:r>
            <a:endParaRPr lang="zh-TW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9287225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圖片 16">
            <a:extLst>
              <a:ext uri="{FF2B5EF4-FFF2-40B4-BE49-F238E27FC236}">
                <a16:creationId xmlns:a16="http://schemas.microsoft.com/office/drawing/2014/main" id="{A4559BA7-CB27-4B6F-B1C7-8880E270E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41" y="2772343"/>
            <a:ext cx="5862702" cy="1500366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AAD47D00-C0A8-419A-B182-58B1149B6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理論與模擬的誤差</a:t>
            </a:r>
            <a:r>
              <a:rPr lang="en-US" altLang="zh-TW" dirty="0"/>
              <a:t>:</a:t>
            </a:r>
            <a:br>
              <a:rPr lang="en-US" altLang="zh-TW" sz="2800" dirty="0"/>
            </a:br>
            <a:r>
              <a:rPr lang="zh-TW" altLang="en-US" sz="2800" dirty="0"/>
              <a:t>電表</a:t>
            </a:r>
            <a:r>
              <a:rPr lang="en-US" altLang="zh-TW" sz="2800" dirty="0"/>
              <a:t>(</a:t>
            </a:r>
            <a:r>
              <a:rPr lang="zh-TW" altLang="en-US" sz="2800" dirty="0"/>
              <a:t>實際量測</a:t>
            </a:r>
            <a:r>
              <a:rPr lang="en-US" altLang="zh-TW" sz="2800" dirty="0"/>
              <a:t>)</a:t>
            </a:r>
            <a:r>
              <a:rPr lang="zh-TW" altLang="en-US" sz="2800" dirty="0"/>
              <a:t>使用的工具亦需要考量，電表內阻</a:t>
            </a:r>
            <a:r>
              <a:rPr lang="en-US" altLang="zh-TW" sz="2800" dirty="0"/>
              <a:t>10M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B53D781-F953-47B4-B03E-46C2C7A98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761" y="3023291"/>
            <a:ext cx="6285674" cy="15576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7F3DC2DA-390E-4525-AF59-5AEB50E5A47F}"/>
                  </a:ext>
                </a:extLst>
              </p:cNvPr>
              <p:cNvSpPr/>
              <p:nvPr/>
            </p:nvSpPr>
            <p:spPr>
              <a:xfrm>
                <a:off x="9838782" y="365125"/>
                <a:ext cx="2155526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TW" altLang="en-US" sz="2400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理論</a:t>
                </a:r>
                <a:r>
                  <a:rPr lang="en-US" altLang="zh-TW" sz="2400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TW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𝑡h</m:t>
                      </m:r>
                      <m:r>
                        <a:rPr lang="en-US" altLang="zh-TW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=4.818</m:t>
                      </m:r>
                      <m:r>
                        <a:rPr lang="en-US" altLang="zh-TW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altLang="zh-TW" sz="2400" b="0" dirty="0">
                  <a:solidFill>
                    <a:srgbClr val="7030A0"/>
                  </a:solidFill>
                </a:endParaRPr>
              </a:p>
              <a:p>
                <a:endParaRPr lang="zh-TW" altLang="en-US" sz="2400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7F3DC2DA-390E-4525-AF59-5AEB50E5A4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8782" y="365125"/>
                <a:ext cx="2155526" cy="1200329"/>
              </a:xfrm>
              <a:prstGeom prst="rect">
                <a:avLst/>
              </a:prstGeom>
              <a:blipFill>
                <a:blip r:embed="rId4"/>
                <a:stretch>
                  <a:fillRect l="-4520" t="-45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27CF1ADB-62E9-48AA-876C-2EFB2E120632}"/>
              </a:ext>
            </a:extLst>
          </p:cNvPr>
          <p:cNvSpPr txBox="1"/>
          <p:nvPr/>
        </p:nvSpPr>
        <p:spPr>
          <a:xfrm>
            <a:off x="986118" y="2126157"/>
            <a:ext cx="3074894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sz="2400" dirty="0"/>
              <a:t>模擬</a:t>
            </a:r>
            <a:r>
              <a:rPr lang="en-US" altLang="zh-TW" sz="2400" dirty="0"/>
              <a:t>:10M</a:t>
            </a:r>
            <a:r>
              <a:rPr lang="zh-TW" altLang="en-US" sz="2400" dirty="0"/>
              <a:t>內阻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84CD595-9F1F-48CC-97C2-0ADC533B0180}"/>
              </a:ext>
            </a:extLst>
          </p:cNvPr>
          <p:cNvSpPr txBox="1"/>
          <p:nvPr/>
        </p:nvSpPr>
        <p:spPr>
          <a:xfrm>
            <a:off x="7091083" y="2126157"/>
            <a:ext cx="3074894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sz="2400" dirty="0"/>
              <a:t>模擬</a:t>
            </a:r>
            <a:r>
              <a:rPr lang="en-US" altLang="zh-TW" sz="2400" dirty="0"/>
              <a:t>:</a:t>
            </a:r>
            <a:r>
              <a:rPr lang="zh-TW" altLang="en-US" sz="2400" dirty="0"/>
              <a:t>內阻無限大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F9E8DAAA-C10E-42BA-A974-A080A04CD7E0}"/>
              </a:ext>
            </a:extLst>
          </p:cNvPr>
          <p:cNvCxnSpPr>
            <a:cxnSpLocks/>
          </p:cNvCxnSpPr>
          <p:nvPr/>
        </p:nvCxnSpPr>
        <p:spPr>
          <a:xfrm>
            <a:off x="11353800" y="1210235"/>
            <a:ext cx="192741" cy="2218765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D1260AE4-BF1A-43E4-8AE5-F1ED012032FC}"/>
              </a:ext>
            </a:extLst>
          </p:cNvPr>
          <p:cNvCxnSpPr>
            <a:cxnSpLocks/>
          </p:cNvCxnSpPr>
          <p:nvPr/>
        </p:nvCxnSpPr>
        <p:spPr>
          <a:xfrm>
            <a:off x="5011981" y="3525056"/>
            <a:ext cx="658231" cy="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圖片 13">
            <a:extLst>
              <a:ext uri="{FF2B5EF4-FFF2-40B4-BE49-F238E27FC236}">
                <a16:creationId xmlns:a16="http://schemas.microsoft.com/office/drawing/2014/main" id="{06E2D445-88A2-40B5-87BA-1E6CF3CF76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7592" y="4537718"/>
            <a:ext cx="1526839" cy="2392536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627C6463-DCE0-4ADA-84A1-A94CE9D819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4391" y="4877593"/>
            <a:ext cx="7125317" cy="624894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120C1232-BA0C-470C-8341-FDA3730653E1}"/>
              </a:ext>
            </a:extLst>
          </p:cNvPr>
          <p:cNvSpPr txBox="1"/>
          <p:nvPr/>
        </p:nvSpPr>
        <p:spPr>
          <a:xfrm>
            <a:off x="5183055" y="5507182"/>
            <a:ext cx="6285673" cy="120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sz="2400" dirty="0"/>
              <a:t>現實上，量測時需考慮</a:t>
            </a:r>
            <a:r>
              <a:rPr lang="en-US" altLang="zh-TW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</a:t>
            </a:r>
            <a:r>
              <a:rPr lang="zh-TW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儀器內阻</a:t>
            </a:r>
            <a:r>
              <a:rPr lang="en-US" altLang="zh-TW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</a:t>
            </a:r>
            <a:r>
              <a:rPr lang="zh-TW" altLang="en-US" sz="2400" dirty="0"/>
              <a:t>造成的影響</a:t>
            </a:r>
            <a:endParaRPr lang="en-US" altLang="zh-TW" sz="2400" dirty="0"/>
          </a:p>
          <a:p>
            <a:pPr algn="ctr"/>
            <a:r>
              <a:rPr lang="zh-TW" altLang="en-US" sz="2400" dirty="0"/>
              <a:t>這也是之後會介紹的，高階儀器會常使用</a:t>
            </a:r>
            <a:r>
              <a:rPr lang="en-US" altLang="zh-TW" sz="2400" dirty="0"/>
              <a:t>JFET</a:t>
            </a:r>
            <a:r>
              <a:rPr lang="zh-TW" altLang="en-US" sz="2400" dirty="0"/>
              <a:t>做為輸入端的原因</a:t>
            </a:r>
            <a:r>
              <a:rPr lang="en-US" altLang="zh-TW" sz="2400" dirty="0"/>
              <a:t>(</a:t>
            </a:r>
            <a:r>
              <a:rPr lang="zh-TW" altLang="en-US" sz="2400" dirty="0"/>
              <a:t>高阻抗</a:t>
            </a:r>
            <a:r>
              <a:rPr lang="en-US" altLang="zh-TW" sz="2400" dirty="0"/>
              <a:t>)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6920098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244333B-5D58-4C3C-A8AC-862FC7B7C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84" y="2738507"/>
            <a:ext cx="4598070" cy="2029666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FDCBD82E-15EC-4134-A2DA-DF3491D03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載維寧等效電路求解法</a:t>
            </a:r>
            <a:br>
              <a:rPr lang="en-US" altLang="zh-TW" dirty="0"/>
            </a:br>
            <a:r>
              <a:rPr lang="zh-TW" altLang="en-US" dirty="0"/>
              <a:t>算</a:t>
            </a:r>
            <a:r>
              <a:rPr lang="en-US" altLang="zh-TW" dirty="0" err="1"/>
              <a:t>Rth</a:t>
            </a:r>
            <a:r>
              <a:rPr lang="zh-TW" altLang="en-US" dirty="0"/>
              <a:t>與</a:t>
            </a:r>
            <a:r>
              <a:rPr lang="en-US" altLang="zh-TW" dirty="0"/>
              <a:t>Vth</a:t>
            </a:r>
            <a:endParaRPr lang="zh-TW" altLang="en-US" dirty="0"/>
          </a:p>
        </p:txBody>
      </p:sp>
      <p:sp>
        <p:nvSpPr>
          <p:cNvPr id="5" name="箭號: 向右 4">
            <a:extLst>
              <a:ext uri="{FF2B5EF4-FFF2-40B4-BE49-F238E27FC236}">
                <a16:creationId xmlns:a16="http://schemas.microsoft.com/office/drawing/2014/main" id="{FF723775-968C-4CD0-AC78-9603B782DC10}"/>
              </a:ext>
            </a:extLst>
          </p:cNvPr>
          <p:cNvSpPr/>
          <p:nvPr/>
        </p:nvSpPr>
        <p:spPr>
          <a:xfrm rot="19962190">
            <a:off x="4715991" y="2194641"/>
            <a:ext cx="1771330" cy="5737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810E0717-53F8-4C7B-AD78-E8E93BF78F6F}"/>
              </a:ext>
            </a:extLst>
          </p:cNvPr>
          <p:cNvSpPr/>
          <p:nvPr/>
        </p:nvSpPr>
        <p:spPr>
          <a:xfrm>
            <a:off x="2100737" y="3443480"/>
            <a:ext cx="125505" cy="13843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14DC631-11BA-4A3A-9883-25F2B188E3F5}"/>
              </a:ext>
            </a:extLst>
          </p:cNvPr>
          <p:cNvSpPr/>
          <p:nvPr/>
        </p:nvSpPr>
        <p:spPr>
          <a:xfrm>
            <a:off x="2100737" y="4322320"/>
            <a:ext cx="125505" cy="13843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6A9365DF-DDFB-4897-9F21-047AA5FD72A1}"/>
                  </a:ext>
                </a:extLst>
              </p:cNvPr>
              <p:cNvSpPr/>
              <p:nvPr/>
            </p:nvSpPr>
            <p:spPr>
              <a:xfrm>
                <a:off x="4523893" y="1280422"/>
                <a:ext cx="2155526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TW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𝑡h</m:t>
                      </m:r>
                      <m:r>
                        <a:rPr lang="en-US" altLang="zh-TW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=4.818</m:t>
                      </m:r>
                      <m:r>
                        <a:rPr lang="en-US" altLang="zh-TW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altLang="zh-TW" sz="2400" b="0" dirty="0">
                  <a:solidFill>
                    <a:srgbClr val="7030A0"/>
                  </a:solidFill>
                </a:endParaRPr>
              </a:p>
              <a:p>
                <a:r>
                  <a:rPr lang="en-US" altLang="zh-TW" sz="2400" dirty="0" err="1"/>
                  <a:t>Rth</a:t>
                </a:r>
                <a:r>
                  <a:rPr lang="en-US" altLang="zh-TW" sz="2400" dirty="0"/>
                  <a:t>   =  9.0909k</a:t>
                </a:r>
                <a:endParaRPr lang="en-US" altLang="zh-TW" sz="2400" b="0" dirty="0">
                  <a:solidFill>
                    <a:srgbClr val="7030A0"/>
                  </a:solidFill>
                </a:endParaRPr>
              </a:p>
              <a:p>
                <a:endParaRPr lang="zh-TW" altLang="en-US" sz="24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6A9365DF-DDFB-4897-9F21-047AA5FD72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3893" y="1280422"/>
                <a:ext cx="2155526" cy="1200329"/>
              </a:xfrm>
              <a:prstGeom prst="rect">
                <a:avLst/>
              </a:prstGeom>
              <a:blipFill>
                <a:blip r:embed="rId3"/>
                <a:stretch>
                  <a:fillRect l="-4237" r="-11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EC108C90-6533-4460-9DE3-D0B75959DCEE}"/>
                  </a:ext>
                </a:extLst>
              </p:cNvPr>
              <p:cNvSpPr/>
              <p:nvPr/>
            </p:nvSpPr>
            <p:spPr>
              <a:xfrm>
                <a:off x="427119" y="5025929"/>
                <a:ext cx="541686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TW" alt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不</m:t>
                    </m:r>
                    <m:r>
                      <a:rPr lang="zh-TW" alt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用等效</m:t>
                    </m:r>
                    <m:r>
                      <a:rPr lang="zh-TW" alt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TW" altLang="en-US" sz="2400" dirty="0"/>
                  <a:t>直接取得待測點的電壓模擬</a:t>
                </a:r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EC108C90-6533-4460-9DE3-D0B75959DC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119" y="5025929"/>
                <a:ext cx="5416868" cy="461665"/>
              </a:xfrm>
              <a:prstGeom prst="rect">
                <a:avLst/>
              </a:prstGeom>
              <a:blipFill>
                <a:blip r:embed="rId4"/>
                <a:stretch>
                  <a:fillRect l="-900" t="-11842" r="-787" b="-27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>
            <a:extLst>
              <a:ext uri="{FF2B5EF4-FFF2-40B4-BE49-F238E27FC236}">
                <a16:creationId xmlns:a16="http://schemas.microsoft.com/office/drawing/2014/main" id="{680E6B23-CA96-4FC5-9E70-FA0C74E2DB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6072" y="1165483"/>
            <a:ext cx="4794056" cy="2098229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5EFBD299-4CEF-4FF5-A649-BC7A632EC1A8}"/>
              </a:ext>
            </a:extLst>
          </p:cNvPr>
          <p:cNvSpPr txBox="1"/>
          <p:nvPr/>
        </p:nvSpPr>
        <p:spPr>
          <a:xfrm>
            <a:off x="6906072" y="2491046"/>
            <a:ext cx="1148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Vth</a:t>
            </a:r>
            <a:endParaRPr lang="zh-TW" alt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C5AACA25-0F0E-428E-8BB6-1B475A039499}"/>
              </a:ext>
            </a:extLst>
          </p:cNvPr>
          <p:cNvSpPr txBox="1"/>
          <p:nvPr/>
        </p:nvSpPr>
        <p:spPr>
          <a:xfrm>
            <a:off x="9688917" y="2262625"/>
            <a:ext cx="1148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RL</a:t>
            </a:r>
            <a:endParaRPr lang="zh-TW" alt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82CF2559-928D-4748-8F97-3986F7B4D286}"/>
              </a:ext>
            </a:extLst>
          </p:cNvPr>
          <p:cNvSpPr/>
          <p:nvPr/>
        </p:nvSpPr>
        <p:spPr>
          <a:xfrm>
            <a:off x="9177595" y="1899342"/>
            <a:ext cx="125505" cy="13843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0A79F4CA-391D-4CC9-A21E-11185ABBD03D}"/>
              </a:ext>
            </a:extLst>
          </p:cNvPr>
          <p:cNvSpPr/>
          <p:nvPr/>
        </p:nvSpPr>
        <p:spPr>
          <a:xfrm>
            <a:off x="9177595" y="2778182"/>
            <a:ext cx="125505" cy="13843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E933866B-0D6D-4B6C-B67B-CE10BF3D9180}"/>
              </a:ext>
            </a:extLst>
          </p:cNvPr>
          <p:cNvSpPr txBox="1"/>
          <p:nvPr/>
        </p:nvSpPr>
        <p:spPr>
          <a:xfrm>
            <a:off x="8307420" y="1258313"/>
            <a:ext cx="1148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Rth</a:t>
            </a:r>
            <a:endParaRPr lang="zh-TW" alt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6FE1D522-915A-483E-886A-40BD52381897}"/>
              </a:ext>
            </a:extLst>
          </p:cNvPr>
          <p:cNvSpPr txBox="1"/>
          <p:nvPr/>
        </p:nvSpPr>
        <p:spPr>
          <a:xfrm>
            <a:off x="2163489" y="3806763"/>
            <a:ext cx="1148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RL</a:t>
            </a:r>
            <a:endParaRPr lang="zh-TW" alt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A7071B14-C657-436B-B704-4AFF5756F6F9}"/>
              </a:ext>
            </a:extLst>
          </p:cNvPr>
          <p:cNvCxnSpPr/>
          <p:nvPr/>
        </p:nvCxnSpPr>
        <p:spPr>
          <a:xfrm>
            <a:off x="3693459" y="3512698"/>
            <a:ext cx="98959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ADB03CE3-C159-4A74-BDBC-FAA582E11C4F}"/>
              </a:ext>
            </a:extLst>
          </p:cNvPr>
          <p:cNvCxnSpPr/>
          <p:nvPr/>
        </p:nvCxnSpPr>
        <p:spPr>
          <a:xfrm>
            <a:off x="10148047" y="2374180"/>
            <a:ext cx="98959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D9183DE3-20D2-4D42-980C-256D842E09F6}"/>
              </a:ext>
            </a:extLst>
          </p:cNvPr>
          <p:cNvSpPr/>
          <p:nvPr/>
        </p:nvSpPr>
        <p:spPr>
          <a:xfrm>
            <a:off x="6033247" y="3826096"/>
            <a:ext cx="599950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現實上，需考慮各種誤差、物理限制、量測誤差等</a:t>
            </a:r>
            <a:r>
              <a:rPr lang="en-US" altLang="zh-TW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…</a:t>
            </a:r>
          </a:p>
          <a:p>
            <a:endParaRPr lang="en-US" altLang="zh-TW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TW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這也是模擬與實作的差別之一</a:t>
            </a:r>
            <a:endParaRPr lang="en-US" altLang="zh-TW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zh-TW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TW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如，面包板本身會不會引入誤差呢</a:t>
            </a:r>
            <a:r>
              <a:rPr lang="en-US" altLang="zh-TW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??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6923049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894A3C-6F8E-4E6E-90F1-90F00E672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回家作業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A8DF55-501F-4B7B-A106-CA17616F1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模擬部份同第二周</a:t>
            </a:r>
            <a:r>
              <a:rPr lang="en-US" altLang="zh-TW" dirty="0"/>
              <a:t>(</a:t>
            </a:r>
            <a:r>
              <a:rPr lang="zh-TW" altLang="en-US" dirty="0"/>
              <a:t>因為還沒上到</a:t>
            </a:r>
            <a:r>
              <a:rPr lang="en-US" altLang="zh-TW" dirty="0"/>
              <a:t>BJT)</a:t>
            </a:r>
          </a:p>
          <a:p>
            <a:endParaRPr lang="en-US" altLang="zh-TW" dirty="0"/>
          </a:p>
          <a:p>
            <a:r>
              <a:rPr lang="zh-TW" altLang="en-US" dirty="0"/>
              <a:t>習題</a:t>
            </a:r>
            <a:r>
              <a:rPr lang="en-US" altLang="zh-TW" dirty="0"/>
              <a:t>:</a:t>
            </a:r>
          </a:p>
          <a:p>
            <a:r>
              <a:rPr lang="en-US" altLang="zh-TW" dirty="0"/>
              <a:t>CH1 </a:t>
            </a:r>
            <a:r>
              <a:rPr lang="zh-TW" altLang="en-US" dirty="0"/>
              <a:t>學後評量</a:t>
            </a:r>
            <a:r>
              <a:rPr lang="en-US" altLang="zh-TW" dirty="0"/>
              <a:t>(</a:t>
            </a:r>
            <a:r>
              <a:rPr lang="zh-TW" altLang="en-US" dirty="0"/>
              <a:t>寫</a:t>
            </a:r>
            <a:r>
              <a:rPr lang="en-US" altLang="zh-TW" dirty="0"/>
              <a:t>1:A</a:t>
            </a:r>
            <a:r>
              <a:rPr lang="zh-TW" altLang="en-US" dirty="0"/>
              <a:t>，</a:t>
            </a:r>
            <a:r>
              <a:rPr lang="en-US" altLang="zh-TW" dirty="0"/>
              <a:t>2:B</a:t>
            </a:r>
            <a:r>
              <a:rPr lang="zh-TW" altLang="en-US" dirty="0"/>
              <a:t>這種給我就行</a:t>
            </a:r>
            <a:r>
              <a:rPr lang="en-US" altLang="zh-TW" dirty="0"/>
              <a:t>)</a:t>
            </a:r>
            <a:br>
              <a:rPr lang="en-US" altLang="zh-TW" dirty="0"/>
            </a:br>
            <a:r>
              <a:rPr lang="zh-TW" altLang="en-US" dirty="0"/>
              <a:t>題目</a:t>
            </a:r>
            <a:r>
              <a:rPr lang="en-US" altLang="zh-TW" dirty="0"/>
              <a:t>:1(</a:t>
            </a:r>
            <a:r>
              <a:rPr lang="zh-TW" altLang="en-US" dirty="0"/>
              <a:t>提示</a:t>
            </a:r>
            <a:r>
              <a:rPr lang="en-US" altLang="zh-TW" dirty="0"/>
              <a:t>:V=IR)</a:t>
            </a:r>
            <a:r>
              <a:rPr lang="zh-TW" altLang="en-US" dirty="0"/>
              <a:t>，</a:t>
            </a:r>
            <a:r>
              <a:rPr lang="en-US" altLang="zh-TW" dirty="0"/>
              <a:t>2</a:t>
            </a:r>
            <a:r>
              <a:rPr lang="zh-TW" altLang="en-US" dirty="0"/>
              <a:t>，</a:t>
            </a:r>
            <a:r>
              <a:rPr lang="en-US" altLang="zh-TW" dirty="0"/>
              <a:t>3</a:t>
            </a:r>
            <a:r>
              <a:rPr lang="zh-TW" altLang="en-US" dirty="0"/>
              <a:t>，</a:t>
            </a:r>
            <a:r>
              <a:rPr lang="en-US" altLang="zh-TW" dirty="0"/>
              <a:t>5</a:t>
            </a:r>
            <a:r>
              <a:rPr lang="zh-TW" altLang="en-US" dirty="0"/>
              <a:t>，</a:t>
            </a:r>
            <a:r>
              <a:rPr lang="en-US" altLang="zh-TW" dirty="0"/>
              <a:t>18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41862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10112</TotalTime>
  <Words>3522</Words>
  <Application>Microsoft Office PowerPoint</Application>
  <PresentationFormat>寬螢幕</PresentationFormat>
  <Paragraphs>522</Paragraphs>
  <Slides>45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45</vt:i4>
      </vt:variant>
    </vt:vector>
  </HeadingPairs>
  <TitlesOfParts>
    <vt:vector size="52" baseType="lpstr">
      <vt:lpstr>微軟正黑體</vt:lpstr>
      <vt:lpstr>新細明體</vt:lpstr>
      <vt:lpstr>Arial</vt:lpstr>
      <vt:lpstr>Calibri</vt:lpstr>
      <vt:lpstr>Calibri Light</vt:lpstr>
      <vt:lpstr>Cambria Math</vt:lpstr>
      <vt:lpstr>Office 佈景主題</vt:lpstr>
      <vt:lpstr>PowerPoint 簡報</vt:lpstr>
      <vt:lpstr>因應同學學習狀況的修改進度</vt:lpstr>
      <vt:lpstr>操作安全</vt:lpstr>
      <vt:lpstr>由電路圖到實作 理解導線與接線</vt:lpstr>
      <vt:lpstr>導線定義與義意</vt:lpstr>
      <vt:lpstr>實例 在理想下，使用導線接線時，可視為同一點 我提供二個方法給同學(可以依照自已的方法)</vt:lpstr>
      <vt:lpstr>實例 實際上，接法不止一種</vt:lpstr>
      <vt:lpstr>實例 在理想下，使用導線接線時，可視為同一點 我提供二個方法給同學(可以依照自已的方法)</vt:lpstr>
      <vt:lpstr>實例 實際上，接法不止一種</vt:lpstr>
      <vt:lpstr>實測狀況</vt:lpstr>
      <vt:lpstr>實際狀況</vt:lpstr>
      <vt:lpstr>所以，實作上，不會要求到”完全一樣”</vt:lpstr>
      <vt:lpstr>所有元件/電源，使用前需先量測數值</vt:lpstr>
      <vt:lpstr>機械式三用電表原理</vt:lpstr>
      <vt:lpstr>機械式三用電表原理 – 指針的原理 </vt:lpstr>
      <vt:lpstr>線圈的特性 電感</vt:lpstr>
      <vt:lpstr>電流表</vt:lpstr>
      <vt:lpstr>電壓表</vt:lpstr>
      <vt:lpstr>交流電壓檔</vt:lpstr>
      <vt:lpstr>實際電路 – 多段歐姆表 量測</vt:lpstr>
      <vt:lpstr>下一個電路</vt:lpstr>
      <vt:lpstr>實測</vt:lpstr>
      <vt:lpstr>進階應用 將10k電阻，換成10k的熱敏電阻</vt:lpstr>
      <vt:lpstr>進階應用 將10k電阻，換成10k的熱敏電阻</vt:lpstr>
      <vt:lpstr>PowerPoint 簡報</vt:lpstr>
      <vt:lpstr>PowerPoint 簡報</vt:lpstr>
      <vt:lpstr>不會考 和同學說 P 與N 的來源， 與漏電流的來源</vt:lpstr>
      <vt:lpstr>不會考 二極體</vt:lpstr>
      <vt:lpstr>原理會考 加入偏壓 多數載子狀況</vt:lpstr>
      <vt:lpstr>少數載子  -  可以當作是多數載子的相反狀況</vt:lpstr>
      <vt:lpstr>二極體的寄生電容效應</vt:lpstr>
      <vt:lpstr>二極體 麻煩自已看課本的部份 (課本就說的不錯了，沒有需要補充的)</vt:lpstr>
      <vt:lpstr>二極體電路解題過程</vt:lpstr>
      <vt:lpstr>課本 隨堂練習  上課講過的題目題數:</vt:lpstr>
      <vt:lpstr>電阻網路分析</vt:lpstr>
      <vt:lpstr>電阻網路分析</vt:lpstr>
      <vt:lpstr>PowerPoint 簡報</vt:lpstr>
      <vt:lpstr>重疊定理(理論)</vt:lpstr>
      <vt:lpstr>電阻網路分析 重疊定理 1</vt:lpstr>
      <vt:lpstr>戴維寧定理 使用前題</vt:lpstr>
      <vt:lpstr>載維寧等效電路求解法 算Rth與Vth 量測，接好要叫老師/小老師檢查</vt:lpstr>
      <vt:lpstr>載維寧等效電路求解法 算Rth與Vth</vt:lpstr>
      <vt:lpstr>理論與模擬的誤差: 電表(實際量測)使用的工具亦需要考量，電表內阻10M</vt:lpstr>
      <vt:lpstr>載維寧等效電路求解法 算Rth與Vth</vt:lpstr>
      <vt:lpstr>回家作業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lasty farson</dc:creator>
  <cp:lastModifiedBy>lasty farson</cp:lastModifiedBy>
  <cp:revision>83</cp:revision>
  <dcterms:created xsi:type="dcterms:W3CDTF">2026-08-11T07:29:46Z</dcterms:created>
  <dcterms:modified xsi:type="dcterms:W3CDTF">2026-09-23T05:30:30Z</dcterms:modified>
</cp:coreProperties>
</file>